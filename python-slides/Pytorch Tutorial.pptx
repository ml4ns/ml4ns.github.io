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57" r:id="rId5"/>
    <p:sldId id="269" r:id="rId6"/>
    <p:sldId id="275" r:id="rId7"/>
    <p:sldId id="268" r:id="rId8"/>
    <p:sldId id="262" r:id="rId9"/>
    <p:sldId id="263" r:id="rId10"/>
    <p:sldId id="264" r:id="rId11"/>
    <p:sldId id="265" r:id="rId12"/>
    <p:sldId id="272" r:id="rId13"/>
    <p:sldId id="273" r:id="rId14"/>
    <p:sldId id="270" r:id="rId15"/>
    <p:sldId id="267" r:id="rId16"/>
    <p:sldId id="274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8"/>
    <p:restoredTop sz="94553"/>
  </p:normalViewPr>
  <p:slideViewPr>
    <p:cSldViewPr snapToGrid="0">
      <p:cViewPr>
        <p:scale>
          <a:sx n="120" d="100"/>
          <a:sy n="120" d="100"/>
        </p:scale>
        <p:origin x="14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498C33-DDEB-2646-B3FC-0673297B322C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F6D509-9BF0-1342-B773-39118D5C4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75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5E4F-05CD-DFFB-6ABD-7AF9D3EA4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D9219-8912-5F35-1DD4-33D83836B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4B216-46EA-1105-3CD5-294BC401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BFD5D-0A3C-B244-91EF-178E6305D838}" type="datetime1">
              <a:rPr lang="en-GB" smtClean="0"/>
              <a:t>02/01/2026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89B0E-9380-BBD7-CC21-BB0081CA7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A8EA9-AC63-AE83-C07B-0174AC3A4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9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6E58-4922-C2E8-4EAA-ACC0A509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9E24F-C68F-3FED-3EEA-60A4CAB4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42BF1-0BDC-87AA-8631-AB2CF69CE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4789-D5C4-8944-9265-FF4365CE76A0}" type="datetime1">
              <a:rPr lang="en-GB" smtClean="0"/>
              <a:t>02/01/2026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5839A-00E6-3042-A3F4-CD08120C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40F14-27A2-0FA2-310E-2F13CA1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89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FD1A-0564-B0DA-FDED-DBFEBBDBC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F9406-CC2F-45D6-4397-A8D3D4DBC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4969E-9772-1DD1-ADA5-1743254B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0129-852B-8843-A7AB-BF79D88BF5B3}" type="datetime1">
              <a:rPr lang="en-GB" smtClean="0"/>
              <a:t>02/01/2026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E8DC2-8DBD-EFDB-DC7F-D0D3286A6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09D9C-686B-EF2C-BDE7-8CF21882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AEEB-D693-4EE3-E781-D4E9C3164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635D3-DB23-4AB6-AB45-D44AC5D03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C16230-2CE1-6318-0756-B7602DB6D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B9BEB-8CF8-D714-A001-D5C8DF701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48966-D399-C741-99BD-AFEC953663A9}" type="datetime1">
              <a:rPr lang="en-GB" smtClean="0"/>
              <a:t>02/01/2026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0AAE1-F9CD-A3D9-F078-A4B354186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33A91-205E-D60E-601D-FE74DC92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85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6253-88B1-9FCE-2952-E74C5884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A2204-8C37-5C63-6D02-1F17D4350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E4A34-F1C8-5C8E-271D-6CF898D13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E8C83-8AE0-5832-0C82-AE1207350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A0638-E1ED-2353-94F8-662EE75CC4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468764-317E-2B7C-EDC2-BAE44720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6F8B-AA89-7041-8DB0-5AD8D0DA8836}" type="datetime1">
              <a:rPr lang="en-GB" smtClean="0"/>
              <a:t>02/01/2026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5102D-BD6A-B859-2DA4-F5087FF4E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979543-A96A-1C79-F78A-C518AD90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7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FFB83-6E8F-79E8-A865-80252C24C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BD7AA3-215D-9AFC-5DE2-0FCAE4683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1E60E-B8E1-1F4E-8D8D-9ECD92B35C79}" type="datetime1">
              <a:rPr lang="en-GB" smtClean="0"/>
              <a:t>02/01/2026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C831B-9394-03FF-DECA-DCBD9B5A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23388-ADDB-A643-A8A7-131B7F30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8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87E4D7-0D4F-5D3C-AFFD-E80AE729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B85D-521C-9648-A48D-2B0F8C575EA6}" type="datetime1">
              <a:rPr lang="en-GB" smtClean="0"/>
              <a:t>02/01/2026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94D5D6-126C-3772-C1B8-0D19C055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C357E-EB83-3E9F-22D2-2E68CCD2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0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4DD7-81A6-0360-6ACD-83064E94B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24CD9-1E4F-2F98-7689-51ECA233D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43A49-171F-B25C-024A-601F6CFED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7F5B0-E3FD-BB3D-E841-550E9587C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F01C5-1E5B-D848-8B70-A1E7C6DB2C76}" type="datetime1">
              <a:rPr lang="en-GB" smtClean="0"/>
              <a:t>02/01/2026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56504-E525-6E81-1C41-6C5228BEC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C64FE-E26A-BBA8-B7C8-7FA02884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6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591D9-5104-BA7D-063B-A6FA6776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8E15B0-6B21-63FA-1CE5-88B0376C49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A3BAE-A4C1-A96E-0A5F-6FD8021F2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E46F2-6B27-9ED4-13C0-8DD8E348E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C445-BB87-D742-B619-BBE6DAF21715}" type="datetime1">
              <a:rPr lang="en-GB" smtClean="0"/>
              <a:t>02/01/2026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5D3DC-C5BC-5701-A432-2AF4EB320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816EC-629F-5FE4-6F01-371AB4A3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47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782A-A030-D97C-F344-D1756C32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832AE-59AD-C52F-E2B2-E8C295C6A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217CA-E2C5-001B-A102-0A8DCE29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93BB6-A380-3944-8A1A-56993ECE64B9}" type="datetime1">
              <a:rPr lang="en-GB" smtClean="0"/>
              <a:t>02/01/2026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D4570-BB72-A145-C4CA-43D86042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D21C6-D7C3-7D2B-0776-D73DB3A1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3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DA249-6134-4E54-8E0B-C7EC28C7CB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40708-74FD-0798-04B9-B6981D49E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2768E-C7F0-E70A-C943-9667B168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CF65B-3F42-774A-B956-3F807CF48569}" type="datetime1">
              <a:rPr lang="en-GB" smtClean="0"/>
              <a:t>02/01/2026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E71F4-BB91-A55A-0B89-2E1C9720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89BFC-C7B2-BB25-9B7C-ABBEA711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6D4E7B-AC8C-EA46-C39D-CB48A656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BADEB-9350-B052-3540-8285B2BCE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14D9E-5B3D-F35F-D709-8C3511ED5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27099-69E5-0F45-8629-7E74BF6B896A}" type="datetime1">
              <a:rPr lang="en-GB" smtClean="0"/>
              <a:t>02/01/2026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46FBE-7A10-5679-AF4D-4F1B0A5D9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0F0E3-3F02-E5EE-1943-4D7FAA88CD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4599C0-DD55-2349-9B89-1759BE25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2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orch.org/docs/stable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vidia.com/en-gb/glossary/pytorch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docs/stable/index.html" TargetMode="External"/><Relationship Id="rId2" Type="http://schemas.openxmlformats.org/officeDocument/2006/relationships/hyperlink" Target="https://pytorch.org/get-started/locall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d.tf.fau.de/files/2019/07/pytorch-cheatsheet-en.pdf" TargetMode="External"/><Relationship Id="rId5" Type="http://schemas.openxmlformats.org/officeDocument/2006/relationships/hyperlink" Target="https://medium.com/@rtdcunha/a-beginners-guide-to-pytorch-6bc600ca4b8d" TargetMode="External"/><Relationship Id="rId4" Type="http://schemas.openxmlformats.org/officeDocument/2006/relationships/hyperlink" Target="https://docs.pytorch.org/tutoria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Open Source Legal: PyTorch">
            <a:extLst>
              <a:ext uri="{FF2B5EF4-FFF2-40B4-BE49-F238E27FC236}">
                <a16:creationId xmlns:a16="http://schemas.microsoft.com/office/drawing/2014/main" id="{B7A7B6C4-9FEC-ED4D-F472-3869AD7DA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7" r="7054"/>
          <a:stretch>
            <a:fillRect/>
          </a:stretch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538EC-013A-A42B-049A-B709A48E9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b="1" dirty="0">
                <a:solidFill>
                  <a:srgbClr val="FFFFFF"/>
                </a:solidFill>
              </a:rPr>
              <a:t>Introduction to </a:t>
            </a:r>
            <a:r>
              <a:rPr lang="en-US" sz="5200" b="1" dirty="0" err="1">
                <a:solidFill>
                  <a:srgbClr val="FFFFFF"/>
                </a:solidFill>
              </a:rPr>
              <a:t>PyTorch</a:t>
            </a:r>
            <a:endParaRPr lang="en-US" sz="5200" b="1" dirty="0">
              <a:solidFill>
                <a:srgbClr val="FFFFFF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975CC2-992E-B227-12B8-0C82141C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E070-619E-F3A7-8D53-DADD1B9AD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PyTorch</a:t>
            </a:r>
            <a:r>
              <a:rPr lang="en-US" dirty="0"/>
              <a:t>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794E19-3D0C-3920-E5EE-4192E2222F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2950" y="1690688"/>
            <a:ext cx="10706100" cy="406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Open-source deep learning framework developed by Facebook’s AI Research lab (FAIR)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Primarily 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Python-based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with C++ back-end for performance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Widely used in deep learning, computer vision, NLP, and reinforcement learning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Designed for ease of use, flexibility, and fast prototyping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https://docs.pytorch.org/docs/stable/index.html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9E431F-31F0-8372-CF8C-79CDB6A3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6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EBCA-B025-EE2B-4C10-4CD3D36D8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4E1A58-89A5-B62F-5E24-E5DFBA1F06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34834"/>
            <a:ext cx="10515600" cy="3488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24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Reverse-mode auto-differentiation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(via 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torch.autograd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):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24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Efficient gradient computation for backpropagation</a:t>
            </a:r>
          </a:p>
          <a:p>
            <a:pPr lvl="1" eaLnBrk="0" fontAlgn="base" hangingPunct="0">
              <a:lnSpc>
                <a:spcPct val="124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Eliminates manual derivative calculations </a:t>
            </a:r>
          </a:p>
          <a:p>
            <a:pPr eaLnBrk="0" fontAlgn="base" hangingPunct="0">
              <a:lnSpc>
                <a:spcPct val="124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GPU acceleration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with CUDA:</a:t>
            </a:r>
          </a:p>
          <a:p>
            <a:pPr lvl="1" eaLnBrk="0" fontAlgn="base" hangingPunct="0">
              <a:lnSpc>
                <a:spcPct val="124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Easy switching between CPU &amp; GPU tensors together with NVIDIA GPU</a:t>
            </a:r>
          </a:p>
          <a:p>
            <a:pPr eaLnBrk="0" fontAlgn="base" hangingPunct="0">
              <a:lnSpc>
                <a:spcPct val="124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Rich ecosystem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24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TorchVision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TorchText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TorchAudio for domain-specific tasks</a:t>
            </a:r>
          </a:p>
          <a:p>
            <a:pPr lvl="1" eaLnBrk="0" fontAlgn="base" hangingPunct="0">
              <a:lnSpc>
                <a:spcPct val="124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Lightning,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HuggingFace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Transformers…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69AC53-D4A1-7273-3CB5-D8E80B92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64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eatures of PyTorch.">
            <a:extLst>
              <a:ext uri="{FF2B5EF4-FFF2-40B4-BE49-F238E27FC236}">
                <a16:creationId xmlns:a16="http://schemas.microsoft.com/office/drawing/2014/main" id="{CDAC43CA-5D47-48D8-9373-A754C1B87C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529199"/>
            <a:ext cx="10905066" cy="37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A01539-8608-8244-DAAA-F15C5D522A09}"/>
              </a:ext>
            </a:extLst>
          </p:cNvPr>
          <p:cNvSpPr txBox="1"/>
          <p:nvPr/>
        </p:nvSpPr>
        <p:spPr>
          <a:xfrm>
            <a:off x="6529388" y="6488668"/>
            <a:ext cx="6115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Figure: </a:t>
            </a:r>
            <a:r>
              <a:rPr lang="en-US" dirty="0">
                <a:hlinkClick r:id="rId3"/>
              </a:rPr>
              <a:t>https://www.nvidia.com/en-gb/glossary/pytorch/</a:t>
            </a:r>
            <a:r>
              <a:rPr lang="en-US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D2325E-0E1B-ABCB-9130-73CD409C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81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CD31-527D-CFF7-2CAB-F4ADA66A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D7A21F-A35D-854A-3D24-114A686073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22338"/>
            <a:ext cx="10515600" cy="3893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A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tensor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is the basic object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PyTorch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uses to store data and perform computations.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</a:b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Everything the model sees — inputs, outputs, weights — is a tensor.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A tensor is a 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generalisation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of arrays</a:t>
            </a:r>
            <a:endParaRPr lang="en-US" altLang="en-US" sz="190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Think of it as a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box of numbers with a shape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1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Why tensors matter: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Models only operate on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tensors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, not raw data</a:t>
            </a:r>
          </a:p>
          <a:p>
            <a:pPr>
              <a:lnSpc>
                <a:spcPct val="100000"/>
              </a:lnSpc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Tensors can live on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CPU or GPU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PyTorch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tracks tensor operations for 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automatic differentiation</a:t>
            </a:r>
          </a:p>
          <a:p>
            <a:pPr>
              <a:lnSpc>
                <a:spcPct val="100000"/>
              </a:lnSpc>
            </a:pPr>
            <a:endParaRPr lang="en-US" altLang="en-US" sz="1900" b="1" dirty="0"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Convert from </a:t>
            </a:r>
            <a:r>
              <a:rPr kumimoji="0" lang="en-US" altLang="en-US" sz="1900" b="1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numpy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to tensor:</a:t>
            </a:r>
          </a:p>
          <a:p>
            <a:pPr>
              <a:lnSpc>
                <a:spcPct val="100000"/>
              </a:lnSpc>
            </a:pPr>
            <a:r>
              <a:rPr lang="en-US" altLang="en-US" sz="1900" dirty="0" err="1">
                <a:latin typeface="+mn-lt"/>
              </a:rPr>
              <a:t>x_tensor</a:t>
            </a:r>
            <a:r>
              <a:rPr lang="en-US" altLang="en-US" sz="1900" dirty="0">
                <a:latin typeface="+mn-lt"/>
              </a:rPr>
              <a:t> = </a:t>
            </a:r>
            <a:r>
              <a:rPr lang="en-US" altLang="en-US" sz="1900" b="1" dirty="0" err="1">
                <a:latin typeface="+mn-lt"/>
              </a:rPr>
              <a:t>torch.from_numpy</a:t>
            </a:r>
            <a:r>
              <a:rPr lang="en-US" altLang="en-US" sz="1900" dirty="0">
                <a:latin typeface="+mn-lt"/>
              </a:rPr>
              <a:t>(</a:t>
            </a:r>
            <a:r>
              <a:rPr lang="en-US" altLang="en-US" sz="1900" dirty="0" err="1">
                <a:latin typeface="+mn-lt"/>
              </a:rPr>
              <a:t>x_np</a:t>
            </a:r>
            <a:r>
              <a:rPr lang="en-US" altLang="en-US" sz="1900" dirty="0">
                <a:latin typeface="+mn-lt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7B97E-F759-6243-B22F-420D40A80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4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206F5-7FED-84F8-E4CB-FE0EB73C0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vs GPU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5F02D-0914-F6C7-20AA-06F791480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708E4D3-878B-E973-EC43-D949F5E464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8169"/>
            <a:ext cx="10515600" cy="4471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1800" b="0" i="1" u="none" strike="noStrike" cap="none" normalizeH="0" baseline="0" noProof="0" dirty="0">
                <a:ln>
                  <a:noFill/>
                </a:ln>
                <a:effectLst/>
              </a:rPr>
              <a:t>CPU = central processing unit; </a:t>
            </a:r>
            <a:r>
              <a:rPr lang="en-GB" sz="1800" i="1" dirty="0"/>
              <a:t>GPU = graphics processing unit</a:t>
            </a:r>
            <a:endParaRPr kumimoji="0" lang="en-GB" sz="1800" b="0" i="1" u="none" strike="noStrike" cap="none" normalizeH="0" baseline="0" noProof="0" dirty="0">
              <a:ln>
                <a:noFill/>
              </a:ln>
              <a:effectLst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0" i="0" u="none" strike="noStrike" cap="none" normalizeH="0" baseline="0" noProof="0" dirty="0">
                <a:ln>
                  <a:noFill/>
                </a:ln>
                <a:effectLst/>
              </a:rPr>
              <a:t>CPUs are good at </a:t>
            </a:r>
            <a:r>
              <a:rPr kumimoji="0" lang="en-GB" sz="2400" b="1" i="0" u="none" strike="noStrike" cap="none" normalizeH="0" baseline="0" noProof="0" dirty="0">
                <a:ln>
                  <a:noFill/>
                </a:ln>
                <a:effectLst/>
              </a:rPr>
              <a:t>many different tasks</a:t>
            </a:r>
            <a:endParaRPr kumimoji="0" lang="en-GB" sz="2400" b="0" i="0" u="none" strike="noStrike" cap="none" normalizeH="0" baseline="0" noProof="0" dirty="0">
              <a:ln>
                <a:noFill/>
              </a:ln>
              <a:effectLst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0" i="0" u="none" strike="noStrike" cap="none" normalizeH="0" baseline="0" noProof="0" dirty="0">
                <a:ln>
                  <a:noFill/>
                </a:ln>
                <a:effectLst/>
              </a:rPr>
              <a:t>GPUs are good at </a:t>
            </a:r>
            <a:r>
              <a:rPr kumimoji="0" lang="en-GB" sz="2400" b="1" i="0" u="none" strike="noStrike" cap="none" normalizeH="0" baseline="0" noProof="0" dirty="0">
                <a:ln>
                  <a:noFill/>
                </a:ln>
                <a:effectLst/>
              </a:rPr>
              <a:t>doing the same maths many times in parallel</a:t>
            </a:r>
            <a:endParaRPr kumimoji="0" lang="en-GB" sz="2400" b="0" i="0" u="none" strike="noStrike" cap="none" normalizeH="0" baseline="0" noProof="0" dirty="0">
              <a:ln>
                <a:noFill/>
              </a:ln>
              <a:effectLst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sz="2400" b="0" i="0" u="none" strike="noStrike" cap="none" normalizeH="0" baseline="0" noProof="0" dirty="0">
                <a:ln>
                  <a:noFill/>
                </a:ln>
                <a:effectLst/>
              </a:rPr>
              <a:t>Deep learning = lots of matrix operations → GPUs are faster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400" noProof="0" dirty="0"/>
              <a:t>GPUs can make training much faster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400" noProof="0" dirty="0"/>
              <a:t>Code looks almost the same for CPU and GPU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400" noProof="0" dirty="0"/>
              <a:t>You must move data and models to the same device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400" noProof="0" dirty="0"/>
              <a:t>GPU pioneered by NVIDIA for graphics (gaming) – applied now to AI for speed</a:t>
            </a:r>
          </a:p>
        </p:txBody>
      </p:sp>
    </p:spTree>
    <p:extLst>
      <p:ext uri="{BB962C8B-B14F-4D97-AF65-F5344CB8AC3E}">
        <p14:creationId xmlns:p14="http://schemas.microsoft.com/office/powerpoint/2010/main" val="594671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2679-C12E-0483-E583-E40B08F6D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PyTorch</a:t>
            </a:r>
            <a:r>
              <a:rPr lang="en-US" dirty="0"/>
              <a:t>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0EB06-D69B-AC6A-CA8C-D2CCF8B1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6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5C89-4AA0-0272-64D6-3BF4485C9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112E7-911C-74B5-30C5-655BB5392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Prepare the environment and core components needed to build and run a </a:t>
            </a:r>
            <a:r>
              <a:rPr lang="en-GB" dirty="0" err="1"/>
              <a:t>PyTorch</a:t>
            </a:r>
            <a:r>
              <a:rPr lang="en-GB" dirty="0"/>
              <a:t> model.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Import </a:t>
            </a:r>
            <a:r>
              <a:rPr lang="en-GB" dirty="0" err="1"/>
              <a:t>PyTorch</a:t>
            </a:r>
            <a:r>
              <a:rPr lang="en-GB" dirty="0"/>
              <a:t> and supporting libraries (e.g. torch, </a:t>
            </a:r>
            <a:r>
              <a:rPr lang="en-GB" dirty="0" err="1"/>
              <a:t>torch.nn</a:t>
            </a:r>
            <a:r>
              <a:rPr lang="en-GB" dirty="0"/>
              <a:t>, </a:t>
            </a:r>
            <a:r>
              <a:rPr lang="en-GB" dirty="0" err="1"/>
              <a:t>torch.optim</a:t>
            </a:r>
            <a:r>
              <a:rPr lang="en-GB" dirty="0"/>
              <a:t>)</a:t>
            </a:r>
          </a:p>
          <a:p>
            <a:pPr lvl="0"/>
            <a:r>
              <a:rPr lang="en-GB" dirty="0"/>
              <a:t>Check CUDA availability (GPU or no GPU?) </a:t>
            </a:r>
          </a:p>
          <a:p>
            <a:pPr lvl="0"/>
            <a:r>
              <a:rPr lang="en-GB" dirty="0"/>
              <a:t>Set device: CPU vs GPU with </a:t>
            </a:r>
            <a:r>
              <a:rPr lang="en-GB" dirty="0" err="1"/>
              <a:t>torch.device</a:t>
            </a:r>
            <a:endParaRPr lang="en-GB" dirty="0"/>
          </a:p>
          <a:p>
            <a:pPr lvl="0"/>
            <a:r>
              <a:rPr lang="en-GB" dirty="0"/>
              <a:t>Fix random seeds for reproducibility 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548BB-2ACB-2084-BB86-EF92C785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0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3F20-7E3A-6446-912F-41CF350C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and Data Loaders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B7D05-320E-E54D-7703-8DF341110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100" noProof="0" dirty="0">
                <a:latin typeface="-webkit-standard"/>
              </a:rPr>
              <a:t>Teach </a:t>
            </a:r>
            <a:r>
              <a:rPr lang="en-GB" sz="3100" noProof="0" dirty="0" err="1">
                <a:latin typeface="-webkit-standard"/>
              </a:rPr>
              <a:t>PyTorch</a:t>
            </a:r>
            <a:r>
              <a:rPr lang="en-GB" sz="3100" noProof="0" dirty="0">
                <a:latin typeface="-webkit-standard"/>
              </a:rPr>
              <a:t> </a:t>
            </a:r>
            <a:r>
              <a:rPr lang="en-GB" sz="3100" b="1" noProof="0" dirty="0"/>
              <a:t>how to access your data</a:t>
            </a:r>
            <a:r>
              <a:rPr lang="en-GB" sz="3100" noProof="0" dirty="0">
                <a:latin typeface="-webkit-standard"/>
              </a:rPr>
              <a:t> and </a:t>
            </a:r>
            <a:r>
              <a:rPr lang="en-GB" sz="3100" b="1" noProof="0" dirty="0"/>
              <a:t>how to feed it to the model</a:t>
            </a:r>
            <a:r>
              <a:rPr lang="en-GB" sz="3100" noProof="0" dirty="0">
                <a:latin typeface="-webkit-standard"/>
              </a:rPr>
              <a:t> in small, manageable chunks.</a:t>
            </a:r>
            <a:br>
              <a:rPr lang="en-GB" sz="3100" noProof="0" dirty="0"/>
            </a:br>
            <a:r>
              <a:rPr lang="en-GB" sz="3100" noProof="0" dirty="0">
                <a:latin typeface="-webkit-standard"/>
              </a:rPr>
              <a:t>This step bridges the gap between raw data (files, tables, images, text) and the training loop.</a:t>
            </a:r>
            <a:endParaRPr lang="en-GB" sz="3100" noProof="0" dirty="0">
              <a:latin typeface="Arial" panose="020B0604020202020204" pitchFamily="34" charset="0"/>
            </a:endParaRPr>
          </a:p>
          <a:p>
            <a:pPr lvl="0"/>
            <a:endParaRPr lang="en-GB" noProof="0" dirty="0"/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noProof="0" dirty="0">
                <a:latin typeface="-webkit-standard"/>
              </a:rPr>
              <a:t>Start with raw data (e.g. CSV files, images, text)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noProof="0" dirty="0">
                <a:latin typeface="-webkit-standard"/>
              </a:rPr>
              <a:t>Apply basic preprocessing (cleaning, normalisation, encoding)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noProof="0" dirty="0">
                <a:latin typeface="-webkit-standard"/>
              </a:rPr>
              <a:t>Create a Dataset object that: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noProof="0" dirty="0">
                <a:latin typeface="-webkit-standard"/>
              </a:rPr>
              <a:t>Knows how many samples exist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noProof="0" dirty="0">
                <a:latin typeface="-webkit-standard"/>
              </a:rPr>
              <a:t>Knows how to return one sample at a time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noProof="0" dirty="0">
                <a:latin typeface="-webkit-standard"/>
              </a:rPr>
              <a:t>Use a </a:t>
            </a:r>
            <a:r>
              <a:rPr lang="en-GB" noProof="0" dirty="0" err="1">
                <a:latin typeface="-webkit-standard"/>
              </a:rPr>
              <a:t>DataLoader</a:t>
            </a:r>
            <a:r>
              <a:rPr lang="en-GB" noProof="0" dirty="0">
                <a:latin typeface="-webkit-standard"/>
              </a:rPr>
              <a:t> to: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noProof="0" dirty="0">
                <a:latin typeface="-webkit-standard"/>
              </a:rPr>
              <a:t>Combine samples into batches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noProof="0" dirty="0">
                <a:latin typeface="-webkit-standard"/>
              </a:rPr>
              <a:t>Shuffle data during training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noProof="0" dirty="0">
                <a:latin typeface="-webkit-standard"/>
              </a:rPr>
              <a:t>Load data efficiently while the model runs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noProof="0" dirty="0">
                <a:latin typeface="-webkit-standard"/>
              </a:rPr>
              <a:t>Iterate over the </a:t>
            </a:r>
            <a:r>
              <a:rPr lang="en-GB" noProof="0" dirty="0" err="1">
                <a:latin typeface="-webkit-standard"/>
              </a:rPr>
              <a:t>DataLoader</a:t>
            </a:r>
            <a:r>
              <a:rPr lang="en-GB" noProof="0" dirty="0">
                <a:latin typeface="-webkit-standard"/>
              </a:rPr>
              <a:t> inside the training loop</a:t>
            </a:r>
          </a:p>
          <a:p>
            <a:pPr marL="0" lvl="0" indent="0">
              <a:buNone/>
            </a:pPr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9D976-54A4-093F-BBF7-06CA96A9B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96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6D56D-BC01-EE04-77B1-698D2DA1D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83B9-FA78-8D69-CBDC-F12F91116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model is a learnable function that maps input tensors to predictions.</a:t>
            </a:r>
          </a:p>
          <a:p>
            <a:pPr marL="0" indent="0">
              <a:buNone/>
            </a:pPr>
            <a:r>
              <a:rPr lang="en-GB" dirty="0"/>
              <a:t>The model takes tensor batches from the </a:t>
            </a:r>
            <a:r>
              <a:rPr lang="en-GB" dirty="0" err="1"/>
              <a:t>DataLoader</a:t>
            </a:r>
            <a:r>
              <a:rPr lang="en-GB" dirty="0"/>
              <a:t> and produces predictions. </a:t>
            </a:r>
          </a:p>
          <a:p>
            <a:pPr marL="0" lvl="0" indent="0">
              <a:buNone/>
            </a:pPr>
            <a:endParaRPr lang="en-GB" dirty="0"/>
          </a:p>
          <a:p>
            <a:pPr lvl="0"/>
            <a:r>
              <a:rPr lang="en-GB" dirty="0"/>
              <a:t>Define model or use pretrained model</a:t>
            </a:r>
          </a:p>
          <a:p>
            <a:pPr lvl="1"/>
            <a:r>
              <a:rPr lang="en-GB" dirty="0"/>
              <a:t>Neural network, MLP, LLMs, CNNs, GNNs…</a:t>
            </a:r>
          </a:p>
          <a:p>
            <a:pPr lvl="0"/>
            <a:r>
              <a:rPr lang="en-GB" dirty="0"/>
              <a:t> Send model to device (CUDA or CPU)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402E4-E047-9216-5C81-C4FAD7E4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9BA1-D897-F1F9-AE63-447B3DA1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Loss and Optimisation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D9F3E-772F-8D86-32CF-A9912DB9C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833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/>
              <a:t>Measure </a:t>
            </a:r>
            <a:r>
              <a:rPr lang="en-US" altLang="en-US" sz="2000" b="1" dirty="0"/>
              <a:t>how wrong the model’s predictions are (loss)</a:t>
            </a:r>
            <a:r>
              <a:rPr lang="en-US" altLang="en-US" sz="2000" dirty="0"/>
              <a:t> and </a:t>
            </a:r>
            <a:r>
              <a:rPr lang="en-US" altLang="en-US" sz="2000" b="1" dirty="0"/>
              <a:t>update the model to improve them (</a:t>
            </a:r>
            <a:r>
              <a:rPr lang="en-US" altLang="en-US" sz="2000" b="1" dirty="0" err="1"/>
              <a:t>optimisation</a:t>
            </a:r>
            <a:r>
              <a:rPr lang="en-US" altLang="en-US" sz="2000" b="1" dirty="0"/>
              <a:t>)</a:t>
            </a:r>
            <a:endParaRPr lang="en-US" altLang="en-US" sz="2000" dirty="0"/>
          </a:p>
          <a:p>
            <a:pPr marL="0" lvl="0" indent="0">
              <a:buNone/>
            </a:pPr>
            <a:endParaRPr lang="en-GB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/>
              <a:t>Loss</a:t>
            </a:r>
            <a:r>
              <a:rPr lang="en-US" altLang="en-US" sz="2000" dirty="0"/>
              <a:t> = a single number that tells us how bad the predictions are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/>
              <a:t>Optimisation</a:t>
            </a:r>
            <a:r>
              <a:rPr lang="en-US" altLang="en-US" sz="2000" dirty="0"/>
              <a:t> = the process of adjusting model weights to reduce the loss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/>
              <a:t>Implementation</a:t>
            </a:r>
            <a:endParaRPr lang="en-US" altLang="en-US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Choose a loss function (e.g. MSE, Cross-Entropy) – depends on the prediction type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/>
              <a:t>Initialise</a:t>
            </a:r>
            <a:r>
              <a:rPr lang="en-US" altLang="en-US" sz="2000" dirty="0"/>
              <a:t> an optimizer (e.g. SGD, Adam)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Compute loss from model predictions and true labels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Use </a:t>
            </a:r>
            <a:r>
              <a:rPr lang="en-US" altLang="en-US" sz="2000" dirty="0" err="1"/>
              <a:t>loss.backward</a:t>
            </a:r>
            <a:r>
              <a:rPr lang="en-US" altLang="en-US" sz="2000" dirty="0"/>
              <a:t>() to compute gradients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Call </a:t>
            </a:r>
            <a:r>
              <a:rPr lang="en-US" altLang="en-US" sz="2000" dirty="0" err="1"/>
              <a:t>optimizer.step</a:t>
            </a:r>
            <a:r>
              <a:rPr lang="en-US" altLang="en-US" sz="2000" dirty="0"/>
              <a:t>() to update weights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Reset gradients with </a:t>
            </a:r>
            <a:r>
              <a:rPr lang="en-US" altLang="en-US" sz="2000" dirty="0" err="1"/>
              <a:t>optimizer.zero_grad</a:t>
            </a:r>
            <a:r>
              <a:rPr lang="en-US" altLang="en-US" sz="2000" dirty="0"/>
              <a:t>()</a:t>
            </a:r>
          </a:p>
          <a:p>
            <a:pPr marL="0" lv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BEFCF4-6E62-3FDA-FD6F-312D6936E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2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AB7BA-DB4B-0172-223E-8A7AA4F5C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/>
              <a:t>Training data</a:t>
            </a:r>
            <a:r>
              <a:rPr lang="en-US" altLang="en-US" sz="2000" dirty="0"/>
              <a:t> teaches the model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/>
              <a:t>Validation data</a:t>
            </a:r>
            <a:r>
              <a:rPr lang="en-US" altLang="en-US" sz="2000" dirty="0"/>
              <a:t> helps tune decisions (e.g. model choice, hyperparameters)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Used during development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Helps detect </a:t>
            </a:r>
            <a:r>
              <a:rPr lang="en-US" altLang="en-US" sz="2000" b="1" dirty="0"/>
              <a:t>overfitting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Guides model and hyperparameter selection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/>
              <a:t>Test data</a:t>
            </a:r>
            <a:r>
              <a:rPr lang="en-US" altLang="en-US" sz="2000" dirty="0"/>
              <a:t> gives the final, unbiased performance estimate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Used once, at the very end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Never influences training decisions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Represents real-world performance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96A35-A72F-969C-2D8C-96D74107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12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6F8D2DF-119B-18E7-74F3-F7AC307A2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Train – validation – test </a:t>
            </a:r>
          </a:p>
        </p:txBody>
      </p:sp>
    </p:spTree>
    <p:extLst>
      <p:ext uri="{BB962C8B-B14F-4D97-AF65-F5344CB8AC3E}">
        <p14:creationId xmlns:p14="http://schemas.microsoft.com/office/powerpoint/2010/main" val="551789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86A8-DC5B-C229-7112-734A036E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 – validation – test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2E7A3-85CE-7748-1CB3-871A886E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13</a:t>
            </a:fld>
            <a:endParaRPr lang="en-US"/>
          </a:p>
        </p:txBody>
      </p:sp>
      <p:pic>
        <p:nvPicPr>
          <p:cNvPr id="8194" name="Picture 2" descr="Train Test Validation Split: How To &amp; Best Practices [2024]">
            <a:extLst>
              <a:ext uri="{FF2B5EF4-FFF2-40B4-BE49-F238E27FC236}">
                <a16:creationId xmlns:a16="http://schemas.microsoft.com/office/drawing/2014/main" id="{7D9751FD-8775-8D91-1871-25341F7453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41" b="12184"/>
          <a:stretch>
            <a:fillRect/>
          </a:stretch>
        </p:blipFill>
        <p:spPr bwMode="auto">
          <a:xfrm>
            <a:off x="1809750" y="1513489"/>
            <a:ext cx="8572500" cy="443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7C8E87F-6BB9-3CA6-9B15-CCB755E2FAF9}"/>
              </a:ext>
            </a:extLst>
          </p:cNvPr>
          <p:cNvSpPr txBox="1"/>
          <p:nvPr/>
        </p:nvSpPr>
        <p:spPr>
          <a:xfrm>
            <a:off x="7296808" y="5906381"/>
            <a:ext cx="3318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https://www.v7labs.com/blog/train-validation-test-set</a:t>
            </a:r>
          </a:p>
        </p:txBody>
      </p:sp>
    </p:spTree>
    <p:extLst>
      <p:ext uri="{BB962C8B-B14F-4D97-AF65-F5344CB8AC3E}">
        <p14:creationId xmlns:p14="http://schemas.microsoft.com/office/powerpoint/2010/main" val="3362810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EAE91F5-814B-4E8E-C17C-27833D4C35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69587"/>
            <a:ext cx="10515600" cy="5278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900" dirty="0">
                <a:latin typeface="+mn-lt"/>
              </a:rPr>
              <a:t>Repeatedly show the model data, measure its mistakes, and update its parameters so it learns over time. This is when the model is learning!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Data is split into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small batches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(not all at once)</a:t>
            </a: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Each batch gives a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partial learning signal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Information from many batches is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accumulated across updates</a:t>
            </a:r>
          </a:p>
          <a:p>
            <a:pPr>
              <a:lnSpc>
                <a:spcPct val="100000"/>
              </a:lnSpc>
            </a:pPr>
            <a:r>
              <a:rPr lang="en-US" altLang="en-US" sz="1800" dirty="0">
                <a:latin typeface="+mn-lt"/>
              </a:rPr>
              <a:t>Weight updates accumulate knowledge from </a:t>
            </a:r>
            <a:r>
              <a:rPr lang="en-US" altLang="en-US" sz="1800" b="1" dirty="0">
                <a:latin typeface="+mn-lt"/>
              </a:rPr>
              <a:t>all batches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One full pass over all batches =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one epoch</a:t>
            </a:r>
          </a:p>
          <a:p>
            <a:pPr marL="0" indent="0">
              <a:lnSpc>
                <a:spcPct val="100000"/>
              </a:lnSpc>
              <a:buNone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Implementation</a:t>
            </a:r>
          </a:p>
          <a:p>
            <a:pPr>
              <a:lnSpc>
                <a:spcPct val="100000"/>
              </a:lnSpc>
            </a:pP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model.</a:t>
            </a:r>
            <a:r>
              <a:rPr lang="en-US" altLang="en-US" sz="1900" dirty="0" err="1">
                <a:latin typeface="+mn-lt"/>
              </a:rPr>
              <a:t>train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()</a:t>
            </a: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Loop over epochs</a:t>
            </a: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Loop over batches from the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DataLoader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Forward pass on one batch</a:t>
            </a: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Compute batch loss</a:t>
            </a: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Backpropagate gradients</a:t>
            </a: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Update shared model parameters</a:t>
            </a: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Repeat for all batches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F5F524-5E69-918B-8CB3-8054707F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Train loop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B795C-809D-F49B-5C60-21868358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42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A01C7-B6E8-92D7-71D0-BD0725B5C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Validation and 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1119B-8BB4-2DB1-C84F-B28687F1E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9888"/>
            <a:ext cx="10985205" cy="478707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2400" dirty="0"/>
              <a:t>Check </a:t>
            </a:r>
            <a:r>
              <a:rPr lang="en-US" altLang="en-US" sz="2400" b="1" dirty="0"/>
              <a:t>how well the model </a:t>
            </a:r>
            <a:r>
              <a:rPr lang="en-US" altLang="en-US" sz="2400" b="1" dirty="0" err="1"/>
              <a:t>generalises</a:t>
            </a:r>
            <a:r>
              <a:rPr lang="en-US" altLang="en-US" sz="2400" dirty="0"/>
              <a:t> to unseen data, not data it was trained on.</a:t>
            </a:r>
          </a:p>
          <a:p>
            <a:pPr>
              <a:lnSpc>
                <a:spcPct val="100000"/>
              </a:lnSpc>
            </a:pPr>
            <a:r>
              <a:rPr lang="en-US" altLang="en-US" sz="2400" b="1" dirty="0"/>
              <a:t>Validation data</a:t>
            </a:r>
            <a:r>
              <a:rPr lang="en-US" altLang="en-US" sz="2400" dirty="0"/>
              <a:t>: keep training model after validation evaluation to learn from mistakes </a:t>
            </a:r>
            <a:r>
              <a:rPr lang="en-US" altLang="en-US" sz="2400" dirty="0">
                <a:sym typeface="Wingdings" pitchFamily="2" charset="2"/>
              </a:rPr>
              <a:t> avoid overfitting</a:t>
            </a:r>
          </a:p>
          <a:p>
            <a:pPr>
              <a:lnSpc>
                <a:spcPct val="100000"/>
              </a:lnSpc>
            </a:pPr>
            <a:r>
              <a:rPr lang="en-US" altLang="en-US" sz="2400" b="1" dirty="0"/>
              <a:t>Test data</a:t>
            </a:r>
            <a:r>
              <a:rPr lang="en-US" altLang="en-US" sz="2400" dirty="0"/>
              <a:t> gives the final, unbiased performance estimate</a:t>
            </a:r>
          </a:p>
          <a:p>
            <a:pPr>
              <a:lnSpc>
                <a:spcPct val="100000"/>
              </a:lnSpc>
            </a:pPr>
            <a:endParaRPr lang="en-US" altLang="en-US" sz="1500" dirty="0"/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Switch model to evaluation mode: </a:t>
            </a:r>
            <a:r>
              <a:rPr lang="en-US" altLang="en-US" sz="2400" dirty="0" err="1"/>
              <a:t>model.eval</a:t>
            </a:r>
            <a:r>
              <a:rPr lang="en-US" altLang="en-US" sz="2400" dirty="0"/>
              <a:t>()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Disable gradients with </a:t>
            </a:r>
            <a:r>
              <a:rPr lang="en-US" altLang="en-US" sz="2400" dirty="0" err="1"/>
              <a:t>torch.no_grad</a:t>
            </a:r>
            <a:r>
              <a:rPr lang="en-US" altLang="en-US" sz="2400" dirty="0"/>
              <a:t>()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Loop over validation/test </a:t>
            </a:r>
            <a:r>
              <a:rPr lang="en-US" altLang="en-US" sz="2400" dirty="0" err="1"/>
              <a:t>DataLoader</a:t>
            </a:r>
            <a:endParaRPr lang="en-US" altLang="en-US" sz="2400" dirty="0"/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Compute loss and metrics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Aggregate results across batches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C9D20E-6261-2790-7B0B-2C73E433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61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7EDB-CB43-3607-5179-1C582C5C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 to watch out for!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8E208-0FCF-8C6A-6ABF-EEC37079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23FEAE7-3636-D05D-A523-84F38E1D01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50984"/>
            <a:ext cx="9890051" cy="3757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</a:rPr>
              <a:t>Forgetting to call 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</a:rPr>
              <a:t>model.train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</a:rPr>
              <a:t>() /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</a:rPr>
              <a:t>model.eval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</a:rPr>
              <a:t>()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</a:rPr>
              <a:t>Not using 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</a:rPr>
              <a:t>torch.no_grad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</a:rPr>
              <a:t>() during evaluation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</a:rPr>
              <a:t>Mixing CPU and GPU tensors – everything needs to be on the same device!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</a:rPr>
              <a:t>Forgetting 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</a:rPr>
              <a:t>optimizer.zero_grad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</a:rPr>
              <a:t>() before backpropagation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</a:rPr>
              <a:t>Using the test set during training or tuning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</a:rPr>
              <a:t>Mismatched tensor shapes (especially labels)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effectLst/>
              </a:rPr>
              <a:t>Assuming lower training loss means better </a:t>
            </a:r>
            <a:r>
              <a:rPr kumimoji="0" lang="en-US" altLang="en-US" sz="2300" b="0" i="0" u="none" strike="noStrike" cap="none" normalizeH="0" baseline="0" dirty="0" err="1">
                <a:ln>
                  <a:noFill/>
                </a:ln>
                <a:effectLst/>
              </a:rPr>
              <a:t>generalisation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88674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6580A-6441-C990-D12D-7963EB16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C70E6-9BC8-D102-B764-D865D7360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PyTorch</a:t>
            </a:r>
            <a:r>
              <a:rPr lang="en-US" dirty="0"/>
              <a:t> installation for future environments: </a:t>
            </a:r>
            <a:r>
              <a:rPr lang="en-US" dirty="0">
                <a:hlinkClick r:id="rId2"/>
              </a:rPr>
              <a:t>https://pytorch.org/get-started/locally/</a:t>
            </a:r>
            <a:r>
              <a:rPr lang="en-US" dirty="0"/>
              <a:t> </a:t>
            </a:r>
          </a:p>
          <a:p>
            <a:r>
              <a:rPr lang="en-US" dirty="0" err="1"/>
              <a:t>PyTorch</a:t>
            </a:r>
            <a:r>
              <a:rPr lang="en-US" dirty="0"/>
              <a:t> documentation: </a:t>
            </a:r>
            <a:r>
              <a:rPr lang="en-US" dirty="0">
                <a:hlinkClick r:id="rId3"/>
              </a:rPr>
              <a:t>https://docs.pytorch.org/docs/stable/index.html</a:t>
            </a:r>
            <a:endParaRPr lang="en-US" dirty="0"/>
          </a:p>
          <a:p>
            <a:r>
              <a:rPr lang="en-US" dirty="0" err="1"/>
              <a:t>PyTorch</a:t>
            </a:r>
            <a:r>
              <a:rPr lang="en-US" dirty="0"/>
              <a:t> tutorials: </a:t>
            </a:r>
            <a:r>
              <a:rPr lang="en-US" dirty="0">
                <a:hlinkClick r:id="rId4"/>
              </a:rPr>
              <a:t>https://docs.pytorch.org/tutorials/</a:t>
            </a:r>
            <a:r>
              <a:rPr lang="en-US" dirty="0"/>
              <a:t> </a:t>
            </a:r>
          </a:p>
          <a:p>
            <a:r>
              <a:rPr lang="en-US" dirty="0"/>
              <a:t>Medium introduction to </a:t>
            </a:r>
            <a:r>
              <a:rPr lang="en-US" dirty="0" err="1"/>
              <a:t>PyTorch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https://medium.com/@rtdcunha/a-beginners-guide-to-pytorch-6bc600ca4b8d</a:t>
            </a:r>
            <a:r>
              <a:rPr lang="en-US" dirty="0"/>
              <a:t> </a:t>
            </a:r>
          </a:p>
          <a:p>
            <a:r>
              <a:rPr lang="en-US" dirty="0"/>
              <a:t>Cheat sheet: </a:t>
            </a:r>
            <a:r>
              <a:rPr lang="en-US" dirty="0">
                <a:hlinkClick r:id="rId6"/>
              </a:rPr>
              <a:t>https://www.mad.tf.fau.de/files/2019/07/pytorch-cheatsheet-en.pdf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42F55-3201-4EA1-D55C-6F5093CF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599C0-DD55-2349-9B89-1759BE259A4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67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29195</TotalTime>
  <Words>1106</Words>
  <Application>Microsoft Macintosh PowerPoint</Application>
  <PresentationFormat>Widescreen</PresentationFormat>
  <Paragraphs>152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 Unicode MS</vt:lpstr>
      <vt:lpstr>-webkit-standard</vt:lpstr>
      <vt:lpstr>Aptos</vt:lpstr>
      <vt:lpstr>Aptos Display</vt:lpstr>
      <vt:lpstr>Arial</vt:lpstr>
      <vt:lpstr>Wingdings</vt:lpstr>
      <vt:lpstr>Office Theme</vt:lpstr>
      <vt:lpstr>Introduction to PyTorch</vt:lpstr>
      <vt:lpstr>What is PyTorch?</vt:lpstr>
      <vt:lpstr>Key features of PyTorch</vt:lpstr>
      <vt:lpstr>PowerPoint Presentation</vt:lpstr>
      <vt:lpstr>Tensors</vt:lpstr>
      <vt:lpstr>CPU vs GPU</vt:lpstr>
      <vt:lpstr>PyTorch pipeline</vt:lpstr>
      <vt:lpstr>Setup</vt:lpstr>
      <vt:lpstr>Data and Data Loaders </vt:lpstr>
      <vt:lpstr>Model</vt:lpstr>
      <vt:lpstr>Loss and Optimisation</vt:lpstr>
      <vt:lpstr>Train – validation – test </vt:lpstr>
      <vt:lpstr>Train – validation – test </vt:lpstr>
      <vt:lpstr>Train loop</vt:lpstr>
      <vt:lpstr>Validation and Test</vt:lpstr>
      <vt:lpstr>Common mistakes to watch out for!</vt:lpstr>
      <vt:lpstr>Additional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Biggart, Iona E I</dc:creator>
  <cp:lastModifiedBy>Biggart, Iona E I</cp:lastModifiedBy>
  <cp:revision>13</cp:revision>
  <dcterms:created xsi:type="dcterms:W3CDTF">2025-10-01T09:28:43Z</dcterms:created>
  <dcterms:modified xsi:type="dcterms:W3CDTF">2026-01-19T16:49:18Z</dcterms:modified>
</cp:coreProperties>
</file>