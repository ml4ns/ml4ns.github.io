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74" r:id="rId2"/>
  </p:sldMasterIdLst>
  <p:notesMasterIdLst>
    <p:notesMasterId r:id="rId22"/>
  </p:notesMasterIdLst>
  <p:sldIdLst>
    <p:sldId id="336" r:id="rId3"/>
    <p:sldId id="284" r:id="rId4"/>
    <p:sldId id="1173" r:id="rId5"/>
    <p:sldId id="1174" r:id="rId6"/>
    <p:sldId id="1175" r:id="rId7"/>
    <p:sldId id="1176" r:id="rId8"/>
    <p:sldId id="1177" r:id="rId9"/>
    <p:sldId id="1178" r:id="rId10"/>
    <p:sldId id="1179" r:id="rId11"/>
    <p:sldId id="1180" r:id="rId12"/>
    <p:sldId id="1181" r:id="rId13"/>
    <p:sldId id="1182" r:id="rId14"/>
    <p:sldId id="1183" r:id="rId15"/>
    <p:sldId id="1184" r:id="rId16"/>
    <p:sldId id="1185" r:id="rId17"/>
    <p:sldId id="1186" r:id="rId18"/>
    <p:sldId id="1187" r:id="rId19"/>
    <p:sldId id="2145706010" r:id="rId20"/>
    <p:sldId id="214570601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C8FF"/>
    <a:srgbClr val="0002EA"/>
    <a:srgbClr val="9900CB"/>
    <a:srgbClr val="AB0050"/>
    <a:srgbClr val="00326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916"/>
    <p:restoredTop sz="75000"/>
  </p:normalViewPr>
  <p:slideViewPr>
    <p:cSldViewPr snapToGrid="0">
      <p:cViewPr>
        <p:scale>
          <a:sx n="100" d="100"/>
          <a:sy n="100" d="100"/>
        </p:scale>
        <p:origin x="144" y="-624"/>
      </p:cViewPr>
      <p:guideLst/>
    </p:cSldViewPr>
  </p:slideViewPr>
  <p:notesTextViewPr>
    <p:cViewPr>
      <p:scale>
        <a:sx n="75" d="100"/>
        <a:sy n="7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6BF57FA-CFB8-45FF-A9E8-5FB274F014E0}" type="doc">
      <dgm:prSet loTypeId="urn:microsoft.com/office/officeart/2005/8/layout/process5" loCatId="process" qsTypeId="urn:microsoft.com/office/officeart/2005/8/quickstyle/simple1" qsCatId="simple" csTypeId="urn:microsoft.com/office/officeart/2005/8/colors/accent1_2" csCatId="accent1" phldr="1"/>
      <dgm:spPr/>
      <dgm:t>
        <a:bodyPr/>
        <a:lstStyle/>
        <a:p>
          <a:endParaRPr lang="en-US"/>
        </a:p>
      </dgm:t>
    </dgm:pt>
    <dgm:pt modelId="{49E8B2F8-45DE-49C1-BFF3-6C6C09860521}">
      <dgm:prSet custT="1"/>
      <dgm:spPr/>
      <dgm:t>
        <a:bodyPr/>
        <a:lstStyle/>
        <a:p>
          <a:pPr algn="l"/>
          <a:r>
            <a:rPr lang="en-GB" sz="2000" dirty="0">
              <a:latin typeface="Avenir Book" panose="02000503020000020003" pitchFamily="2" charset="0"/>
            </a:rPr>
            <a:t>The Belmont Report (1979) established three key principles for ethical research and practices:</a:t>
          </a:r>
          <a:br>
            <a:rPr lang="en-GB" sz="2000" dirty="0">
              <a:latin typeface="Avenir Book" panose="02000503020000020003" pitchFamily="2" charset="0"/>
            </a:rPr>
          </a:br>
          <a:endParaRPr lang="en-US" sz="2000" dirty="0">
            <a:latin typeface="Avenir Book" panose="02000503020000020003" pitchFamily="2" charset="0"/>
          </a:endParaRPr>
        </a:p>
      </dgm:t>
    </dgm:pt>
    <dgm:pt modelId="{6C2C23AF-A3BB-4535-852D-328063C196FB}" type="parTrans" cxnId="{5C6064A5-6813-4632-8349-9654D8078A60}">
      <dgm:prSet/>
      <dgm:spPr/>
      <dgm:t>
        <a:bodyPr/>
        <a:lstStyle/>
        <a:p>
          <a:endParaRPr lang="en-US"/>
        </a:p>
      </dgm:t>
    </dgm:pt>
    <dgm:pt modelId="{FD97C614-1E1D-43E2-8927-36F6CAF9902A}" type="sibTrans" cxnId="{5C6064A5-6813-4632-8349-9654D8078A60}">
      <dgm:prSet/>
      <dgm:spPr/>
      <dgm:t>
        <a:bodyPr/>
        <a:lstStyle/>
        <a:p>
          <a:endParaRPr lang="en-US"/>
        </a:p>
      </dgm:t>
    </dgm:pt>
    <dgm:pt modelId="{E55A8659-6CD0-4203-AEDD-7D3903183D21}">
      <dgm:prSet custT="1"/>
      <dgm:spPr/>
      <dgm:t>
        <a:bodyPr/>
        <a:lstStyle/>
        <a:p>
          <a:pPr algn="l"/>
          <a:r>
            <a:rPr lang="en-GB" sz="2000" dirty="0">
              <a:latin typeface="Avenir Book" panose="02000503020000020003" pitchFamily="2" charset="0"/>
            </a:rPr>
            <a:t>Respect for Persons</a:t>
          </a:r>
          <a:endParaRPr lang="en-US" sz="2000" dirty="0">
            <a:latin typeface="Avenir Book" panose="02000503020000020003" pitchFamily="2" charset="0"/>
          </a:endParaRPr>
        </a:p>
      </dgm:t>
    </dgm:pt>
    <dgm:pt modelId="{52D00CBF-B74B-4964-A0E3-43C82882C85A}" type="parTrans" cxnId="{A2BFC4E4-6421-4296-8EAD-76BEC5561979}">
      <dgm:prSet/>
      <dgm:spPr/>
      <dgm:t>
        <a:bodyPr/>
        <a:lstStyle/>
        <a:p>
          <a:endParaRPr lang="en-US"/>
        </a:p>
      </dgm:t>
    </dgm:pt>
    <dgm:pt modelId="{86600A54-BCB0-4435-97D2-ED94CAD15C35}" type="sibTrans" cxnId="{A2BFC4E4-6421-4296-8EAD-76BEC5561979}">
      <dgm:prSet/>
      <dgm:spPr/>
      <dgm:t>
        <a:bodyPr/>
        <a:lstStyle/>
        <a:p>
          <a:endParaRPr lang="en-US"/>
        </a:p>
      </dgm:t>
    </dgm:pt>
    <dgm:pt modelId="{05987695-F889-4F90-89E9-6D198428DF84}">
      <dgm:prSet custT="1"/>
      <dgm:spPr/>
      <dgm:t>
        <a:bodyPr/>
        <a:lstStyle/>
        <a:p>
          <a:pPr algn="l"/>
          <a:r>
            <a:rPr lang="en-GB" sz="2000" dirty="0">
              <a:latin typeface="Avenir Book" panose="02000503020000020003" pitchFamily="2" charset="0"/>
            </a:rPr>
            <a:t>Beneficence</a:t>
          </a:r>
          <a:endParaRPr lang="en-US" sz="2000" dirty="0">
            <a:latin typeface="Avenir Book" panose="02000503020000020003" pitchFamily="2" charset="0"/>
          </a:endParaRPr>
        </a:p>
      </dgm:t>
    </dgm:pt>
    <dgm:pt modelId="{4B9D5C06-4C7D-4637-B566-B4190AB8EEB5}" type="parTrans" cxnId="{C358C395-31C9-46D0-9FAD-2E7F31891424}">
      <dgm:prSet/>
      <dgm:spPr/>
      <dgm:t>
        <a:bodyPr/>
        <a:lstStyle/>
        <a:p>
          <a:endParaRPr lang="en-US"/>
        </a:p>
      </dgm:t>
    </dgm:pt>
    <dgm:pt modelId="{82319B09-0295-43BD-83E7-15DBACCA676F}" type="sibTrans" cxnId="{C358C395-31C9-46D0-9FAD-2E7F31891424}">
      <dgm:prSet/>
      <dgm:spPr/>
      <dgm:t>
        <a:bodyPr/>
        <a:lstStyle/>
        <a:p>
          <a:endParaRPr lang="en-US"/>
        </a:p>
      </dgm:t>
    </dgm:pt>
    <dgm:pt modelId="{AED4BAFC-6B34-43A2-ADA5-2C538BAEF477}">
      <dgm:prSet custT="1"/>
      <dgm:spPr/>
      <dgm:t>
        <a:bodyPr/>
        <a:lstStyle/>
        <a:p>
          <a:pPr algn="l"/>
          <a:r>
            <a:rPr lang="en-GB" sz="2000" dirty="0">
              <a:latin typeface="Avenir Book" panose="02000503020000020003" pitchFamily="2" charset="0"/>
            </a:rPr>
            <a:t>Justice</a:t>
          </a:r>
          <a:endParaRPr lang="en-US" sz="2000" dirty="0">
            <a:latin typeface="Avenir Book" panose="02000503020000020003" pitchFamily="2" charset="0"/>
          </a:endParaRPr>
        </a:p>
      </dgm:t>
    </dgm:pt>
    <dgm:pt modelId="{E5E56EBD-1B3B-4E70-A2DF-E8B8FB31876C}" type="parTrans" cxnId="{8936069E-606E-4E54-9B22-051E2D862414}">
      <dgm:prSet/>
      <dgm:spPr/>
      <dgm:t>
        <a:bodyPr/>
        <a:lstStyle/>
        <a:p>
          <a:endParaRPr lang="en-US"/>
        </a:p>
      </dgm:t>
    </dgm:pt>
    <dgm:pt modelId="{EFB11CD4-F2ED-4A5D-B469-10426E6D59AD}" type="sibTrans" cxnId="{8936069E-606E-4E54-9B22-051E2D862414}">
      <dgm:prSet/>
      <dgm:spPr/>
      <dgm:t>
        <a:bodyPr/>
        <a:lstStyle/>
        <a:p>
          <a:endParaRPr lang="en-US"/>
        </a:p>
      </dgm:t>
    </dgm:pt>
    <dgm:pt modelId="{1991BFB2-F18A-6549-B423-246D09A40EB1}">
      <dgm:prSet custT="1"/>
      <dgm:spPr/>
      <dgm:t>
        <a:bodyPr/>
        <a:lstStyle/>
        <a:p>
          <a:pPr algn="l"/>
          <a:endParaRPr lang="en-US" sz="2000" dirty="0">
            <a:latin typeface="Avenir Book" panose="02000503020000020003" pitchFamily="2" charset="0"/>
          </a:endParaRPr>
        </a:p>
      </dgm:t>
    </dgm:pt>
    <dgm:pt modelId="{A75E65D0-DCC5-B84A-982C-C12F5D0AB159}" type="parTrans" cxnId="{7089F442-713E-0E44-ACD4-089923392B48}">
      <dgm:prSet/>
      <dgm:spPr/>
      <dgm:t>
        <a:bodyPr/>
        <a:lstStyle/>
        <a:p>
          <a:endParaRPr lang="en-GB"/>
        </a:p>
      </dgm:t>
    </dgm:pt>
    <dgm:pt modelId="{9F813AF3-8605-1D42-A25E-93BE3DF6417A}" type="sibTrans" cxnId="{7089F442-713E-0E44-ACD4-089923392B48}">
      <dgm:prSet/>
      <dgm:spPr/>
      <dgm:t>
        <a:bodyPr/>
        <a:lstStyle/>
        <a:p>
          <a:endParaRPr lang="en-GB"/>
        </a:p>
      </dgm:t>
    </dgm:pt>
    <dgm:pt modelId="{B132F7DE-A3A0-3441-9759-58D8606E47F3}">
      <dgm:prSet custT="1"/>
      <dgm:spPr/>
      <dgm:t>
        <a:bodyPr/>
        <a:lstStyle/>
        <a:p>
          <a:pPr algn="l"/>
          <a:endParaRPr lang="en-US" sz="2000" dirty="0">
            <a:latin typeface="Avenir Book" panose="02000503020000020003" pitchFamily="2" charset="0"/>
          </a:endParaRPr>
        </a:p>
      </dgm:t>
    </dgm:pt>
    <dgm:pt modelId="{E1275964-294F-BE4A-BBB0-15036A09CA63}" type="parTrans" cxnId="{1ED22D78-328C-E84A-AE08-4A9B86B5C49C}">
      <dgm:prSet/>
      <dgm:spPr/>
      <dgm:t>
        <a:bodyPr/>
        <a:lstStyle/>
        <a:p>
          <a:endParaRPr lang="en-GB"/>
        </a:p>
      </dgm:t>
    </dgm:pt>
    <dgm:pt modelId="{2FDDD49D-D9C7-4049-AE6A-AD4258841B69}" type="sibTrans" cxnId="{1ED22D78-328C-E84A-AE08-4A9B86B5C49C}">
      <dgm:prSet/>
      <dgm:spPr/>
      <dgm:t>
        <a:bodyPr/>
        <a:lstStyle/>
        <a:p>
          <a:endParaRPr lang="en-GB"/>
        </a:p>
      </dgm:t>
    </dgm:pt>
    <dgm:pt modelId="{5CBAF4DE-E557-1F43-9359-621944BF16C1}">
      <dgm:prSet custT="1"/>
      <dgm:spPr/>
      <dgm:t>
        <a:bodyPr/>
        <a:lstStyle/>
        <a:p>
          <a:pPr algn="l"/>
          <a:endParaRPr lang="en-US" sz="2000" dirty="0">
            <a:latin typeface="Avenir Book" panose="02000503020000020003" pitchFamily="2" charset="0"/>
          </a:endParaRPr>
        </a:p>
      </dgm:t>
    </dgm:pt>
    <dgm:pt modelId="{62336835-70C9-464B-A8EA-916AAE22E557}" type="parTrans" cxnId="{EF0F91A2-B4F4-2C49-9911-16EA86128FA1}">
      <dgm:prSet/>
      <dgm:spPr/>
      <dgm:t>
        <a:bodyPr/>
        <a:lstStyle/>
        <a:p>
          <a:endParaRPr lang="en-GB"/>
        </a:p>
      </dgm:t>
    </dgm:pt>
    <dgm:pt modelId="{64B5B4F7-F075-A74F-B2BD-469EEF55EBCD}" type="sibTrans" cxnId="{EF0F91A2-B4F4-2C49-9911-16EA86128FA1}">
      <dgm:prSet/>
      <dgm:spPr/>
      <dgm:t>
        <a:bodyPr/>
        <a:lstStyle/>
        <a:p>
          <a:endParaRPr lang="en-GB"/>
        </a:p>
      </dgm:t>
    </dgm:pt>
    <dgm:pt modelId="{AEAA8115-ABE8-0643-A06E-DE0EC8FA5DBE}" type="pres">
      <dgm:prSet presAssocID="{E6BF57FA-CFB8-45FF-A9E8-5FB274F014E0}" presName="diagram" presStyleCnt="0">
        <dgm:presLayoutVars>
          <dgm:dir/>
          <dgm:resizeHandles val="exact"/>
        </dgm:presLayoutVars>
      </dgm:prSet>
      <dgm:spPr/>
    </dgm:pt>
    <dgm:pt modelId="{D1DDE1F1-CF5C-8647-BEA7-B01033CDA697}" type="pres">
      <dgm:prSet presAssocID="{49E8B2F8-45DE-49C1-BFF3-6C6C09860521}" presName="node" presStyleLbl="node1" presStyleIdx="0" presStyleCnt="1" custScaleX="190335" custScaleY="132218" custLinFactNeighborX="4687" custLinFactNeighborY="-20371">
        <dgm:presLayoutVars>
          <dgm:bulletEnabled val="1"/>
        </dgm:presLayoutVars>
      </dgm:prSet>
      <dgm:spPr/>
    </dgm:pt>
  </dgm:ptLst>
  <dgm:cxnLst>
    <dgm:cxn modelId="{B5CB2604-F7D5-2F4E-9AD4-D494F92E9D55}" type="presOf" srcId="{1991BFB2-F18A-6549-B423-246D09A40EB1}" destId="{D1DDE1F1-CF5C-8647-BEA7-B01033CDA697}" srcOrd="0" destOrd="6" presId="urn:microsoft.com/office/officeart/2005/8/layout/process5"/>
    <dgm:cxn modelId="{7089F442-713E-0E44-ACD4-089923392B48}" srcId="{49E8B2F8-45DE-49C1-BFF3-6C6C09860521}" destId="{1991BFB2-F18A-6549-B423-246D09A40EB1}" srcOrd="5" destOrd="0" parTransId="{A75E65D0-DCC5-B84A-982C-C12F5D0AB159}" sibTransId="{9F813AF3-8605-1D42-A25E-93BE3DF6417A}"/>
    <dgm:cxn modelId="{1ED22D78-328C-E84A-AE08-4A9B86B5C49C}" srcId="{49E8B2F8-45DE-49C1-BFF3-6C6C09860521}" destId="{B132F7DE-A3A0-3441-9759-58D8606E47F3}" srcOrd="1" destOrd="0" parTransId="{E1275964-294F-BE4A-BBB0-15036A09CA63}" sibTransId="{2FDDD49D-D9C7-4049-AE6A-AD4258841B69}"/>
    <dgm:cxn modelId="{93380481-59D9-184E-96B1-FC991CEF8072}" type="presOf" srcId="{5CBAF4DE-E557-1F43-9359-621944BF16C1}" destId="{D1DDE1F1-CF5C-8647-BEA7-B01033CDA697}" srcOrd="0" destOrd="4" presId="urn:microsoft.com/office/officeart/2005/8/layout/process5"/>
    <dgm:cxn modelId="{A0451688-22F5-E049-B5A2-A7577DDF9708}" type="presOf" srcId="{AED4BAFC-6B34-43A2-ADA5-2C538BAEF477}" destId="{D1DDE1F1-CF5C-8647-BEA7-B01033CDA697}" srcOrd="0" destOrd="5" presId="urn:microsoft.com/office/officeart/2005/8/layout/process5"/>
    <dgm:cxn modelId="{7B8CA78D-606D-9F4E-B9A2-70ACC50683ED}" type="presOf" srcId="{B132F7DE-A3A0-3441-9759-58D8606E47F3}" destId="{D1DDE1F1-CF5C-8647-BEA7-B01033CDA697}" srcOrd="0" destOrd="2" presId="urn:microsoft.com/office/officeart/2005/8/layout/process5"/>
    <dgm:cxn modelId="{C358C395-31C9-46D0-9FAD-2E7F31891424}" srcId="{49E8B2F8-45DE-49C1-BFF3-6C6C09860521}" destId="{05987695-F889-4F90-89E9-6D198428DF84}" srcOrd="2" destOrd="0" parTransId="{4B9D5C06-4C7D-4637-B566-B4190AB8EEB5}" sibTransId="{82319B09-0295-43BD-83E7-15DBACCA676F}"/>
    <dgm:cxn modelId="{8936069E-606E-4E54-9B22-051E2D862414}" srcId="{49E8B2F8-45DE-49C1-BFF3-6C6C09860521}" destId="{AED4BAFC-6B34-43A2-ADA5-2C538BAEF477}" srcOrd="4" destOrd="0" parTransId="{E5E56EBD-1B3B-4E70-A2DF-E8B8FB31876C}" sibTransId="{EFB11CD4-F2ED-4A5D-B469-10426E6D59AD}"/>
    <dgm:cxn modelId="{EF0F91A2-B4F4-2C49-9911-16EA86128FA1}" srcId="{49E8B2F8-45DE-49C1-BFF3-6C6C09860521}" destId="{5CBAF4DE-E557-1F43-9359-621944BF16C1}" srcOrd="3" destOrd="0" parTransId="{62336835-70C9-464B-A8EA-916AAE22E557}" sibTransId="{64B5B4F7-F075-A74F-B2BD-469EEF55EBCD}"/>
    <dgm:cxn modelId="{5C6064A5-6813-4632-8349-9654D8078A60}" srcId="{E6BF57FA-CFB8-45FF-A9E8-5FB274F014E0}" destId="{49E8B2F8-45DE-49C1-BFF3-6C6C09860521}" srcOrd="0" destOrd="0" parTransId="{6C2C23AF-A3BB-4535-852D-328063C196FB}" sibTransId="{FD97C614-1E1D-43E2-8927-36F6CAF9902A}"/>
    <dgm:cxn modelId="{A08943A6-01A0-B148-99C5-F42F2142F1BA}" type="presOf" srcId="{E6BF57FA-CFB8-45FF-A9E8-5FB274F014E0}" destId="{AEAA8115-ABE8-0643-A06E-DE0EC8FA5DBE}" srcOrd="0" destOrd="0" presId="urn:microsoft.com/office/officeart/2005/8/layout/process5"/>
    <dgm:cxn modelId="{43188FD0-D3FF-394A-B18F-88701A962239}" type="presOf" srcId="{E55A8659-6CD0-4203-AEDD-7D3903183D21}" destId="{D1DDE1F1-CF5C-8647-BEA7-B01033CDA697}" srcOrd="0" destOrd="1" presId="urn:microsoft.com/office/officeart/2005/8/layout/process5"/>
    <dgm:cxn modelId="{A2BFC4E4-6421-4296-8EAD-76BEC5561979}" srcId="{49E8B2F8-45DE-49C1-BFF3-6C6C09860521}" destId="{E55A8659-6CD0-4203-AEDD-7D3903183D21}" srcOrd="0" destOrd="0" parTransId="{52D00CBF-B74B-4964-A0E3-43C82882C85A}" sibTransId="{86600A54-BCB0-4435-97D2-ED94CAD15C35}"/>
    <dgm:cxn modelId="{6DBF47F2-A9C6-0D4E-A67A-20FFE36BB6D9}" type="presOf" srcId="{49E8B2F8-45DE-49C1-BFF3-6C6C09860521}" destId="{D1DDE1F1-CF5C-8647-BEA7-B01033CDA697}" srcOrd="0" destOrd="0" presId="urn:microsoft.com/office/officeart/2005/8/layout/process5"/>
    <dgm:cxn modelId="{295734F6-B206-9945-AA00-CBEEA9EF5C9A}" type="presOf" srcId="{05987695-F889-4F90-89E9-6D198428DF84}" destId="{D1DDE1F1-CF5C-8647-BEA7-B01033CDA697}" srcOrd="0" destOrd="3" presId="urn:microsoft.com/office/officeart/2005/8/layout/process5"/>
    <dgm:cxn modelId="{9E91CC06-B9B7-0D42-B583-66646D5DA3CD}" type="presParOf" srcId="{AEAA8115-ABE8-0643-A06E-DE0EC8FA5DBE}" destId="{D1DDE1F1-CF5C-8647-BEA7-B01033CDA697}" srcOrd="0" destOrd="0" presId="urn:microsoft.com/office/officeart/2005/8/layout/process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DDE1F1-CF5C-8647-BEA7-B01033CDA697}">
      <dsp:nvSpPr>
        <dsp:cNvPr id="0" name=""/>
        <dsp:cNvSpPr/>
      </dsp:nvSpPr>
      <dsp:spPr>
        <a:xfrm>
          <a:off x="28310" y="0"/>
          <a:ext cx="7591689" cy="316418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GB" sz="2000" kern="1200" dirty="0">
              <a:latin typeface="Avenir Book" panose="02000503020000020003" pitchFamily="2" charset="0"/>
            </a:rPr>
            <a:t>The Belmont Report (1979) established three key principles for ethical research and practices:</a:t>
          </a:r>
          <a:br>
            <a:rPr lang="en-GB" sz="2000" kern="1200" dirty="0">
              <a:latin typeface="Avenir Book" panose="02000503020000020003" pitchFamily="2" charset="0"/>
            </a:rPr>
          </a:br>
          <a:endParaRPr lang="en-US" sz="2000" kern="1200" dirty="0">
            <a:latin typeface="Avenir Book" panose="02000503020000020003" pitchFamily="2" charset="0"/>
          </a:endParaRPr>
        </a:p>
        <a:p>
          <a:pPr marL="228600" lvl="1" indent="-228600" algn="l" defTabSz="889000">
            <a:lnSpc>
              <a:spcPct val="90000"/>
            </a:lnSpc>
            <a:spcBef>
              <a:spcPct val="0"/>
            </a:spcBef>
            <a:spcAft>
              <a:spcPct val="15000"/>
            </a:spcAft>
            <a:buChar char="•"/>
          </a:pPr>
          <a:r>
            <a:rPr lang="en-GB" sz="2000" kern="1200" dirty="0">
              <a:latin typeface="Avenir Book" panose="02000503020000020003" pitchFamily="2" charset="0"/>
            </a:rPr>
            <a:t>Respect for Persons</a:t>
          </a:r>
          <a:endParaRPr lang="en-US" sz="2000" kern="1200" dirty="0">
            <a:latin typeface="Avenir Book" panose="02000503020000020003" pitchFamily="2" charset="0"/>
          </a:endParaRPr>
        </a:p>
        <a:p>
          <a:pPr marL="228600" lvl="1" indent="-228600" algn="l" defTabSz="889000">
            <a:lnSpc>
              <a:spcPct val="90000"/>
            </a:lnSpc>
            <a:spcBef>
              <a:spcPct val="0"/>
            </a:spcBef>
            <a:spcAft>
              <a:spcPct val="15000"/>
            </a:spcAft>
            <a:buChar char="•"/>
          </a:pPr>
          <a:endParaRPr lang="en-US" sz="2000" kern="1200" dirty="0">
            <a:latin typeface="Avenir Book" panose="02000503020000020003" pitchFamily="2" charset="0"/>
          </a:endParaRPr>
        </a:p>
        <a:p>
          <a:pPr marL="228600" lvl="1" indent="-228600" algn="l" defTabSz="889000">
            <a:lnSpc>
              <a:spcPct val="90000"/>
            </a:lnSpc>
            <a:spcBef>
              <a:spcPct val="0"/>
            </a:spcBef>
            <a:spcAft>
              <a:spcPct val="15000"/>
            </a:spcAft>
            <a:buChar char="•"/>
          </a:pPr>
          <a:r>
            <a:rPr lang="en-GB" sz="2000" kern="1200" dirty="0">
              <a:latin typeface="Avenir Book" panose="02000503020000020003" pitchFamily="2" charset="0"/>
            </a:rPr>
            <a:t>Beneficence</a:t>
          </a:r>
          <a:endParaRPr lang="en-US" sz="2000" kern="1200" dirty="0">
            <a:latin typeface="Avenir Book" panose="02000503020000020003" pitchFamily="2" charset="0"/>
          </a:endParaRPr>
        </a:p>
        <a:p>
          <a:pPr marL="228600" lvl="1" indent="-228600" algn="l" defTabSz="889000">
            <a:lnSpc>
              <a:spcPct val="90000"/>
            </a:lnSpc>
            <a:spcBef>
              <a:spcPct val="0"/>
            </a:spcBef>
            <a:spcAft>
              <a:spcPct val="15000"/>
            </a:spcAft>
            <a:buChar char="•"/>
          </a:pPr>
          <a:endParaRPr lang="en-US" sz="2000" kern="1200" dirty="0">
            <a:latin typeface="Avenir Book" panose="02000503020000020003" pitchFamily="2" charset="0"/>
          </a:endParaRPr>
        </a:p>
        <a:p>
          <a:pPr marL="228600" lvl="1" indent="-228600" algn="l" defTabSz="889000">
            <a:lnSpc>
              <a:spcPct val="90000"/>
            </a:lnSpc>
            <a:spcBef>
              <a:spcPct val="0"/>
            </a:spcBef>
            <a:spcAft>
              <a:spcPct val="15000"/>
            </a:spcAft>
            <a:buChar char="•"/>
          </a:pPr>
          <a:r>
            <a:rPr lang="en-GB" sz="2000" kern="1200" dirty="0">
              <a:latin typeface="Avenir Book" panose="02000503020000020003" pitchFamily="2" charset="0"/>
            </a:rPr>
            <a:t>Justice</a:t>
          </a:r>
          <a:endParaRPr lang="en-US" sz="2000" kern="1200" dirty="0">
            <a:latin typeface="Avenir Book" panose="02000503020000020003" pitchFamily="2" charset="0"/>
          </a:endParaRPr>
        </a:p>
        <a:p>
          <a:pPr marL="228600" lvl="1" indent="-228600" algn="l" defTabSz="889000">
            <a:lnSpc>
              <a:spcPct val="90000"/>
            </a:lnSpc>
            <a:spcBef>
              <a:spcPct val="0"/>
            </a:spcBef>
            <a:spcAft>
              <a:spcPct val="15000"/>
            </a:spcAft>
            <a:buChar char="•"/>
          </a:pPr>
          <a:endParaRPr lang="en-US" sz="2000" kern="1200" dirty="0">
            <a:latin typeface="Avenir Book" panose="02000503020000020003" pitchFamily="2" charset="0"/>
          </a:endParaRPr>
        </a:p>
      </dsp:txBody>
      <dsp:txXfrm>
        <a:off x="120986" y="92676"/>
        <a:ext cx="7406337" cy="2978831"/>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590274-FF52-CE42-A617-528EC677505D}" type="datetimeFigureOut">
              <a:rPr lang="en-GB" smtClean="0"/>
              <a:t>10/11/2025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29E5A72-B238-6447-BAF5-FD355A461B03}" type="slidenum">
              <a:rPr lang="en-GB" smtClean="0"/>
              <a:t>‹#›</a:t>
            </a:fld>
            <a:endParaRPr lang="en-GB"/>
          </a:p>
        </p:txBody>
      </p:sp>
    </p:spTree>
    <p:extLst>
      <p:ext uri="{BB962C8B-B14F-4D97-AF65-F5344CB8AC3E}">
        <p14:creationId xmlns:p14="http://schemas.microsoft.com/office/powerpoint/2010/main" val="7120598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3CC84-B758-3BEA-7185-9DBC4B0A6E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EC6E4C-8070-BFB3-F2BD-ED9A4E74105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8ECC3CB-6031-488C-ACEE-030DFEB78F4F}"/>
              </a:ext>
            </a:extLst>
          </p:cNvPr>
          <p:cNvSpPr>
            <a:spLocks noGrp="1"/>
          </p:cNvSpPr>
          <p:nvPr>
            <p:ph type="body" idx="1"/>
          </p:nvPr>
        </p:nvSpPr>
        <p:spPr/>
        <p:txBody>
          <a:bodyPr/>
          <a:lstStyle/>
          <a:p>
            <a:pPr marL="171450" marR="0" lvl="0" indent="-171450" algn="l" defTabSz="914353" rtl="0" eaLnBrk="1" fontAlgn="auto" latinLnBrk="0" hangingPunct="1">
              <a:lnSpc>
                <a:spcPct val="100000"/>
              </a:lnSpc>
              <a:spcBef>
                <a:spcPts val="0"/>
              </a:spcBef>
              <a:spcAft>
                <a:spcPts val="0"/>
              </a:spcAft>
              <a:buClrTx/>
              <a:buSzTx/>
              <a:buFontTx/>
              <a:buChar char="-"/>
              <a:tabLst/>
              <a:defRPr/>
            </a:pPr>
            <a:r>
              <a:rPr lang="en-GB" sz="1200" b="0" i="0" u="none" strike="noStrike" kern="1200" dirty="0">
                <a:solidFill>
                  <a:schemeClr val="tx1"/>
                </a:solidFill>
                <a:effectLst/>
                <a:latin typeface="+mn-lt"/>
                <a:ea typeface="+mn-ea"/>
                <a:cs typeface="+mn-cs"/>
              </a:rPr>
              <a:t>Good morning and thank you for being here. Over the past 4 years, my research has focused on how we can use machine learning, specifically representation learning, to better understand and support clinical decision-making in the context of ageing and dementia, and today, I am really excited to present the culmination of this work today.</a:t>
            </a:r>
          </a:p>
        </p:txBody>
      </p:sp>
      <p:sp>
        <p:nvSpPr>
          <p:cNvPr id="4" name="Slide Number Placeholder 3">
            <a:extLst>
              <a:ext uri="{FF2B5EF4-FFF2-40B4-BE49-F238E27FC236}">
                <a16:creationId xmlns:a16="http://schemas.microsoft.com/office/drawing/2014/main" id="{A0937322-40CD-2B13-D2E1-1DC8BD34CA1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25793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dirty="0"/>
              <a:t>When we think about ethics, we inevitably think about morality.</a:t>
            </a:r>
          </a:p>
          <a:p>
            <a:endParaRPr lang="en-GB" dirty="0"/>
          </a:p>
          <a:p>
            <a:r>
              <a:rPr lang="en-GB" dirty="0"/>
              <a:t>In ‘An Ideal Husband’ Oscar Wilde wrote: “Morality is simply the attitude we adopt towards people whom we dislike.” </a:t>
            </a:r>
          </a:p>
          <a:p>
            <a:endParaRPr lang="en-GB" dirty="0"/>
          </a:p>
          <a:p>
            <a:r>
              <a:rPr lang="en-GB" dirty="0"/>
              <a:t>Now, morality refers to principles or habits </a:t>
            </a:r>
            <a:r>
              <a:rPr lang="en-GB" b="0" i="0" u="none" strike="noStrike" dirty="0">
                <a:solidFill>
                  <a:srgbClr val="000000"/>
                </a:solidFill>
                <a:effectLst/>
                <a:latin typeface="-webkit-standard"/>
              </a:rPr>
              <a:t>that guide an individual’s sense of right and wrong, </a:t>
            </a:r>
            <a:r>
              <a:rPr lang="en-GB" dirty="0"/>
              <a:t>shaped by their personal beliefs. In contrast, ethics takes these moral principles and develops a formalized set of rules or code of conduct for a particular group or culture, which is then recognised and upheld by an external authority or social structure.</a:t>
            </a:r>
          </a:p>
          <a:p>
            <a:endParaRPr lang="en-GB" dirty="0"/>
          </a:p>
          <a:p>
            <a:r>
              <a:rPr lang="en-GB" dirty="0"/>
              <a:t>In essence, ethics provide the fundamental building blocks that enables groups, organisations, economies, cultures, and even entire societies to function cohesively and maintain integrity.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238482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06BA4-F39A-4F60-E185-7259401DB8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624C67-E616-9C31-42C4-9784520E7D0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4CD52EE-0CA3-87FC-173B-5A46AE21F7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Helvetica Neue" panose="02000503000000020004" pitchFamily="2" charset="0"/>
              </a:rPr>
              <a:t>When technology is developed to enhance or replace human functions, the biases and limitations impacting human decision-making </a:t>
            </a:r>
            <a:r>
              <a:rPr lang="en-GB" dirty="0">
                <a:effectLst/>
                <a:latin typeface="Helvetica Neue" panose="02000503000000020004" pitchFamily="2" charset="0"/>
              </a:rPr>
              <a:t>can also influence the technology.</a:t>
            </a:r>
          </a:p>
          <a:p>
            <a:endParaRPr lang="en-GB" dirty="0"/>
          </a:p>
          <a:p>
            <a:r>
              <a:rPr lang="en-GB" dirty="0"/>
              <a:t>It is therefore essential that we work to align our technological progress with core societal values.</a:t>
            </a:r>
          </a:p>
          <a:p>
            <a:endParaRPr lang="en-GB" dirty="0"/>
          </a:p>
          <a:p>
            <a:r>
              <a:rPr lang="en-GB" sz="1400" noProof="0" dirty="0">
                <a:solidFill>
                  <a:srgbClr val="2F2E2C"/>
                </a:solidFill>
                <a:latin typeface="Gill Sans MT" panose="020B0502020104020203" pitchFamily="34" charset="77"/>
              </a:rPr>
              <a:t>Ethics in AI offers a </a:t>
            </a:r>
            <a:r>
              <a:rPr lang="en-GB" sz="1200" dirty="0">
                <a:effectLst/>
                <a:latin typeface="Helvetica Neue" panose="02000503000000020004" pitchFamily="2" charset="0"/>
              </a:rPr>
              <a:t>moral framework designed to prevent harm and mitigate risks by ensuring that AI is developed in a way that is responsible, safe and prioritizes fairness, transparency, and human well-being.</a:t>
            </a:r>
          </a:p>
          <a:p>
            <a:endParaRPr lang="en-GB"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DFF6181-E915-82A7-26D8-72841C22EA0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463723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30FEA-0ECC-02A2-6C02-EF149434AE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1CCFE-BA87-B0C9-7E4E-666C2B0E188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0C5DD26-F995-2B0B-FAD5-D27A8A401328}"/>
              </a:ext>
            </a:extLst>
          </p:cNvPr>
          <p:cNvSpPr>
            <a:spLocks noGrp="1"/>
          </p:cNvSpPr>
          <p:nvPr>
            <p:ph type="body" idx="1"/>
          </p:nvPr>
        </p:nvSpPr>
        <p:spPr/>
        <p:txBody>
          <a:bodyPr/>
          <a:lstStyle/>
          <a:p>
            <a:r>
              <a:rPr lang="en-GB" dirty="0">
                <a:effectLst/>
                <a:latin typeface="Helvetica Neue" panose="02000503000000020004" pitchFamily="2" charset="0"/>
              </a:rPr>
              <a:t>Now, you might be wondering, “Why should we care?” A more specific answer can vary depending on the context. For instance, in a healthcare or medical setting, when considering the development of a medical device, whether we are the patient using the device, the healthcare professional recommending it, or the company creating it, we would always want to ensure its safety and reliability. </a:t>
            </a:r>
          </a:p>
          <a:p>
            <a:endParaRPr lang="en-GB" dirty="0">
              <a:effectLst/>
              <a:latin typeface="Helvetica Neue" panose="02000503000000020004" pitchFamily="2" charset="0"/>
            </a:endParaRPr>
          </a:p>
          <a:p>
            <a:r>
              <a:rPr lang="en-GB" dirty="0">
                <a:effectLst/>
                <a:latin typeface="Helvetica Neue" panose="02000503000000020004" pitchFamily="2" charset="0"/>
              </a:rPr>
              <a:t>However, more broadly, I’m reminded of the scene from </a:t>
            </a:r>
            <a:r>
              <a:rPr lang="en-GB" i="1" dirty="0">
                <a:effectLst/>
                <a:latin typeface="Helvetica Neue" panose="02000503000000020004" pitchFamily="2" charset="0"/>
              </a:rPr>
              <a:t>The Lord of the Rings: The Two Towers </a:t>
            </a:r>
            <a:r>
              <a:rPr lang="en-GB" dirty="0">
                <a:effectLst/>
                <a:latin typeface="Helvetica Neue" panose="02000503000000020004" pitchFamily="2" charset="0"/>
              </a:rPr>
              <a:t>in which Meriadoc Brandybuck challenges the reluctance of Treebeard and the other Ents to get involved in the war. </a:t>
            </a:r>
          </a:p>
          <a:p>
            <a:endParaRPr lang="en-GB" dirty="0">
              <a:effectLst/>
              <a:latin typeface="Helvetica Neue" panose="02000503000000020004" pitchFamily="2" charset="0"/>
            </a:endParaRPr>
          </a:p>
          <a:p>
            <a:r>
              <a:rPr lang="en-GB" dirty="0">
                <a:effectLst/>
                <a:latin typeface="Helvetica Neue" panose="02000503000000020004" pitchFamily="2" charset="0"/>
              </a:rPr>
              <a:t>The point is, just because we might not think an issue will directly affect us, or that our individual contribution won’t make a difference, it should not absolve us of the responsibility to learn and apply ethical principles in our own actions and field of work. </a:t>
            </a:r>
          </a:p>
          <a:p>
            <a:endParaRPr lang="en-GB"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E551EF5-E88F-50FA-E256-67609E2CABF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06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F2819-CBB6-A277-49A0-8441419BC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5B782-C352-E0AA-D294-6D1A9ABC879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38F37FE-EC29-1B85-A82F-0B2877F01C06}"/>
              </a:ext>
            </a:extLst>
          </p:cNvPr>
          <p:cNvSpPr>
            <a:spLocks noGrp="1"/>
          </p:cNvSpPr>
          <p:nvPr>
            <p:ph type="body" idx="1"/>
          </p:nvPr>
        </p:nvSpPr>
        <p:spPr/>
        <p:txBody>
          <a:bodyPr/>
          <a:lstStyle/>
          <a:p>
            <a:r>
              <a:rPr lang="en-GB" sz="1200" dirty="0">
                <a:effectLst/>
                <a:latin typeface="Calibri" panose="020F0502020204030204" pitchFamily="34" charset="0"/>
                <a:ea typeface="Calibri" panose="020F0502020204030204" pitchFamily="34" charset="0"/>
                <a:cs typeface="Times New Roman" panose="02020603050405020304" pitchFamily="18" charset="0"/>
              </a:rPr>
              <a:t>The Belmont Report released by the National Commission for the Protection of Human Subjects in Biomedical and Behavioural Research in 1979, and this actually laid the groundwork for ethical research and practices, including AI, and establishing three key principles:</a:t>
            </a:r>
            <a:endParaRPr lang="en-GB" sz="1200" dirty="0">
              <a:effectLst/>
              <a:latin typeface="Calibri" panose="020F0502020204030204" pitchFamily="34" charset="0"/>
              <a:cs typeface="Times New Roman" panose="02020603050405020304" pitchFamily="18" charset="0"/>
            </a:endParaRPr>
          </a:p>
          <a:p>
            <a:endParaRPr lang="en-GB" dirty="0"/>
          </a:p>
          <a:p>
            <a:pPr marL="228600" indent="-228600">
              <a:buAutoNum type="arabicPeriod"/>
            </a:pPr>
            <a:r>
              <a:rPr lang="en-GB" dirty="0"/>
              <a:t>Respect for Persons</a:t>
            </a:r>
          </a:p>
          <a:p>
            <a:pPr marL="228600" indent="-228600">
              <a:buAutoNum type="arabicPeriod"/>
            </a:pPr>
            <a:r>
              <a:rPr lang="en-GB" dirty="0"/>
              <a:t>Beneficence</a:t>
            </a:r>
          </a:p>
          <a:p>
            <a:pPr marL="228600" indent="-228600">
              <a:buAutoNum type="arabicPeriod"/>
            </a:pPr>
            <a:r>
              <a:rPr lang="en-GB" dirty="0"/>
              <a:t>Justice</a:t>
            </a:r>
          </a:p>
          <a:p>
            <a:endParaRPr lang="en-GB"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D8E2B97B-3497-19E3-B49A-F6011074934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916327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13B95-50D2-90E9-A873-59F687777B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89CAF4-94DE-673A-834E-93D6F0D6121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AF6456C-E4C0-8B05-2453-089030B46BB9}"/>
              </a:ext>
            </a:extLst>
          </p:cNvPr>
          <p:cNvSpPr>
            <a:spLocks noGrp="1"/>
          </p:cNvSpPr>
          <p:nvPr>
            <p:ph type="body" idx="1"/>
          </p:nvPr>
        </p:nvSpPr>
        <p:spPr/>
        <p:txBody>
          <a:bodyPr/>
          <a:lstStyle/>
          <a:p>
            <a:r>
              <a:rPr lang="en-GB" dirty="0"/>
              <a:t>The principle of </a:t>
            </a:r>
            <a:r>
              <a:rPr lang="en-GB" sz="1200" dirty="0">
                <a:solidFill>
                  <a:srgbClr val="000000"/>
                </a:solidFill>
                <a:effectLst/>
                <a:latin typeface="Calibri" panose="020F0502020204030204" pitchFamily="34" charset="0"/>
                <a:ea typeface="Calibri" panose="020F0502020204030204" pitchFamily="34" charset="0"/>
              </a:rPr>
              <a:t>Respect for Persons is based on the ethical concept that individuals should be treated as autonomous agents and is comprised of two key components:</a:t>
            </a:r>
          </a:p>
          <a:p>
            <a:endParaRPr lang="en-GB" sz="1200" dirty="0">
              <a:solidFill>
                <a:srgbClr val="000000"/>
              </a:solidFill>
              <a:effectLst/>
              <a:latin typeface="Calibri" panose="020F0502020204030204" pitchFamily="34" charset="0"/>
            </a:endParaRPr>
          </a:p>
          <a:p>
            <a:r>
              <a:rPr lang="en-GB" sz="1200" dirty="0">
                <a:solidFill>
                  <a:srgbClr val="000000"/>
                </a:solidFill>
                <a:effectLst/>
                <a:latin typeface="Calibri" panose="020F0502020204030204" pitchFamily="34" charset="0"/>
              </a:rPr>
              <a:t>Informed Consent and Privacy.</a:t>
            </a:r>
          </a:p>
          <a:p>
            <a:endParaRPr lang="en-GB" sz="1200" dirty="0">
              <a:solidFill>
                <a:srgbClr val="000000"/>
              </a:solidFill>
              <a:effectLst/>
              <a:latin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0" dirty="0">
                <a:solidFill>
                  <a:srgbClr val="000000"/>
                </a:solidFill>
                <a:effectLst/>
                <a:latin typeface="Gill Sans MT" panose="020B0502020104020203" pitchFamily="34" charset="77"/>
                <a:ea typeface="Times New Roman" panose="02020603050405020304" pitchFamily="18" charset="0"/>
              </a:rPr>
              <a:t>The National Commission stated that "Respect for persons requires that subjects, to the degree that they are capable, be given the opportunity to choose what shall or shall not happen to them. This opportunity is provided when adequate standards for informed consent are satisfied".</a:t>
            </a:r>
            <a:r>
              <a:rPr lang="en-GB" sz="1800" dirty="0">
                <a:effectLst/>
                <a:latin typeface="Gill Sans MT" panose="020B0502020104020203" pitchFamily="34" charset="77"/>
              </a:rPr>
              <a:t> These standards include provide enough i</a:t>
            </a:r>
            <a:r>
              <a:rPr lang="en-GB" sz="1800" dirty="0">
                <a:latin typeface="Helvetica Neue" panose="02000503000000020004" pitchFamily="2" charset="0"/>
              </a:rPr>
              <a:t>nformation for the individual to understand what they are consenting to, ensuring that this information is provided in a way the individual can understand and ascertaining that they have understood, and ensuring that the individual does not consent under coercion, either from undue influence or bribed by inappropriate rewards.</a:t>
            </a:r>
          </a:p>
          <a:p>
            <a:endParaRPr lang="en-GB" sz="1200" dirty="0">
              <a:solidFill>
                <a:srgbClr val="000000"/>
              </a:solidFill>
              <a:effectLst/>
              <a:latin typeface="Calibri" panose="020F0502020204030204" pitchFamily="34" charset="0"/>
            </a:endParaRPr>
          </a:p>
          <a:p>
            <a:r>
              <a:rPr lang="en-GB" sz="1200" dirty="0">
                <a:solidFill>
                  <a:srgbClr val="000000"/>
                </a:solidFill>
                <a:effectLst/>
                <a:latin typeface="Calibri" panose="020F0502020204030204" pitchFamily="34" charset="0"/>
                <a:ea typeface="Calibri" panose="020F0502020204030204" pitchFamily="34" charset="0"/>
              </a:rPr>
              <a:t>As regards privacy, this principle involves respecting an individual's right to privacy, the right to control access to oneself and one’s own information, and protecting the confidentiality of private, identifiable information about individuals.</a:t>
            </a:r>
            <a:endParaRPr lang="en-GB" sz="1800" dirty="0">
              <a:effectLst/>
            </a:endParaRPr>
          </a:p>
          <a:p>
            <a:endParaRPr lang="en-GB" sz="1800" dirty="0">
              <a:solidFill>
                <a:srgbClr val="000000"/>
              </a:solidFill>
              <a:effectLst/>
              <a:latin typeface="Calibri" panose="020F0502020204030204" pitchFamily="34" charset="0"/>
              <a:ea typeface="Calibri" panose="020F0502020204030204" pitchFamily="34" charset="0"/>
            </a:endParaRPr>
          </a:p>
          <a:p>
            <a:r>
              <a:rPr lang="en-GB" sz="1200" dirty="0">
                <a:solidFill>
                  <a:srgbClr val="000000"/>
                </a:solidFill>
                <a:effectLst/>
                <a:latin typeface="Calibri" panose="020F0502020204030204" pitchFamily="34" charset="0"/>
                <a:ea typeface="Calibri" panose="020F0502020204030204" pitchFamily="34" charset="0"/>
              </a:rPr>
              <a:t>N.B. some individuals do not have full autonomy based on their condition (such as their age, health, cognitive ability) or their circumstances (such as poverty, lack of education or social status). Under the principle of Respect for Persons, individuals with diminished autonomy need additional protections. </a:t>
            </a:r>
            <a:r>
              <a:rPr lang="en-GB" dirty="0">
                <a:effectLst/>
              </a:rPr>
              <a:t> </a:t>
            </a:r>
            <a:endParaRPr lang="en-GB" dirty="0"/>
          </a:p>
          <a:p>
            <a:endParaRPr lang="en-GB"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E3444822-8980-9191-5A2C-3C419231C67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78049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47EA5-0599-B681-2DB4-D027D9BE63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9B20B7-84B3-4F90-8D9B-01A50564B85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33DEC73-CB50-E4FE-0411-343AB6D1B7BF}"/>
              </a:ext>
            </a:extLst>
          </p:cNvPr>
          <p:cNvSpPr>
            <a:spLocks noGrp="1"/>
          </p:cNvSpPr>
          <p:nvPr>
            <p:ph type="body" idx="1"/>
          </p:nvPr>
        </p:nvSpPr>
        <p:spPr/>
        <p:txBody>
          <a:bodyPr/>
          <a:lstStyle/>
          <a:p>
            <a:r>
              <a:rPr lang="en-GB" dirty="0"/>
              <a:t>The principle of </a:t>
            </a:r>
            <a:r>
              <a:rPr lang="en-GB" sz="1200" dirty="0">
                <a:solidFill>
                  <a:srgbClr val="000000"/>
                </a:solidFill>
                <a:effectLst/>
                <a:latin typeface="Calibri" panose="020F0502020204030204" pitchFamily="34" charset="0"/>
              </a:rPr>
              <a:t>B</a:t>
            </a:r>
            <a:r>
              <a:rPr lang="en-GB" sz="1200" dirty="0">
                <a:solidFill>
                  <a:srgbClr val="000000"/>
                </a:solidFill>
                <a:effectLst/>
                <a:latin typeface="Calibri" panose="020F0502020204030204" pitchFamily="34" charset="0"/>
                <a:ea typeface="Calibri" panose="020F0502020204030204" pitchFamily="34" charset="0"/>
              </a:rPr>
              <a:t>eneficence includes the obligation that researchers do no harm and try to maximize benefits and minimize harms and is comprised of two key components:</a:t>
            </a:r>
          </a:p>
          <a:p>
            <a:endParaRPr lang="en-GB" sz="1200" dirty="0">
              <a:solidFill>
                <a:srgbClr val="000000"/>
              </a:solidFill>
              <a:effectLst/>
              <a:latin typeface="Calibri" panose="020F0502020204030204" pitchFamily="34" charset="0"/>
            </a:endParaRPr>
          </a:p>
          <a:p>
            <a:r>
              <a:rPr lang="en-GB" sz="1200" dirty="0">
                <a:solidFill>
                  <a:srgbClr val="000000"/>
                </a:solidFill>
                <a:effectLst/>
                <a:latin typeface="Calibri" panose="020F0502020204030204" pitchFamily="34" charset="0"/>
              </a:rPr>
              <a:t>Systematic Assessment of Risks and Benefits and Minimization of Risk.</a:t>
            </a:r>
          </a:p>
          <a:p>
            <a:endParaRPr lang="en-GB" sz="1200" dirty="0">
              <a:solidFill>
                <a:srgbClr val="000000"/>
              </a:solidFill>
              <a:effectLst/>
              <a:latin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0" dirty="0">
                <a:solidFill>
                  <a:srgbClr val="000000"/>
                </a:solidFill>
                <a:effectLst/>
                <a:latin typeface="Gill Sans MT" panose="020B0502020104020203" pitchFamily="34" charset="77"/>
              </a:rPr>
              <a:t>First, this requires that the risks of research be determined to be justified by the anticipated benefits of the research.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0" dirty="0">
              <a:solidFill>
                <a:srgbClr val="000000"/>
              </a:solidFill>
              <a:effectLst/>
              <a:latin typeface="Gill Sans MT" panose="020B0502020104020203" pitchFamily="34" charset="77"/>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0" dirty="0">
                <a:solidFill>
                  <a:srgbClr val="000000"/>
                </a:solidFill>
                <a:effectLst/>
                <a:latin typeface="Gill Sans MT" panose="020B0502020104020203" pitchFamily="34" charset="77"/>
              </a:rPr>
              <a:t>Then, it should be determined that the risks of the research are the minimum required to achieve the research objective.</a:t>
            </a:r>
            <a:endParaRPr lang="en-GB" sz="1800" dirty="0">
              <a:effectLst/>
            </a:endParaRPr>
          </a:p>
          <a:p>
            <a:endParaRPr lang="en-GB"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B757490E-DBB8-57BB-F68E-CBEF80C2235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934872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5C8D81-E089-9AFE-5786-DE8D3E46BE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565E27-1895-DF30-0C88-998559CC302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83A2E64-572E-9C52-A5F1-0B4BCFEAC13C}"/>
              </a:ext>
            </a:extLst>
          </p:cNvPr>
          <p:cNvSpPr>
            <a:spLocks noGrp="1"/>
          </p:cNvSpPr>
          <p:nvPr>
            <p:ph type="body" idx="1"/>
          </p:nvPr>
        </p:nvSpPr>
        <p:spPr/>
        <p:txBody>
          <a:bodyPr/>
          <a:lstStyle/>
          <a:p>
            <a:r>
              <a:rPr lang="en-GB" dirty="0"/>
              <a:t>The principle of </a:t>
            </a:r>
            <a:r>
              <a:rPr lang="en-GB" sz="1000" dirty="0">
                <a:solidFill>
                  <a:srgbClr val="000000"/>
                </a:solidFill>
                <a:effectLst/>
                <a:latin typeface="Calibri" panose="020F0502020204030204" pitchFamily="34" charset="0"/>
              </a:rPr>
              <a:t>Justice</a:t>
            </a:r>
            <a:r>
              <a:rPr lang="en-GB" sz="1000" dirty="0">
                <a:solidFill>
                  <a:srgbClr val="000000"/>
                </a:solidFill>
                <a:effectLst/>
                <a:latin typeface="Calibri" panose="020F0502020204030204" pitchFamily="34" charset="0"/>
                <a:ea typeface="Calibri" panose="020F0502020204030204" pitchFamily="34" charset="0"/>
              </a:rPr>
              <a:t> requires that the selection of subjects is equitable, with subjects chosen not just on convenience of recruitment, but rather for reasons directly related to the problem being studied, with researchers able to scientifically justify inclusion or exclusion criteria.</a:t>
            </a:r>
          </a:p>
          <a:p>
            <a:endParaRPr lang="en-GB" sz="1000" dirty="0">
              <a:solidFill>
                <a:srgbClr val="000000"/>
              </a:solidFill>
              <a:effectLst/>
              <a:latin typeface="Calibri" panose="020F0502020204030204" pitchFamily="34" charset="0"/>
              <a:ea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000" dirty="0">
                <a:solidFill>
                  <a:srgbClr val="000000"/>
                </a:solidFill>
                <a:effectLst/>
                <a:latin typeface="Calibri" panose="020F0502020204030204" pitchFamily="34" charset="0"/>
                <a:ea typeface="Calibri" panose="020F0502020204030204" pitchFamily="34" charset="0"/>
              </a:rPr>
              <a:t>The Belmont report also asks </a:t>
            </a:r>
            <a:r>
              <a:rPr lang="en-GB" sz="1200" dirty="0">
                <a:solidFill>
                  <a:srgbClr val="000000"/>
                </a:solidFill>
                <a:effectLst/>
                <a:latin typeface="Calibri" panose="020F0502020204030204" pitchFamily="34" charset="0"/>
                <a:ea typeface="Calibri" panose="020F0502020204030204" pitchFamily="34" charset="0"/>
              </a:rPr>
              <a:t>"Who ought to receive the benefits of research and bear its burdens? …An injustice occurs when some benefit to which a person is entitled is denied without good reason or when some burden is imposed unduly" (The National Commission 1979).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In the past, much research was conducted with subject populations because of convenience (such as prisoners or institutionalized children) and these vulnerable subjects bore the burdens of the research, but not the benefits. The principle of justice requires a fair sharing of the burdens and benefits of research and that groups are not exploited because of their circumstances.</a:t>
            </a:r>
            <a:endParaRPr lang="en-GB" sz="12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GB"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D6B14FB-E6DB-5485-07C5-C41C06674D8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644308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9317B-FA61-9A42-E3B0-2885C7EBF4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1015B3-A714-1D91-A227-C4573A367A6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B29E3D9-3F74-78CF-41B4-39534CB0939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u="none" strike="noStrike" dirty="0">
                <a:solidFill>
                  <a:srgbClr val="1F1F1F"/>
                </a:solidFill>
                <a:effectLst/>
                <a:latin typeface="Google Sans"/>
              </a:rPr>
              <a:t>So, these ethical principles provide the core guidelines that inform moral decision-making and behaviour. They represent overarching, abstract concepts directing individuals and groups towards ethical conduct. </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Now, how we implement these broader principles in more concrete ways is determined by ethical values, which are specific ideas, ideals, and standards that help shape decision-making and actions in a particular context.</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Now, I think this would be a good moment to make this a little bit more interactive, so would anyone like to suggest an idea of what an ethical value might be?</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In the context of AI, these values include but are not limited to: Accessibility, Accountability, Ease of Use, Explainability, Fairness, Lawfulness, Privacy, Reliability, Safety, Security, Sustainability, and Transparency.</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These 12 values can be categorized into 3 broad focus areas: Legal Concerns, Protection, and Usability and Long-term Impact.</a:t>
            </a:r>
          </a:p>
          <a:p>
            <a:endParaRPr lang="en-GB" b="0" i="0" u="none" strike="noStrike" dirty="0">
              <a:solidFill>
                <a:srgbClr val="1F1F1F"/>
              </a:solidFill>
              <a:effectLst/>
              <a:latin typeface="Google Sans"/>
            </a:endParaRPr>
          </a:p>
        </p:txBody>
      </p:sp>
      <p:sp>
        <p:nvSpPr>
          <p:cNvPr id="4" name="Slide Number Placeholder 3">
            <a:extLst>
              <a:ext uri="{FF2B5EF4-FFF2-40B4-BE49-F238E27FC236}">
                <a16:creationId xmlns:a16="http://schemas.microsoft.com/office/drawing/2014/main" id="{1494367C-A944-4F6C-A1F8-6CF0C109D3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4467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54A6E-4792-20E8-800E-792CD8C303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7077CF-1F11-0674-E9B1-C3879D15CFD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E40F50-7E09-62AF-C10F-7DBC9B5267F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u="none" strike="noStrike" dirty="0">
                <a:solidFill>
                  <a:srgbClr val="1F1F1F"/>
                </a:solidFill>
                <a:effectLst/>
                <a:latin typeface="Google Sans"/>
              </a:rPr>
              <a:t>So, these ethical principles provide the core guidelines that inform moral decision-making and behaviour. They represent overarching, abstract concepts directing individuals and groups towards ethical conduct. </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Now, how we implement these broader principles in more concrete ways is determined by ethical values, which are specific ideas, ideals, and standards that help shape decision-making and actions in a particular context.</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Now, I think this would be a good moment to make this a little bit more interactive, so would anyone like to suggest an idea of what an ethical value might be?</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In the context of AI, these values include but are not limited to: Accessibility, Accountability, Ease of Use, Explainability, Fairness, Lawfulness, Privacy, Reliability, Safety, Security, Sustainability, and Transparency.</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These 12 values can be categorized into 3 broad focus areas: Legal Concerns, Protection, and Usability and Long-term Impact.</a:t>
            </a:r>
          </a:p>
          <a:p>
            <a:endParaRPr lang="en-GB" b="0" i="0" u="none" strike="noStrike" dirty="0">
              <a:solidFill>
                <a:srgbClr val="1F1F1F"/>
              </a:solidFill>
              <a:effectLst/>
              <a:latin typeface="Google Sans"/>
            </a:endParaRPr>
          </a:p>
        </p:txBody>
      </p:sp>
      <p:sp>
        <p:nvSpPr>
          <p:cNvPr id="4" name="Slide Number Placeholder 3">
            <a:extLst>
              <a:ext uri="{FF2B5EF4-FFF2-40B4-BE49-F238E27FC236}">
                <a16:creationId xmlns:a16="http://schemas.microsoft.com/office/drawing/2014/main" id="{008A93E1-6B55-848E-43C4-48F01A0B84F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85463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AF897-BD53-CB94-30FC-1D87726DF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45A9C0-F23D-CE47-F2EA-A330910F39C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DAE4523-65EA-28F5-0AA6-7392C09FF11C}"/>
              </a:ext>
            </a:extLst>
          </p:cNvPr>
          <p:cNvSpPr>
            <a:spLocks noGrp="1"/>
          </p:cNvSpPr>
          <p:nvPr>
            <p:ph type="body" idx="1"/>
          </p:nvPr>
        </p:nvSpPr>
        <p:spPr/>
        <p:txBody>
          <a:bodyPr/>
          <a:lstStyle/>
          <a:p>
            <a:pPr marL="342900" indent="-342900">
              <a:buFont typeface="+mj-lt"/>
              <a:buAutoNum type="arabicPeriod"/>
            </a:pPr>
            <a:r>
              <a:rPr lang="en-GB" dirty="0">
                <a:latin typeface="Gill Sans MT" panose="020B0502020104020203" pitchFamily="34" charset="77"/>
              </a:rPr>
              <a:t>Fairness – the capacity of an AI system to make decisions that are impartial, equitable and free from bias </a:t>
            </a:r>
            <a:r>
              <a:rPr lang="en-GB" dirty="0">
                <a:highlight>
                  <a:srgbClr val="FFFF00"/>
                </a:highlight>
                <a:latin typeface="Gill Sans MT" panose="020B0502020104020203" pitchFamily="34" charset="77"/>
              </a:rPr>
              <a:t>to prevent disadvantaging individuals or groups unfairly</a:t>
            </a:r>
            <a:r>
              <a:rPr lang="en-GB" dirty="0">
                <a:latin typeface="Gill Sans MT" panose="020B0502020104020203" pitchFamily="34" charset="77"/>
              </a:rPr>
              <a:t>.  </a:t>
            </a:r>
          </a:p>
          <a:p>
            <a:pPr marL="342900" indent="-342900">
              <a:buFont typeface="+mj-lt"/>
              <a:buAutoNum type="arabicPeriod"/>
            </a:pPr>
            <a:endParaRPr lang="en-GB" dirty="0">
              <a:effectLst/>
              <a:latin typeface="Gill Sans MT" panose="020B0502020104020203" pitchFamily="34" charset="77"/>
            </a:endParaRPr>
          </a:p>
          <a:p>
            <a:pPr marL="342900" indent="-342900">
              <a:buAutoNum type="arabicPeriod"/>
            </a:pPr>
            <a:r>
              <a:rPr lang="en-GB" dirty="0">
                <a:solidFill>
                  <a:srgbClr val="000000"/>
                </a:solidFill>
                <a:latin typeface="Calibri" panose="020F0502020204030204" pitchFamily="34" charset="0"/>
              </a:rPr>
              <a:t>Transparency – the obligation to provide clear, accessible information about how an AI system operates</a:t>
            </a:r>
            <a:r>
              <a:rPr lang="en-GB" dirty="0">
                <a:solidFill>
                  <a:srgbClr val="000000"/>
                </a:solidFill>
                <a:highlight>
                  <a:srgbClr val="FFFF00"/>
                </a:highlight>
                <a:latin typeface="Calibri" panose="020F0502020204030204" pitchFamily="34" charset="0"/>
              </a:rPr>
              <a:t>, including the data it uses</a:t>
            </a:r>
            <a:r>
              <a:rPr lang="en-GB" dirty="0">
                <a:solidFill>
                  <a:srgbClr val="000000"/>
                </a:solidFill>
                <a:latin typeface="Calibri" panose="020F0502020204030204" pitchFamily="34" charset="0"/>
              </a:rPr>
              <a:t>.</a:t>
            </a:r>
          </a:p>
          <a:p>
            <a:pPr marL="342900" indent="-342900">
              <a:buAutoNum type="arabicPeriod"/>
            </a:pPr>
            <a:endParaRPr lang="en-GB" dirty="0">
              <a:solidFill>
                <a:srgbClr val="000000"/>
              </a:solidFill>
              <a:effectLst/>
              <a:latin typeface="Calibri" panose="020F0502020204030204" pitchFamily="34" charset="0"/>
            </a:endParaRPr>
          </a:p>
          <a:p>
            <a:pPr marL="342900" indent="-342900">
              <a:buAutoNum type="arabicPeriod"/>
            </a:pPr>
            <a:r>
              <a:rPr lang="en-GB" dirty="0">
                <a:solidFill>
                  <a:srgbClr val="000000"/>
                </a:solidFill>
                <a:latin typeface="Calibri" panose="020F0502020204030204" pitchFamily="34" charset="0"/>
              </a:rPr>
              <a:t>Accountability – the obligation to hold all relevant parties responsible for the actions and outcomes of an AI system, ensuring a clear line of responsibility.</a:t>
            </a:r>
          </a:p>
          <a:p>
            <a:pPr marL="342900" indent="-342900">
              <a:buAutoNum type="arabicPeriod"/>
            </a:pPr>
            <a:endParaRPr lang="en-GB" dirty="0">
              <a:solidFill>
                <a:srgbClr val="000000"/>
              </a:solidFill>
              <a:effectLst/>
              <a:latin typeface="Calibri" panose="020F0502020204030204" pitchFamily="34" charset="0"/>
            </a:endParaRPr>
          </a:p>
          <a:p>
            <a:pPr marL="342900" indent="-342900">
              <a:buAutoNum type="arabicPeriod"/>
            </a:pPr>
            <a:r>
              <a:rPr lang="en-GB" dirty="0">
                <a:solidFill>
                  <a:srgbClr val="000000"/>
                </a:solidFill>
                <a:latin typeface="Calibri" panose="020F0502020204030204" pitchFamily="34" charset="0"/>
              </a:rPr>
              <a:t>Lawfulness – the requirement for an AI system to be developed and deployed in compliance with legal regulations and relevant standards, ensuring that thy operate within established boundaries.</a:t>
            </a:r>
            <a:endParaRPr lang="en-GB" dirty="0">
              <a:effectLst/>
              <a:latin typeface="Gill Sans MT" panose="020B0502020104020203" pitchFamily="34" charset="77"/>
            </a:endParaRPr>
          </a:p>
          <a:p>
            <a:endParaRPr lang="en-GB" b="0" i="0" u="none" strike="noStrike" dirty="0">
              <a:solidFill>
                <a:srgbClr val="1F1F1F"/>
              </a:solidFill>
              <a:effectLst/>
              <a:latin typeface="Google Sans"/>
            </a:endParaRPr>
          </a:p>
        </p:txBody>
      </p:sp>
      <p:sp>
        <p:nvSpPr>
          <p:cNvPr id="4" name="Slide Number Placeholder 3">
            <a:extLst>
              <a:ext uri="{FF2B5EF4-FFF2-40B4-BE49-F238E27FC236}">
                <a16:creationId xmlns:a16="http://schemas.microsoft.com/office/drawing/2014/main" id="{DE1FE730-B079-D20F-7AB1-73BC99988D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2865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07C57-40A3-2FEC-A41C-B0C1E0621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8A3597-A71F-EB88-6581-F8DB326AE2A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554AB49-431B-C5A3-22B6-4DAEBF5179B3}"/>
              </a:ext>
            </a:extLst>
          </p:cNvPr>
          <p:cNvSpPr>
            <a:spLocks noGrp="1"/>
          </p:cNvSpPr>
          <p:nvPr>
            <p:ph type="body" idx="1"/>
          </p:nvPr>
        </p:nvSpPr>
        <p:spPr/>
        <p:txBody>
          <a:bodyPr/>
          <a:lstStyle/>
          <a:p>
            <a:pPr marL="342900" indent="-342900">
              <a:buFont typeface="+mj-lt"/>
              <a:buAutoNum type="arabicPeriod"/>
            </a:pPr>
            <a:r>
              <a:rPr lang="en-GB" dirty="0">
                <a:latin typeface="Gill Sans MT" panose="020B0502020104020203" pitchFamily="34" charset="77"/>
              </a:rPr>
              <a:t>Non-maleficence/Safety – the requirement for an AI system to be designed and implemented in such a way as to prevent harm, prioritizing user safety.</a:t>
            </a:r>
            <a:endParaRPr lang="en-GB" dirty="0">
              <a:effectLst/>
              <a:latin typeface="Gill Sans MT" panose="020B0502020104020203" pitchFamily="34" charset="77"/>
            </a:endParaRPr>
          </a:p>
          <a:p>
            <a:pPr marL="342900" indent="-342900">
              <a:buFont typeface="+mj-lt"/>
              <a:buAutoNum type="arabicPeriod"/>
            </a:pPr>
            <a:endParaRPr lang="en-GB" dirty="0">
              <a:effectLst/>
              <a:latin typeface="Gill Sans MT" panose="020B0502020104020203" pitchFamily="34" charset="77"/>
            </a:endParaRPr>
          </a:p>
          <a:p>
            <a:pPr marL="342900" indent="-342900">
              <a:buAutoNum type="arabicPeriod"/>
            </a:pPr>
            <a:r>
              <a:rPr lang="en-GB" dirty="0">
                <a:solidFill>
                  <a:srgbClr val="000000"/>
                </a:solidFill>
                <a:latin typeface="Calibri" panose="020F0502020204030204" pitchFamily="34" charset="0"/>
              </a:rPr>
              <a:t>Reliability – the capacity of an AI system to perform consistently as intended, including under varying conditions, maintaining this functionality over time.</a:t>
            </a:r>
          </a:p>
          <a:p>
            <a:pPr marL="342900" indent="-342900">
              <a:buAutoNum type="arabicPeriod"/>
            </a:pPr>
            <a:endParaRPr lang="en-GB" dirty="0">
              <a:solidFill>
                <a:srgbClr val="000000"/>
              </a:solidFill>
              <a:effectLst/>
              <a:latin typeface="Calibri" panose="020F0502020204030204" pitchFamily="34" charset="0"/>
            </a:endParaRPr>
          </a:p>
          <a:p>
            <a:pPr marL="342900" indent="-342900">
              <a:buAutoNum type="arabicPeriod"/>
            </a:pPr>
            <a:r>
              <a:rPr lang="en-GB" dirty="0">
                <a:solidFill>
                  <a:srgbClr val="000000"/>
                </a:solidFill>
                <a:latin typeface="Calibri" panose="020F0502020204030204" pitchFamily="34" charset="0"/>
              </a:rPr>
              <a:t>Privacy – the obligation to uphold the rights of individuals to control their own data, ensuring that an AI system respects confidentiality, protects anonymity, and avoids infringing on intimacy.</a:t>
            </a:r>
          </a:p>
          <a:p>
            <a:pPr marL="342900" indent="-342900">
              <a:buAutoNum type="arabicPeriod"/>
            </a:pPr>
            <a:endParaRPr lang="en-GB" dirty="0">
              <a:solidFill>
                <a:srgbClr val="000000"/>
              </a:solidFill>
              <a:effectLst/>
              <a:latin typeface="Calibri" panose="020F0502020204030204" pitchFamily="34" charset="0"/>
            </a:endParaRPr>
          </a:p>
          <a:p>
            <a:pPr marL="342900" indent="-342900">
              <a:buAutoNum type="arabicPeriod"/>
            </a:pPr>
            <a:r>
              <a:rPr lang="en-GB" dirty="0">
                <a:solidFill>
                  <a:srgbClr val="000000"/>
                </a:solidFill>
                <a:latin typeface="Calibri" panose="020F0502020204030204" pitchFamily="34" charset="0"/>
              </a:rPr>
              <a:t>Security – the requirement to safeguard of an AI system, the data and users from unauthorized access and malicious attacks.</a:t>
            </a:r>
            <a:endParaRPr lang="en-GB" dirty="0">
              <a:effectLst/>
              <a:latin typeface="Gill Sans MT" panose="020B0502020104020203" pitchFamily="34" charset="77"/>
            </a:endParaRPr>
          </a:p>
          <a:p>
            <a:endParaRPr lang="en-GB" b="0" i="0" u="none" strike="noStrike" dirty="0">
              <a:solidFill>
                <a:srgbClr val="1F1F1F"/>
              </a:solidFill>
              <a:effectLst/>
              <a:latin typeface="Google Sans"/>
            </a:endParaRPr>
          </a:p>
        </p:txBody>
      </p:sp>
      <p:sp>
        <p:nvSpPr>
          <p:cNvPr id="4" name="Slide Number Placeholder 3">
            <a:extLst>
              <a:ext uri="{FF2B5EF4-FFF2-40B4-BE49-F238E27FC236}">
                <a16:creationId xmlns:a16="http://schemas.microsoft.com/office/drawing/2014/main" id="{0A2D36D0-6577-CAE6-C295-90F6960BDEE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547106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F9845-BEA7-9E3E-99B3-A39A4A7D15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13A103-B738-1904-D529-80CDB2C7439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FA2B655-F61F-117B-A19C-5678C46219AD}"/>
              </a:ext>
            </a:extLst>
          </p:cNvPr>
          <p:cNvSpPr>
            <a:spLocks noGrp="1"/>
          </p:cNvSpPr>
          <p:nvPr>
            <p:ph type="body" idx="1"/>
          </p:nvPr>
        </p:nvSpPr>
        <p:spPr/>
        <p:txBody>
          <a:bodyPr/>
          <a:lstStyle/>
          <a:p>
            <a:pPr marL="342900" indent="-342900">
              <a:buFont typeface="+mj-lt"/>
              <a:buAutoNum type="arabicPeriod"/>
            </a:pPr>
            <a:r>
              <a:rPr lang="en-GB" dirty="0">
                <a:effectLst/>
                <a:latin typeface="Gill Sans MT" panose="020B0502020104020203" pitchFamily="34" charset="77"/>
              </a:rPr>
              <a:t>Ease of Use – the requirement to design an AI system that is intuitive and easy to interact with </a:t>
            </a:r>
            <a:r>
              <a:rPr lang="en-GB" dirty="0">
                <a:effectLst/>
                <a:highlight>
                  <a:srgbClr val="FFFF00"/>
                </a:highlight>
                <a:latin typeface="Gill Sans MT" panose="020B0502020104020203" pitchFamily="34" charset="77"/>
              </a:rPr>
              <a:t>ensuring users can effectively engage with it.</a:t>
            </a:r>
          </a:p>
          <a:p>
            <a:pPr marL="342900" indent="-342900">
              <a:buFont typeface="+mj-lt"/>
              <a:buAutoNum type="arabicPeriod"/>
            </a:pPr>
            <a:endParaRPr lang="en-GB" dirty="0">
              <a:effectLst/>
              <a:latin typeface="Gill Sans MT" panose="020B0502020104020203" pitchFamily="34" charset="77"/>
            </a:endParaRPr>
          </a:p>
          <a:p>
            <a:pPr marL="342900" indent="-342900">
              <a:buAutoNum type="arabicPeriod"/>
            </a:pPr>
            <a:r>
              <a:rPr lang="en-GB" dirty="0">
                <a:solidFill>
                  <a:srgbClr val="000000"/>
                </a:solidFill>
                <a:highlight>
                  <a:srgbClr val="FFFF00"/>
                </a:highlight>
                <a:latin typeface="Calibri" panose="020F0502020204030204" pitchFamily="34" charset="0"/>
              </a:rPr>
              <a:t>Accessibility – the obligation to ensure that an AI system to be used by people with diverse abilities and is available to people from diverse backgrounds.</a:t>
            </a:r>
          </a:p>
          <a:p>
            <a:pPr marL="342900" indent="-342900">
              <a:buAutoNum type="arabicPeriod"/>
            </a:pPr>
            <a:endParaRPr lang="en-GB" dirty="0">
              <a:solidFill>
                <a:srgbClr val="000000"/>
              </a:solidFill>
              <a:effectLst/>
              <a:latin typeface="Calibri" panose="020F0502020204030204" pitchFamily="34" charset="0"/>
            </a:endParaRPr>
          </a:p>
          <a:p>
            <a:pPr marL="342900" indent="-342900">
              <a:buAutoNum type="arabicPeriod"/>
            </a:pPr>
            <a:r>
              <a:rPr lang="en-GB" dirty="0">
                <a:solidFill>
                  <a:srgbClr val="000000"/>
                </a:solidFill>
                <a:latin typeface="Calibri" panose="020F0502020204030204" pitchFamily="34" charset="0"/>
              </a:rPr>
              <a:t>Explainability – </a:t>
            </a:r>
            <a:r>
              <a:rPr lang="en-GB" dirty="0">
                <a:solidFill>
                  <a:srgbClr val="000000"/>
                </a:solidFill>
                <a:highlight>
                  <a:srgbClr val="FFFF00"/>
                </a:highlight>
                <a:latin typeface="Calibri" panose="020F0502020204030204" pitchFamily="34" charset="0"/>
              </a:rPr>
              <a:t>the obligation to provide clarification on the rationale behind the the decision-making process of an AI system and ensure that this explanation can be understood by all stakeholders.</a:t>
            </a:r>
            <a:endParaRPr lang="en-GB" dirty="0">
              <a:solidFill>
                <a:srgbClr val="000000"/>
              </a:solidFill>
              <a:latin typeface="Calibri" panose="020F0502020204030204" pitchFamily="34" charset="0"/>
            </a:endParaRPr>
          </a:p>
          <a:p>
            <a:pPr marL="342900" indent="-342900">
              <a:buAutoNum type="arabicPeriod"/>
            </a:pPr>
            <a:endParaRPr lang="en-GB" dirty="0">
              <a:solidFill>
                <a:srgbClr val="000000"/>
              </a:solidFill>
              <a:effectLst/>
              <a:latin typeface="Calibri" panose="020F0502020204030204" pitchFamily="34" charset="0"/>
            </a:endParaRPr>
          </a:p>
          <a:p>
            <a:pPr marL="342900" indent="-342900">
              <a:buAutoNum type="arabicPeriod"/>
            </a:pPr>
            <a:r>
              <a:rPr lang="en-GB" dirty="0">
                <a:solidFill>
                  <a:srgbClr val="000000"/>
                </a:solidFill>
                <a:latin typeface="Calibri" panose="020F0502020204030204" pitchFamily="34" charset="0"/>
              </a:rPr>
              <a:t>Sustainability – the obligation to consider the long-term impact on the environment, society, and economy in the design of an AI system </a:t>
            </a:r>
            <a:r>
              <a:rPr lang="en-GB" dirty="0">
                <a:solidFill>
                  <a:srgbClr val="000000"/>
                </a:solidFill>
                <a:highlight>
                  <a:srgbClr val="FFFF00"/>
                </a:highlight>
                <a:latin typeface="Calibri" panose="020F0502020204030204" pitchFamily="34" charset="0"/>
              </a:rPr>
              <a:t>and strives to reduce the negative effects and promote positive contributions</a:t>
            </a:r>
            <a:r>
              <a:rPr lang="en-GB" dirty="0">
                <a:solidFill>
                  <a:srgbClr val="000000"/>
                </a:solidFill>
                <a:latin typeface="Calibri" panose="020F0502020204030204" pitchFamily="34" charset="0"/>
              </a:rPr>
              <a:t>.</a:t>
            </a:r>
            <a:endParaRPr lang="en-GB" dirty="0">
              <a:effectLst/>
              <a:latin typeface="Gill Sans MT" panose="020B0502020104020203" pitchFamily="34" charset="77"/>
            </a:endParaRPr>
          </a:p>
          <a:p>
            <a:endParaRPr lang="en-GB" b="0" i="0" u="none" strike="noStrike" dirty="0">
              <a:solidFill>
                <a:srgbClr val="1F1F1F"/>
              </a:solidFill>
              <a:effectLst/>
              <a:latin typeface="Google Sans"/>
            </a:endParaRPr>
          </a:p>
        </p:txBody>
      </p:sp>
      <p:sp>
        <p:nvSpPr>
          <p:cNvPr id="4" name="Slide Number Placeholder 3">
            <a:extLst>
              <a:ext uri="{FF2B5EF4-FFF2-40B4-BE49-F238E27FC236}">
                <a16:creationId xmlns:a16="http://schemas.microsoft.com/office/drawing/2014/main" id="{838FFA55-56B2-1171-0E30-B1834B6770A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657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01BA5-80CB-DADB-06DB-B03238D78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79F94F-5E1C-C102-1141-B038553A13F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8E4BCA3-AA6E-2AD0-09B5-05D12E74B8D5}"/>
              </a:ext>
            </a:extLst>
          </p:cNvPr>
          <p:cNvSpPr>
            <a:spLocks noGrp="1"/>
          </p:cNvSpPr>
          <p:nvPr>
            <p:ph type="body" idx="1"/>
          </p:nvPr>
        </p:nvSpPr>
        <p:spPr/>
        <p:txBody>
          <a:bodyPr/>
          <a:lstStyle/>
          <a:p>
            <a:r>
              <a:rPr lang="en-GB" b="0" i="0" u="none" strike="noStrike" dirty="0">
                <a:solidFill>
                  <a:srgbClr val="1F1F1F"/>
                </a:solidFill>
                <a:effectLst/>
                <a:latin typeface="Google Sans"/>
              </a:rPr>
              <a:t>Now, ethical practice is the application of these ethical values to organisational behaviour. They are concrete actions, behaviours and policies that involve adhering to specific codes of conduct and professional standards.</a:t>
            </a:r>
          </a:p>
          <a:p>
            <a:endParaRPr lang="en-GB" b="0" i="0" u="none" strike="noStrike" dirty="0">
              <a:solidFill>
                <a:srgbClr val="1F1F1F"/>
              </a:solidFill>
              <a:effectLst/>
              <a:latin typeface="Google Sans"/>
            </a:endParaRPr>
          </a:p>
          <a:p>
            <a:r>
              <a:rPr lang="en-GB" b="0" i="0" u="none" strike="noStrike" dirty="0">
                <a:solidFill>
                  <a:srgbClr val="1F1F1F"/>
                </a:solidFill>
                <a:effectLst/>
                <a:latin typeface="Google Sans"/>
              </a:rPr>
              <a:t>Now, I’d to open the floor to you all. In the context of developing an AI system, what demonstrations of ethical practice might you implement to align with these ethical values?</a:t>
            </a:r>
          </a:p>
          <a:p>
            <a:r>
              <a:rPr lang="en-GB" b="0" i="0" u="none" strike="noStrike" dirty="0">
                <a:solidFill>
                  <a:srgbClr val="1F1F1F"/>
                </a:solidFill>
                <a:effectLst/>
                <a:latin typeface="Google Sans"/>
              </a:rPr>
              <a:t> </a:t>
            </a:r>
          </a:p>
          <a:p>
            <a:r>
              <a:rPr lang="en-GB" b="0" i="0" u="none" strike="noStrike" dirty="0">
                <a:solidFill>
                  <a:srgbClr val="1F1F1F"/>
                </a:solidFill>
                <a:effectLst/>
                <a:latin typeface="Google Sans"/>
              </a:rPr>
              <a:t>…</a:t>
            </a:r>
          </a:p>
          <a:p>
            <a:endParaRPr lang="en-GB" b="0" i="0" u="none" strike="noStrike" dirty="0">
              <a:solidFill>
                <a:srgbClr val="1F1F1F"/>
              </a:solidFill>
              <a:effectLst/>
              <a:latin typeface="Google Sans"/>
            </a:endParaRPr>
          </a:p>
          <a:p>
            <a:r>
              <a:rPr lang="en-GB" dirty="0">
                <a:effectLst/>
                <a:latin typeface="Helvetica Neue" panose="02000503000000020004" pitchFamily="2" charset="0"/>
              </a:rPr>
              <a:t>Risk assessments ensure safety and reduce the potential for harm (aligning with non-maleficence/safety)</a:t>
            </a:r>
          </a:p>
          <a:p>
            <a:endParaRPr lang="en-GB" dirty="0">
              <a:effectLst/>
              <a:latin typeface="Helvetica Neue" panose="02000503000000020004" pitchFamily="2" charset="0"/>
            </a:endParaRPr>
          </a:p>
          <a:p>
            <a:r>
              <a:rPr lang="en-GB" dirty="0">
                <a:effectLst/>
                <a:latin typeface="Helvetica Neue" panose="02000503000000020004" pitchFamily="2" charset="0"/>
              </a:rPr>
              <a:t>Conducting regular audits to check for disparities in outcomes based on protected and sensitive characteristics (aligning with fairness)</a:t>
            </a:r>
          </a:p>
          <a:p>
            <a:endParaRPr lang="en-GB" dirty="0">
              <a:effectLst/>
              <a:latin typeface="Helvetica Neue" panose="02000503000000020004" pitchFamily="2" charset="0"/>
            </a:endParaRPr>
          </a:p>
          <a:p>
            <a:r>
              <a:rPr lang="en-GB" dirty="0">
                <a:latin typeface="Helvetica Neue" panose="02000503000000020004" pitchFamily="2" charset="0"/>
              </a:rPr>
              <a:t>Publication of comprehensible documentation explaining the processes of an AI system (aligning with transparency and explainability)</a:t>
            </a:r>
          </a:p>
          <a:p>
            <a:endParaRPr lang="en-GB" dirty="0">
              <a:latin typeface="Helvetica Neue" panose="02000503000000020004" pitchFamily="2" charset="0"/>
            </a:endParaRPr>
          </a:p>
          <a:p>
            <a:r>
              <a:rPr lang="en-GB" dirty="0">
                <a:latin typeface="Helvetica Neue" panose="02000503000000020004" pitchFamily="2" charset="0"/>
              </a:rPr>
              <a:t>Human oversight to verify AI decisions and good record-keeping practices (aligning with accountability)</a:t>
            </a:r>
          </a:p>
          <a:p>
            <a:endParaRPr lang="en-GB" dirty="0">
              <a:latin typeface="Helvetica Neue" panose="02000503000000020004" pitchFamily="2" charset="0"/>
            </a:endParaRPr>
          </a:p>
          <a:p>
            <a:r>
              <a:rPr lang="en-GB" dirty="0">
                <a:effectLst/>
                <a:latin typeface="Helvetica Neue" panose="02000503000000020004" pitchFamily="2" charset="0"/>
              </a:rPr>
              <a:t>Con</a:t>
            </a:r>
            <a:r>
              <a:rPr lang="en-GB" dirty="0">
                <a:latin typeface="Helvetica Neue" panose="02000503000000020004" pitchFamily="2" charset="0"/>
              </a:rPr>
              <a:t>ducting regular system quality checks (aligning with reliability)</a:t>
            </a:r>
          </a:p>
          <a:p>
            <a:endParaRPr lang="en-GB" dirty="0">
              <a:latin typeface="Helvetica Neue" panose="02000503000000020004" pitchFamily="2" charset="0"/>
            </a:endParaRPr>
          </a:p>
          <a:p>
            <a:r>
              <a:rPr lang="en-GB" dirty="0">
                <a:effectLst/>
                <a:latin typeface="Helvetica Neue" panose="02000503000000020004" pitchFamily="2" charset="0"/>
              </a:rPr>
              <a:t>Implement </a:t>
            </a:r>
            <a:r>
              <a:rPr lang="en-GB" dirty="0">
                <a:latin typeface="Helvetica Neue" panose="02000503000000020004" pitchFamily="2" charset="0"/>
              </a:rPr>
              <a:t>data encryption and anonymization methods when storing or transmitting data (aligning with privacy)</a:t>
            </a:r>
          </a:p>
          <a:p>
            <a:endParaRPr lang="en-GB" dirty="0">
              <a:latin typeface="Helvetica Neue" panose="02000503000000020004" pitchFamily="2" charset="0"/>
            </a:endParaRPr>
          </a:p>
          <a:p>
            <a:r>
              <a:rPr lang="en-GB" dirty="0">
                <a:effectLst/>
                <a:latin typeface="Helvetica Neue" panose="02000503000000020004" pitchFamily="2" charset="0"/>
              </a:rPr>
              <a:t>Implement robus</a:t>
            </a:r>
            <a:r>
              <a:rPr lang="en-GB" dirty="0">
                <a:latin typeface="Helvetica Neue" panose="02000503000000020004" pitchFamily="2" charset="0"/>
              </a:rPr>
              <a:t>t cybersecurity measures, such as multi-factor authentication and intrusion detection ensuring these are regularly updated (aligning with security) </a:t>
            </a:r>
          </a:p>
          <a:p>
            <a:endParaRPr lang="en-GB" dirty="0">
              <a:latin typeface="Helvetica Neue" panose="02000503000000020004" pitchFamily="2" charset="0"/>
            </a:endParaRPr>
          </a:p>
          <a:p>
            <a:r>
              <a:rPr lang="en-GB" dirty="0">
                <a:effectLst/>
                <a:latin typeface="Helvetica Neue" panose="02000503000000020004" pitchFamily="2" charset="0"/>
              </a:rPr>
              <a:t>Human-in</a:t>
            </a:r>
            <a:r>
              <a:rPr lang="en-GB" dirty="0">
                <a:latin typeface="Helvetica Neue" panose="02000503000000020004" pitchFamily="2" charset="0"/>
              </a:rPr>
              <a:t>-the-loop design practices to ensure usability (aligning with ease of use and accessibility)</a:t>
            </a:r>
          </a:p>
          <a:p>
            <a:endParaRPr lang="en-GB" dirty="0">
              <a:latin typeface="Helvetica Neue" panose="02000503000000020004" pitchFamily="2" charset="0"/>
            </a:endParaRPr>
          </a:p>
          <a:p>
            <a:r>
              <a:rPr lang="en-GB" dirty="0">
                <a:latin typeface="Helvetica Neue" panose="02000503000000020004" pitchFamily="2" charset="0"/>
              </a:rPr>
              <a:t>Adherence to regulatory body requirements (e.g. FDA or EMA), data protection laws (HIPAA or GDPR) and intellectual property laws (aligning with lawfulness)</a:t>
            </a:r>
          </a:p>
          <a:p>
            <a:endParaRPr lang="en-GB" dirty="0">
              <a:latin typeface="Helvetica Neue" panose="02000503000000020004" pitchFamily="2" charset="0"/>
            </a:endParaRPr>
          </a:p>
          <a:p>
            <a:r>
              <a:rPr lang="en-GB" dirty="0">
                <a:latin typeface="Helvetica Neue" panose="02000503000000020004" pitchFamily="2" charset="0"/>
              </a:rPr>
              <a:t>Expert-guided development of AI systems to optimize resource use and contribute long-term beneficial improvement (aligning with sustainability) </a:t>
            </a:r>
          </a:p>
          <a:p>
            <a:endParaRPr lang="en-GB" b="0" i="0" u="none" strike="noStrike" dirty="0">
              <a:solidFill>
                <a:srgbClr val="1F1F1F"/>
              </a:solidFill>
              <a:effectLst/>
              <a:latin typeface="Google Sans"/>
            </a:endParaRPr>
          </a:p>
        </p:txBody>
      </p:sp>
      <p:sp>
        <p:nvSpPr>
          <p:cNvPr id="4" name="Slide Number Placeholder 3">
            <a:extLst>
              <a:ext uri="{FF2B5EF4-FFF2-40B4-BE49-F238E27FC236}">
                <a16:creationId xmlns:a16="http://schemas.microsoft.com/office/drawing/2014/main" id="{08FB1BB7-8081-1E6E-E792-C646CB8636B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768052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C16D4-DF09-87B5-C013-9283AB73DC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CF0A59-0AF7-D135-6477-578B6928F72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A709495-26D0-D5DD-6F1D-CC20D5285503}"/>
              </a:ext>
            </a:extLst>
          </p:cNvPr>
          <p:cNvSpPr>
            <a:spLocks noGrp="1"/>
          </p:cNvSpPr>
          <p:nvPr>
            <p:ph type="body" idx="1"/>
          </p:nvPr>
        </p:nvSpPr>
        <p:spPr/>
        <p:txBody>
          <a:bodyPr/>
          <a:lstStyle/>
          <a:p>
            <a:r>
              <a:rPr lang="en-GB" dirty="0"/>
              <a:t>In addition to these ethical considerations, AI ethics also involves asking a critical question: “Does the AI System Provide Meaningful Improvement?”</a:t>
            </a:r>
          </a:p>
          <a:p>
            <a:endParaRPr lang="en-GB" dirty="0"/>
          </a:p>
          <a:p>
            <a:r>
              <a:rPr lang="en-GB" dirty="0"/>
              <a:t>Different stakeholders might focus on different aspects of the AI system when assessing its value:</a:t>
            </a:r>
          </a:p>
          <a:p>
            <a:endParaRPr lang="en-GB" dirty="0"/>
          </a:p>
          <a:p>
            <a:r>
              <a:rPr lang="en-GB" b="1" dirty="0">
                <a:latin typeface="Gill Sans MT" panose="020B0502020104020203" pitchFamily="34" charset="77"/>
              </a:rPr>
              <a:t>For Users</a:t>
            </a:r>
            <a:endParaRPr lang="en-GB" dirty="0">
              <a:latin typeface="Gill Sans MT" panose="020B0502020104020203" pitchFamily="34" charset="77"/>
            </a:endParaRPr>
          </a:p>
          <a:p>
            <a:endParaRPr lang="en-GB" dirty="0">
              <a:latin typeface="Gill Sans MT" panose="020B0502020104020203" pitchFamily="34" charset="77"/>
            </a:endParaRPr>
          </a:p>
          <a:p>
            <a:r>
              <a:rPr lang="en-GB" dirty="0">
                <a:latin typeface="Gill Sans MT" panose="020B0502020104020203" pitchFamily="34" charset="77"/>
              </a:rPr>
              <a:t>Does the AI system solve a core problem? - Does it enhance efficiency or productivity? How does it affect the overall user experience?</a:t>
            </a:r>
          </a:p>
          <a:p>
            <a:pPr marL="342900" indent="-342900">
              <a:buFont typeface="+mj-lt"/>
              <a:buAutoNum type="arabicPeriod"/>
            </a:pPr>
            <a:endParaRPr lang="en-GB" dirty="0">
              <a:effectLst/>
              <a:latin typeface="Gill Sans MT" panose="020B0502020104020203" pitchFamily="34" charset="77"/>
            </a:endParaRPr>
          </a:p>
          <a:p>
            <a:r>
              <a:rPr lang="en-GB" b="1" dirty="0">
                <a:latin typeface="Gill Sans MT" panose="020B0502020104020203" pitchFamily="34" charset="77"/>
              </a:rPr>
              <a:t>For Professionals</a:t>
            </a:r>
          </a:p>
          <a:p>
            <a:endParaRPr lang="en-GB" b="1" dirty="0">
              <a:latin typeface="Gill Sans MT" panose="020B0502020104020203" pitchFamily="34" charset="77"/>
            </a:endParaRPr>
          </a:p>
          <a:p>
            <a:r>
              <a:rPr lang="en-GB" dirty="0">
                <a:latin typeface="Gill Sans MT" panose="020B0502020104020203" pitchFamily="34" charset="77"/>
              </a:rPr>
              <a:t>How does the AI system compare to other solutions? - What evidence supports its effectiveness? How easily can it be integrated into existing workflows?</a:t>
            </a:r>
          </a:p>
          <a:p>
            <a:endParaRPr lang="en-GB" dirty="0">
              <a:effectLst/>
              <a:latin typeface="Gill Sans MT" panose="020B0502020104020203" pitchFamily="34" charset="77"/>
            </a:endParaRPr>
          </a:p>
          <a:p>
            <a:r>
              <a:rPr lang="en-GB" b="1" dirty="0">
                <a:latin typeface="Gill Sans MT" panose="020B0502020104020203" pitchFamily="34" charset="77"/>
              </a:rPr>
              <a:t>For Developers </a:t>
            </a:r>
          </a:p>
          <a:p>
            <a:endParaRPr lang="en-GB" dirty="0">
              <a:latin typeface="Gill Sans MT" panose="020B0502020104020203" pitchFamily="34" charset="77"/>
            </a:endParaRPr>
          </a:p>
          <a:p>
            <a:r>
              <a:rPr lang="en-GB" dirty="0">
                <a:latin typeface="Gill Sans MT" panose="020B0502020104020203" pitchFamily="34" charset="77"/>
              </a:rPr>
              <a:t>What differentiates this AI system from competitors? - What impact does it have on various stakeholders? </a:t>
            </a:r>
            <a:r>
              <a:rPr lang="en-GB" dirty="0">
                <a:effectLst/>
                <a:latin typeface="Gill Sans MT" panose="020B0502020104020203" pitchFamily="34" charset="77"/>
              </a:rPr>
              <a:t>How scalable and adaptable is the system?</a:t>
            </a:r>
          </a:p>
          <a:p>
            <a:endParaRPr lang="en-GB" b="0" i="0" u="none" strike="noStrike" dirty="0">
              <a:solidFill>
                <a:srgbClr val="1F1F1F"/>
              </a:solidFill>
              <a:effectLst/>
              <a:latin typeface="Google Sans"/>
            </a:endParaRPr>
          </a:p>
        </p:txBody>
      </p:sp>
      <p:sp>
        <p:nvSpPr>
          <p:cNvPr id="4" name="Slide Number Placeholder 3">
            <a:extLst>
              <a:ext uri="{FF2B5EF4-FFF2-40B4-BE49-F238E27FC236}">
                <a16:creationId xmlns:a16="http://schemas.microsoft.com/office/drawing/2014/main" id="{0810A02A-5FC9-3542-8895-C3AF8D71CD7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448616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B5E69-4369-02A2-F481-DEBE875E27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4FF5B-D017-40F2-6855-22B5A1D9A60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9BB8F9E-A0E9-0557-C702-08FD8CD23D92}"/>
              </a:ext>
            </a:extLst>
          </p:cNvPr>
          <p:cNvSpPr>
            <a:spLocks noGrp="1"/>
          </p:cNvSpPr>
          <p:nvPr>
            <p:ph type="body" idx="1"/>
          </p:nvPr>
        </p:nvSpPr>
        <p:spPr/>
        <p:txBody>
          <a:bodyPr/>
          <a:lstStyle/>
          <a:p>
            <a:r>
              <a:rPr lang="en-GB" b="0" i="0" u="none" strike="noStrike" dirty="0">
                <a:solidFill>
                  <a:srgbClr val="000000"/>
                </a:solidFill>
                <a:effectLst/>
                <a:latin typeface="-webkit-standard"/>
              </a:rPr>
              <a:t>To conclude this talk, I would like to leave you with a quote from Andrew Ng:</a:t>
            </a:r>
          </a:p>
          <a:p>
            <a:endParaRPr lang="en-GB" b="0" i="0" u="none" strike="noStrike" dirty="0">
              <a:solidFill>
                <a:srgbClr val="000000"/>
              </a:solidFill>
              <a:effectLst/>
              <a:latin typeface="-webkit-standard"/>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1" u="none" strike="noStrike" dirty="0">
                <a:solidFill>
                  <a:srgbClr val="000000"/>
                </a:solidFill>
                <a:effectLst/>
                <a:latin typeface="Gill Sans MT" panose="020B0502020104020203" pitchFamily="34" charset="77"/>
              </a:rPr>
              <a:t>“AI is the new electricity. It has the potential to transform every industry and create tremendous value, but it also has the potential to be dangerous if not handled responsibly.”</a:t>
            </a:r>
          </a:p>
          <a:p>
            <a:endParaRPr lang="en-GB" b="0" i="0" u="none" strike="noStrike" dirty="0">
              <a:solidFill>
                <a:srgbClr val="000000"/>
              </a:solidFill>
              <a:effectLst/>
              <a:latin typeface="-webkit-standard"/>
            </a:endParaRPr>
          </a:p>
          <a:p>
            <a:r>
              <a:rPr lang="en-GB" b="0" i="0" u="none" strike="noStrike" dirty="0">
                <a:solidFill>
                  <a:srgbClr val="000000"/>
                </a:solidFill>
                <a:effectLst/>
                <a:latin typeface="-webkit-standard"/>
              </a:rPr>
              <a:t>AI has the power to transform society, but there is also great risk if ethical considerations are not prioritized. </a:t>
            </a:r>
            <a:endParaRPr lang="en-GB" dirty="0"/>
          </a:p>
          <a:p>
            <a:endParaRPr lang="en-GB" b="0" i="0" u="none" strike="noStrike" dirty="0">
              <a:solidFill>
                <a:srgbClr val="1F1F1F"/>
              </a:solidFill>
              <a:effectLst/>
              <a:latin typeface="Google Sans"/>
            </a:endParaRPr>
          </a:p>
        </p:txBody>
      </p:sp>
      <p:sp>
        <p:nvSpPr>
          <p:cNvPr id="4" name="Slide Number Placeholder 3">
            <a:extLst>
              <a:ext uri="{FF2B5EF4-FFF2-40B4-BE49-F238E27FC236}">
                <a16:creationId xmlns:a16="http://schemas.microsoft.com/office/drawing/2014/main" id="{1D9A76F6-4430-5650-C822-E71975251F0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65079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EB08B-4C01-E0B9-53F8-A4DF2F1A9F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E4F3C1-5D1D-319B-6565-96C7199F602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DE0A9AA-CE24-6C5A-9E79-5AE8ABD4A926}"/>
              </a:ext>
            </a:extLst>
          </p:cNvPr>
          <p:cNvSpPr>
            <a:spLocks noGrp="1"/>
          </p:cNvSpPr>
          <p:nvPr>
            <p:ph type="body" idx="1"/>
          </p:nvPr>
        </p:nvSpPr>
        <p:spPr/>
        <p:txBody>
          <a:bodyPr/>
          <a:lstStyle/>
          <a:p>
            <a:endParaRPr lang="en-GB" b="0" i="0" u="none" strike="noStrike" dirty="0">
              <a:solidFill>
                <a:srgbClr val="1F1F1F"/>
              </a:solidFill>
              <a:effectLst/>
              <a:latin typeface="Google Sans"/>
            </a:endParaRPr>
          </a:p>
        </p:txBody>
      </p:sp>
      <p:sp>
        <p:nvSpPr>
          <p:cNvPr id="4" name="Slide Number Placeholder 3">
            <a:extLst>
              <a:ext uri="{FF2B5EF4-FFF2-40B4-BE49-F238E27FC236}">
                <a16:creationId xmlns:a16="http://schemas.microsoft.com/office/drawing/2014/main" id="{8FA91B33-B60B-61E4-1195-D05966F874B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174856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80302-1E29-FFFE-9F1E-1489723146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D5EECE-B95D-F99A-5782-D0B054C6902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5DAFA86-4904-176F-A96C-4C2B0B54D8CF}"/>
              </a:ext>
            </a:extLst>
          </p:cNvPr>
          <p:cNvSpPr>
            <a:spLocks noGrp="1"/>
          </p:cNvSpPr>
          <p:nvPr>
            <p:ph type="body" idx="1"/>
          </p:nvPr>
        </p:nvSpPr>
        <p:spPr/>
        <p:txBody>
          <a:bodyPr/>
          <a:lstStyle/>
          <a:p>
            <a:pPr marL="171450" indent="-171450">
              <a:buFontTx/>
              <a:buChar char="-"/>
            </a:pPr>
            <a:r>
              <a:rPr lang="en-US" dirty="0"/>
              <a:t>Thank you for your attention. If you have any questions, </a:t>
            </a:r>
          </a:p>
        </p:txBody>
      </p:sp>
      <p:sp>
        <p:nvSpPr>
          <p:cNvPr id="4" name="Slide Number Placeholder 3">
            <a:extLst>
              <a:ext uri="{FF2B5EF4-FFF2-40B4-BE49-F238E27FC236}">
                <a16:creationId xmlns:a16="http://schemas.microsoft.com/office/drawing/2014/main" id="{0719B0E3-B63A-7A06-C21F-484B2D34BD3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154274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2CE97-C796-25A3-6DAB-281FC7CC6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D8391E-1B04-E08F-06C3-64EB5528DB7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B75BCCC-A046-1236-3451-A45699ECDD7A}"/>
              </a:ext>
            </a:extLst>
          </p:cNvPr>
          <p:cNvSpPr>
            <a:spLocks noGrp="1"/>
          </p:cNvSpPr>
          <p:nvPr>
            <p:ph type="body" idx="1"/>
          </p:nvPr>
        </p:nvSpPr>
        <p:spPr/>
        <p:txBody>
          <a:bodyPr/>
          <a:lstStyle/>
          <a:p>
            <a:pPr marL="171450" indent="-171450">
              <a:buFontTx/>
              <a:buChar char="-"/>
            </a:pPr>
            <a:endParaRPr lang="en-US" dirty="0"/>
          </a:p>
        </p:txBody>
      </p:sp>
      <p:sp>
        <p:nvSpPr>
          <p:cNvPr id="4" name="Slide Number Placeholder 3">
            <a:extLst>
              <a:ext uri="{FF2B5EF4-FFF2-40B4-BE49-F238E27FC236}">
                <a16:creationId xmlns:a16="http://schemas.microsoft.com/office/drawing/2014/main" id="{54E06555-1CD8-7F48-AE5A-00314C0447F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96A0520-7B70-B24C-A09A-FE3CB9A33B9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73601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3105E576-D788-CEAD-DC55-18E091D73200}"/>
              </a:ext>
            </a:extLst>
          </p:cNvPr>
          <p:cNvSpPr>
            <a:spLocks noGrp="1"/>
          </p:cNvSpPr>
          <p:nvPr>
            <p:ph type="sldNum" sz="quarter" idx="4"/>
          </p:nvPr>
        </p:nvSpPr>
        <p:spPr>
          <a:xfrm>
            <a:off x="4718751" y="6454893"/>
            <a:ext cx="27432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pPr algn="ctr"/>
            <a:fld id="{C42724C2-2594-D243-93D9-F6E5CF9F2B94}" type="slidenum">
              <a:rPr lang="en-GB" smtClean="0"/>
              <a:pPr/>
              <a:t>‹#›</a:t>
            </a:fld>
            <a:endParaRPr lang="en-GB" dirty="0"/>
          </a:p>
        </p:txBody>
      </p:sp>
    </p:spTree>
    <p:extLst>
      <p:ext uri="{BB962C8B-B14F-4D97-AF65-F5344CB8AC3E}">
        <p14:creationId xmlns:p14="http://schemas.microsoft.com/office/powerpoint/2010/main" val="30698345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153AA572-9E3E-4B21-FF3E-6452A3AE9FCC}"/>
              </a:ext>
            </a:extLst>
          </p:cNvPr>
          <p:cNvSpPr>
            <a:spLocks noGrp="1"/>
          </p:cNvSpPr>
          <p:nvPr>
            <p:ph type="sldNum" sz="quarter" idx="4"/>
          </p:nvPr>
        </p:nvSpPr>
        <p:spPr>
          <a:xfrm>
            <a:off x="4718751" y="6454893"/>
            <a:ext cx="27432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pPr algn="ctr"/>
            <a:fld id="{C42724C2-2594-D243-93D9-F6E5CF9F2B94}" type="slidenum">
              <a:rPr lang="en-GB" smtClean="0"/>
              <a:pPr/>
              <a:t>‹#›</a:t>
            </a:fld>
            <a:endParaRPr lang="en-GB" dirty="0"/>
          </a:p>
        </p:txBody>
      </p:sp>
    </p:spTree>
    <p:extLst>
      <p:ext uri="{BB962C8B-B14F-4D97-AF65-F5344CB8AC3E}">
        <p14:creationId xmlns:p14="http://schemas.microsoft.com/office/powerpoint/2010/main" val="4230618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22F3-ACBD-F074-233E-87F8FBC1F1C6}"/>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CA391DC2-47A9-A183-4AD0-335B7213DF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913AC800-FA2C-3C92-11D0-D221F47FABE8}"/>
              </a:ext>
            </a:extLst>
          </p:cNvPr>
          <p:cNvSpPr>
            <a:spLocks noGrp="1"/>
          </p:cNvSpPr>
          <p:nvPr>
            <p:ph type="dt" sz="half" idx="10"/>
          </p:nvPr>
        </p:nvSpPr>
        <p:spPr/>
        <p:txBody>
          <a:bodyPr/>
          <a:lstStyle/>
          <a:p>
            <a:endParaRPr lang="en-GB"/>
          </a:p>
        </p:txBody>
      </p:sp>
      <p:sp>
        <p:nvSpPr>
          <p:cNvPr id="5" name="Footer Placeholder 4">
            <a:extLst>
              <a:ext uri="{FF2B5EF4-FFF2-40B4-BE49-F238E27FC236}">
                <a16:creationId xmlns:a16="http://schemas.microsoft.com/office/drawing/2014/main" id="{6EB5743D-72A3-3175-2929-5692B5E66614}"/>
              </a:ext>
            </a:extLst>
          </p:cNvPr>
          <p:cNvSpPr>
            <a:spLocks noGrp="1"/>
          </p:cNvSpPr>
          <p:nvPr>
            <p:ph type="ftr" sz="quarter" idx="11"/>
          </p:nvPr>
        </p:nvSpPr>
        <p:spPr/>
        <p:txBody>
          <a:bodyPr/>
          <a:lstStyle/>
          <a:p>
            <a:endParaRPr lang="en-GB"/>
          </a:p>
        </p:txBody>
      </p:sp>
      <p:sp>
        <p:nvSpPr>
          <p:cNvPr id="7" name="Slide Number Placeholder 5">
            <a:extLst>
              <a:ext uri="{FF2B5EF4-FFF2-40B4-BE49-F238E27FC236}">
                <a16:creationId xmlns:a16="http://schemas.microsoft.com/office/drawing/2014/main" id="{9D8A4016-7CC7-006D-F8EB-79E8043A32F0}"/>
              </a:ext>
            </a:extLst>
          </p:cNvPr>
          <p:cNvSpPr>
            <a:spLocks noGrp="1"/>
          </p:cNvSpPr>
          <p:nvPr>
            <p:ph type="sldNum" sz="quarter" idx="4"/>
          </p:nvPr>
        </p:nvSpPr>
        <p:spPr>
          <a:xfrm>
            <a:off x="4718751" y="6454893"/>
            <a:ext cx="27432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pPr algn="ctr"/>
            <a:fld id="{C42724C2-2594-D243-93D9-F6E5CF9F2B94}" type="slidenum">
              <a:rPr lang="en-GB" smtClean="0"/>
              <a:pPr/>
              <a:t>‹#›</a:t>
            </a:fld>
            <a:endParaRPr lang="en-GB" dirty="0"/>
          </a:p>
        </p:txBody>
      </p:sp>
    </p:spTree>
    <p:extLst>
      <p:ext uri="{BB962C8B-B14F-4D97-AF65-F5344CB8AC3E}">
        <p14:creationId xmlns:p14="http://schemas.microsoft.com/office/powerpoint/2010/main" val="3159792379"/>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A54024D-3724-0948-9C10-A4A2FE5DBB4C}"/>
              </a:ext>
            </a:extLst>
          </p:cNvPr>
          <p:cNvSpPr/>
          <p:nvPr userDrawn="1"/>
        </p:nvSpPr>
        <p:spPr>
          <a:xfrm>
            <a:off x="37421" y="37982"/>
            <a:ext cx="12105861" cy="5923722"/>
          </a:xfrm>
          <a:prstGeom prst="rect">
            <a:avLst/>
          </a:prstGeom>
          <a:solidFill>
            <a:srgbClr val="0032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99AC9E56-644E-EF4D-BB98-D2D215FAB60A}"/>
              </a:ext>
            </a:extLst>
          </p:cNvPr>
          <p:cNvCxnSpPr>
            <a:cxnSpLocks/>
          </p:cNvCxnSpPr>
          <p:nvPr userDrawn="1"/>
        </p:nvCxnSpPr>
        <p:spPr>
          <a:xfrm>
            <a:off x="37421" y="5961704"/>
            <a:ext cx="12106800"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Slide Number Placeholder 5">
            <a:extLst>
              <a:ext uri="{FF2B5EF4-FFF2-40B4-BE49-F238E27FC236}">
                <a16:creationId xmlns:a16="http://schemas.microsoft.com/office/drawing/2014/main" id="{8ECBE559-34E0-E11A-5CDE-9E744D6CC355}"/>
              </a:ext>
            </a:extLst>
          </p:cNvPr>
          <p:cNvSpPr>
            <a:spLocks noGrp="1"/>
          </p:cNvSpPr>
          <p:nvPr>
            <p:ph type="sldNum" sz="quarter" idx="4"/>
          </p:nvPr>
        </p:nvSpPr>
        <p:spPr>
          <a:xfrm>
            <a:off x="4718751" y="6454893"/>
            <a:ext cx="27432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pPr algn="ctr"/>
            <a:fld id="{C42724C2-2594-D243-93D9-F6E5CF9F2B94}" type="slidenum">
              <a:rPr lang="en-GB" smtClean="0"/>
              <a:pPr/>
              <a:t>‹#›</a:t>
            </a:fld>
            <a:endParaRPr lang="en-GB" dirty="0"/>
          </a:p>
        </p:txBody>
      </p:sp>
    </p:spTree>
    <p:extLst>
      <p:ext uri="{BB962C8B-B14F-4D97-AF65-F5344CB8AC3E}">
        <p14:creationId xmlns:p14="http://schemas.microsoft.com/office/powerpoint/2010/main" val="1025641410"/>
      </p:ext>
    </p:extLst>
  </p:cSld>
  <p:clrMap bg1="lt1" tx1="dk1" bg2="lt2" tx2="dk2" accent1="accent1" accent2="accent2" accent3="accent3" accent4="accent4" accent5="accent5" accent6="accent6" hlink="hlink" folHlink="folHlink"/>
  <p:sldLayoutIdLst>
    <p:sldLayoutId id="2147483673" r:id="rId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6C9E6747-1438-1A75-0BCC-E5FFC3C12A4A}"/>
              </a:ext>
            </a:extLst>
          </p:cNvPr>
          <p:cNvSpPr>
            <a:spLocks noGrp="1"/>
          </p:cNvSpPr>
          <p:nvPr>
            <p:ph type="sldNum" sz="quarter" idx="4"/>
          </p:nvPr>
        </p:nvSpPr>
        <p:spPr>
          <a:xfrm>
            <a:off x="4718751" y="6454893"/>
            <a:ext cx="27432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pPr algn="ctr"/>
            <a:fld id="{C42724C2-2594-D243-93D9-F6E5CF9F2B94}" type="slidenum">
              <a:rPr lang="en-GB" smtClean="0"/>
              <a:pPr/>
              <a:t>‹#›</a:t>
            </a:fld>
            <a:endParaRPr lang="en-GB" dirty="0"/>
          </a:p>
        </p:txBody>
      </p:sp>
    </p:spTree>
    <p:extLst>
      <p:ext uri="{BB962C8B-B14F-4D97-AF65-F5344CB8AC3E}">
        <p14:creationId xmlns:p14="http://schemas.microsoft.com/office/powerpoint/2010/main" val="589192573"/>
      </p:ext>
    </p:extLst>
  </p:cSld>
  <p:clrMap bg1="lt1" tx1="dk1" bg2="lt2" tx2="dk2" accent1="accent1" accent2="accent2" accent3="accent3" accent4="accent4" accent5="accent5" accent6="accent6" hlink="hlink" folHlink="folHlink"/>
  <p:sldLayoutIdLst>
    <p:sldLayoutId id="2147483675" r:id="rId1"/>
    <p:sldLayoutId id="2147483676"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pixabay.com/en/lego-building-blocks-shapes-puzzle-297773/"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4.jpg"/><Relationship Id="rId7"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www.goodfreephotos.com/business-and-technology/parts-of-a-motherboard-technology.jpg.php" TargetMode="External"/><Relationship Id="rId5" Type="http://schemas.openxmlformats.org/officeDocument/2006/relationships/image" Target="../media/image5.jpg"/><Relationship Id="rId4" Type="http://schemas.openxmlformats.org/officeDocument/2006/relationships/hyperlink" Target="https://www.wallpaperflare.com/green-and-black-circuit-board-illustration-computer-render-wallpaper-zpx"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pinterest.com/pin/the-lord-of-the-rings-the-two-towers--508554982891754680/" TargetMode="External"/></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7.png"/><Relationship Id="rId7" Type="http://schemas.openxmlformats.org/officeDocument/2006/relationships/diagramQuickStyle" Target="../diagrams/quickStyle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2.png"/><Relationship Id="rId5" Type="http://schemas.openxmlformats.org/officeDocument/2006/relationships/diagramData" Target="../diagrams/data1.xml"/><Relationship Id="rId10" Type="http://schemas.openxmlformats.org/officeDocument/2006/relationships/image" Target="../media/image1.png"/><Relationship Id="rId4" Type="http://schemas.openxmlformats.org/officeDocument/2006/relationships/image" Target="../media/image8.svg"/><Relationship Id="rId9" Type="http://schemas.microsoft.com/office/2007/relationships/diagramDrawing" Target="../diagrams/drawing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emf"/><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png"/><Relationship Id="rId7" Type="http://schemas.openxmlformats.org/officeDocument/2006/relationships/image" Target="../media/image12.png"/><Relationship Id="rId12" Type="http://schemas.openxmlformats.org/officeDocument/2006/relationships/image" Target="../media/image17.sv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svg"/><Relationship Id="rId4" Type="http://schemas.openxmlformats.org/officeDocument/2006/relationships/image" Target="../media/image2.png"/><Relationship Id="rId9"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png"/><Relationship Id="rId7" Type="http://schemas.openxmlformats.org/officeDocument/2006/relationships/image" Target="../media/image20.png"/><Relationship Id="rId12" Type="http://schemas.openxmlformats.org/officeDocument/2006/relationships/image" Target="../media/image2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sv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2.png"/><Relationship Id="rId9" Type="http://schemas.openxmlformats.org/officeDocument/2006/relationships/image" Target="../media/image22.png"/></Relationships>
</file>

<file path=ppt/slides/_rels/slide13.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1.png"/><Relationship Id="rId7" Type="http://schemas.openxmlformats.org/officeDocument/2006/relationships/image" Target="../media/image28.png"/><Relationship Id="rId12" Type="http://schemas.openxmlformats.org/officeDocument/2006/relationships/image" Target="../media/image3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32.png"/><Relationship Id="rId5" Type="http://schemas.openxmlformats.org/officeDocument/2006/relationships/image" Target="../media/image26.png"/><Relationship Id="rId10" Type="http://schemas.openxmlformats.org/officeDocument/2006/relationships/image" Target="../media/image31.svg"/><Relationship Id="rId4" Type="http://schemas.openxmlformats.org/officeDocument/2006/relationships/image" Target="../media/image2.png"/><Relationship Id="rId9"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4.emf"/><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pixabay.com/en/electricity-sky-technology-3158345/" TargetMode="External"/><Relationship Id="rId5" Type="http://schemas.openxmlformats.org/officeDocument/2006/relationships/image" Target="../media/image35.jp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hyperlink" Target="https://plato.stanford.edu/entries/ethics-ai/" TargetMode="External"/><Relationship Id="rId3" Type="http://schemas.openxmlformats.org/officeDocument/2006/relationships/image" Target="../media/image1.png"/><Relationship Id="rId7" Type="http://schemas.openxmlformats.org/officeDocument/2006/relationships/hyperlink" Target="https://artificialintelligenceact.eu/wp-content/uploads/2024/02/AIA-Trilogue-Coreper.pdf"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standards.ieee.org/initiatives/autonomous-intelligence-systems/" TargetMode="External"/><Relationship Id="rId5" Type="http://schemas.openxmlformats.org/officeDocument/2006/relationships/hyperlink" Target="https://www.hhs.gov/ohrp/regulations-and-policy/belmont-report/read-the-belmont-report/index.html" TargetMode="External"/><Relationship Id="rId4" Type="http://schemas.openxmlformats.org/officeDocument/2006/relationships/image" Target="../media/image2.png"/><Relationship Id="rId9" Type="http://schemas.openxmlformats.org/officeDocument/2006/relationships/hyperlink" Target="https://www.youtube.com/watch?v=32qQ4Djgu50"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mailto:nan.fletcher-lloyd17@imperial.ac.uk"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59799-B48A-C684-967B-1B734476A9F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7EE21AF-CA02-1BED-99BF-3309FD52F92B}"/>
              </a:ext>
            </a:extLst>
          </p:cNvPr>
          <p:cNvSpPr txBox="1"/>
          <p:nvPr/>
        </p:nvSpPr>
        <p:spPr>
          <a:xfrm>
            <a:off x="527243" y="1632954"/>
            <a:ext cx="7726693"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GB" sz="4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Ethical AI: </a:t>
            </a:r>
          </a:p>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GB" sz="4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Principles and Practices</a:t>
            </a:r>
            <a:endParaRPr kumimoji="0" lang="en-US" sz="4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endParaRPr>
          </a:p>
        </p:txBody>
      </p:sp>
      <p:sp>
        <p:nvSpPr>
          <p:cNvPr id="6" name="Rectangle 5">
            <a:extLst>
              <a:ext uri="{FF2B5EF4-FFF2-40B4-BE49-F238E27FC236}">
                <a16:creationId xmlns:a16="http://schemas.microsoft.com/office/drawing/2014/main" id="{5F2AC491-ACA4-468F-BB90-8872B2B329B2}"/>
              </a:ext>
            </a:extLst>
          </p:cNvPr>
          <p:cNvSpPr/>
          <p:nvPr/>
        </p:nvSpPr>
        <p:spPr>
          <a:xfrm>
            <a:off x="3628103" y="6061589"/>
            <a:ext cx="8563897" cy="7226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mn-cs"/>
            </a:endParaRPr>
          </a:p>
        </p:txBody>
      </p:sp>
      <p:sp>
        <p:nvSpPr>
          <p:cNvPr id="10" name="Rectangle 9">
            <a:extLst>
              <a:ext uri="{FF2B5EF4-FFF2-40B4-BE49-F238E27FC236}">
                <a16:creationId xmlns:a16="http://schemas.microsoft.com/office/drawing/2014/main" id="{66092E90-8E65-89C0-8BCA-34CF3A049A85}"/>
              </a:ext>
            </a:extLst>
          </p:cNvPr>
          <p:cNvSpPr/>
          <p:nvPr/>
        </p:nvSpPr>
        <p:spPr>
          <a:xfrm>
            <a:off x="8278650" y="1665906"/>
            <a:ext cx="2895601" cy="307777"/>
          </a:xfrm>
          <a:prstGeom prst="rect">
            <a:avLst/>
          </a:prstGeom>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Nan Fletcher-Lloyd</a:t>
            </a:r>
            <a:endParaRPr kumimoji="0" lang="en-US" sz="2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endParaRPr>
          </a:p>
        </p:txBody>
      </p:sp>
      <p:sp>
        <p:nvSpPr>
          <p:cNvPr id="11" name="TextBox 10">
            <a:extLst>
              <a:ext uri="{FF2B5EF4-FFF2-40B4-BE49-F238E27FC236}">
                <a16:creationId xmlns:a16="http://schemas.microsoft.com/office/drawing/2014/main" id="{07BBA185-ADCB-3ACF-6E4C-DC02AE5CA773}"/>
              </a:ext>
            </a:extLst>
          </p:cNvPr>
          <p:cNvSpPr txBox="1"/>
          <p:nvPr/>
        </p:nvSpPr>
        <p:spPr>
          <a:xfrm>
            <a:off x="8278650" y="2099134"/>
            <a:ext cx="3443395" cy="4924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Department of Brain Sciences,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Imperial College London</a:t>
            </a:r>
          </a:p>
        </p:txBody>
      </p:sp>
      <p:cxnSp>
        <p:nvCxnSpPr>
          <p:cNvPr id="12" name="Straight Connector 11">
            <a:extLst>
              <a:ext uri="{FF2B5EF4-FFF2-40B4-BE49-F238E27FC236}">
                <a16:creationId xmlns:a16="http://schemas.microsoft.com/office/drawing/2014/main" id="{888EE8CD-D342-1892-B488-B1D4374C0BFC}"/>
              </a:ext>
            </a:extLst>
          </p:cNvPr>
          <p:cNvCxnSpPr>
            <a:cxnSpLocks/>
          </p:cNvCxnSpPr>
          <p:nvPr/>
        </p:nvCxnSpPr>
        <p:spPr>
          <a:xfrm>
            <a:off x="8278650" y="1984243"/>
            <a:ext cx="3443395" cy="0"/>
          </a:xfrm>
          <a:prstGeom prst="line">
            <a:avLst/>
          </a:prstGeom>
          <a:ln w="12700">
            <a:solidFill>
              <a:srgbClr val="0AC8FF"/>
            </a:solidFill>
          </a:ln>
        </p:spPr>
        <p:style>
          <a:lnRef idx="1">
            <a:schemeClr val="accent1"/>
          </a:lnRef>
          <a:fillRef idx="0">
            <a:schemeClr val="accent1"/>
          </a:fillRef>
          <a:effectRef idx="0">
            <a:schemeClr val="accent1"/>
          </a:effectRef>
          <a:fontRef idx="minor">
            <a:schemeClr val="tx1"/>
          </a:fontRef>
        </p:style>
      </p:cxnSp>
      <p:pic>
        <p:nvPicPr>
          <p:cNvPr id="15" name="Picture 6">
            <a:extLst>
              <a:ext uri="{FF2B5EF4-FFF2-40B4-BE49-F238E27FC236}">
                <a16:creationId xmlns:a16="http://schemas.microsoft.com/office/drawing/2014/main" id="{65CBF953-B7DE-1389-5354-01B25CD4D3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colorful letters and numbers&#10;&#10;Description automatically generated">
            <a:extLst>
              <a:ext uri="{FF2B5EF4-FFF2-40B4-BE49-F238E27FC236}">
                <a16:creationId xmlns:a16="http://schemas.microsoft.com/office/drawing/2014/main" id="{8A8C4FA2-3E72-62AD-F646-8951E64D1AD8}"/>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Tree>
    <p:extLst>
      <p:ext uri="{BB962C8B-B14F-4D97-AF65-F5344CB8AC3E}">
        <p14:creationId xmlns:p14="http://schemas.microsoft.com/office/powerpoint/2010/main" val="14592759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D13C930-B6A0-EFE3-290C-0D39A82ACA8E}"/>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A41A5B9D-CE88-D1A0-173F-F66F8F7B2820}"/>
              </a:ext>
            </a:extLst>
          </p:cNvPr>
          <p:cNvSpPr txBox="1"/>
          <p:nvPr/>
        </p:nvSpPr>
        <p:spPr>
          <a:xfrm>
            <a:off x="146964" y="88823"/>
            <a:ext cx="2803973" cy="46166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Morality and </a:t>
            </a:r>
            <a:r>
              <a:rPr lang="en-GB" sz="2400" dirty="0">
                <a:solidFill>
                  <a:srgbClr val="FFFFFF"/>
                </a:solidFill>
                <a:latin typeface="Avenir Book" panose="02000503020000020003" pitchFamily="2" charset="0"/>
                <a:cs typeface="Arial" panose="020B0604020202020204" pitchFamily="34" charset="0"/>
              </a:rPr>
              <a:t>E</a:t>
            </a:r>
            <a:r>
              <a:rPr kumimoji="0" lang="en-GB" sz="2400" b="0" i="0" u="none" strike="noStrike" kern="1200" cap="none" spc="0" normalizeH="0" baseline="0" noProof="0" dirty="0" err="1">
                <a:ln>
                  <a:noFill/>
                </a:ln>
                <a:solidFill>
                  <a:srgbClr val="FFFFFF"/>
                </a:solidFill>
                <a:effectLst/>
                <a:uLnTx/>
                <a:uFillTx/>
                <a:latin typeface="Avenir Book" panose="02000503020000020003" pitchFamily="2" charset="0"/>
                <a:ea typeface="+mn-ea"/>
                <a:cs typeface="Arial" panose="020B0604020202020204" pitchFamily="34" charset="0"/>
              </a:rPr>
              <a:t>thics</a:t>
            </a:r>
            <a:endPar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7" name="Rectangle 6">
            <a:extLst>
              <a:ext uri="{FF2B5EF4-FFF2-40B4-BE49-F238E27FC236}">
                <a16:creationId xmlns:a16="http://schemas.microsoft.com/office/drawing/2014/main" id="{A4027B43-2EA9-EF2D-1823-E081FC7BD35B}"/>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CC1F78FE-6F9D-B1AE-C076-7E02DB3CDB15}"/>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sp>
        <p:nvSpPr>
          <p:cNvPr id="3" name="Rectangle 2">
            <a:extLst>
              <a:ext uri="{FF2B5EF4-FFF2-40B4-BE49-F238E27FC236}">
                <a16:creationId xmlns:a16="http://schemas.microsoft.com/office/drawing/2014/main" id="{86BCB014-7A10-1144-9C30-E5EE75AB7EAE}"/>
              </a:ext>
            </a:extLst>
          </p:cNvPr>
          <p:cNvSpPr/>
          <p:nvPr/>
        </p:nvSpPr>
        <p:spPr>
          <a:xfrm>
            <a:off x="839417" y="2767280"/>
            <a:ext cx="5256584" cy="1323439"/>
          </a:xfrm>
          <a:prstGeom prst="rect">
            <a:avLst/>
          </a:prstGeom>
        </p:spPr>
        <p:txBody>
          <a:bodyPr wrap="square">
            <a:spAutoFit/>
          </a:bodyPr>
          <a:lstStyle/>
          <a:p>
            <a:r>
              <a:rPr lang="en-GB" sz="2000" b="0" i="1" u="none" strike="noStrike" dirty="0">
                <a:solidFill>
                  <a:srgbClr val="00326E"/>
                </a:solidFill>
                <a:effectLst/>
                <a:latin typeface="Avenir Book" panose="02000503020000020003" pitchFamily="2" charset="0"/>
              </a:rPr>
              <a:t>"Morality is simply the attitude we adopt towards people whom we dislike.”</a:t>
            </a:r>
          </a:p>
          <a:p>
            <a:br>
              <a:rPr lang="en-GB" sz="2000" dirty="0">
                <a:solidFill>
                  <a:srgbClr val="00326E"/>
                </a:solidFill>
                <a:latin typeface="Avenir Book" panose="02000503020000020003" pitchFamily="2" charset="0"/>
              </a:rPr>
            </a:br>
            <a:r>
              <a:rPr lang="en-GB" sz="2000" b="0" i="0" u="none" strike="noStrike" dirty="0">
                <a:solidFill>
                  <a:srgbClr val="00326E"/>
                </a:solidFill>
                <a:effectLst/>
                <a:latin typeface="Avenir Book" panose="02000503020000020003" pitchFamily="2" charset="0"/>
              </a:rPr>
              <a:t>— Oscar Wilde, </a:t>
            </a:r>
            <a:r>
              <a:rPr lang="en-GB" sz="2000" b="0" i="1" u="none" strike="noStrike" dirty="0">
                <a:solidFill>
                  <a:srgbClr val="00326E"/>
                </a:solidFill>
                <a:effectLst/>
                <a:latin typeface="Avenir Book" panose="02000503020000020003" pitchFamily="2" charset="0"/>
              </a:rPr>
              <a:t>An Ideal Husband</a:t>
            </a:r>
            <a:r>
              <a:rPr lang="en-GB" sz="2000" b="0" i="0" u="none" strike="noStrike" dirty="0">
                <a:solidFill>
                  <a:srgbClr val="00326E"/>
                </a:solidFill>
                <a:effectLst/>
                <a:latin typeface="Avenir Book" panose="02000503020000020003" pitchFamily="2" charset="0"/>
              </a:rPr>
              <a:t> (1895)</a:t>
            </a:r>
            <a:endParaRPr lang="en-GB" sz="2000" noProof="0" dirty="0">
              <a:solidFill>
                <a:srgbClr val="00326E"/>
              </a:solidFill>
              <a:latin typeface="Avenir Book" panose="02000503020000020003" pitchFamily="2" charset="0"/>
            </a:endParaRPr>
          </a:p>
        </p:txBody>
      </p:sp>
      <p:pic>
        <p:nvPicPr>
          <p:cNvPr id="5" name="Picture 4" descr="A group of colorful building blocks&#10;&#10;Description automatically generated">
            <a:extLst>
              <a:ext uri="{FF2B5EF4-FFF2-40B4-BE49-F238E27FC236}">
                <a16:creationId xmlns:a16="http://schemas.microsoft.com/office/drawing/2014/main" id="{4A389DCA-C389-5E79-920E-819C83EBBCE1}"/>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7264400" y="1264668"/>
            <a:ext cx="4088183" cy="4328664"/>
          </a:xfrm>
          <a:prstGeom prst="rect">
            <a:avLst/>
          </a:prstGeom>
        </p:spPr>
      </p:pic>
      <p:pic>
        <p:nvPicPr>
          <p:cNvPr id="18" name="Picture 6">
            <a:extLst>
              <a:ext uri="{FF2B5EF4-FFF2-40B4-BE49-F238E27FC236}">
                <a16:creationId xmlns:a16="http://schemas.microsoft.com/office/drawing/2014/main" id="{81689B85-7321-1293-B2FB-B1B65BA3842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A colorful letters and numbers&#10;&#10;Description automatically generated">
            <a:extLst>
              <a:ext uri="{FF2B5EF4-FFF2-40B4-BE49-F238E27FC236}">
                <a16:creationId xmlns:a16="http://schemas.microsoft.com/office/drawing/2014/main" id="{0399FD63-19BA-ED29-413D-C4BAB1128DED}"/>
              </a:ext>
            </a:extLst>
          </p:cNvPr>
          <p:cNvPicPr>
            <a:picLocks noChangeAspect="1"/>
          </p:cNvPicPr>
          <p:nvPr/>
        </p:nvPicPr>
        <p:blipFill>
          <a:blip r:embed="rId6">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21" name="Slide Number Placeholder 20">
            <a:extLst>
              <a:ext uri="{FF2B5EF4-FFF2-40B4-BE49-F238E27FC236}">
                <a16:creationId xmlns:a16="http://schemas.microsoft.com/office/drawing/2014/main" id="{C15F370C-827A-3B99-AB91-E6443869E34F}"/>
              </a:ext>
            </a:extLst>
          </p:cNvPr>
          <p:cNvSpPr>
            <a:spLocks noGrp="1"/>
          </p:cNvSpPr>
          <p:nvPr>
            <p:ph type="sldNum" sz="quarter" idx="4"/>
          </p:nvPr>
        </p:nvSpPr>
        <p:spPr/>
        <p:txBody>
          <a:bodyPr/>
          <a:lstStyle/>
          <a:p>
            <a:pPr algn="ctr"/>
            <a:fld id="{C42724C2-2594-D243-93D9-F6E5CF9F2B94}" type="slidenum">
              <a:rPr lang="en-GB" smtClean="0"/>
              <a:pPr algn="ctr"/>
              <a:t>2</a:t>
            </a:fld>
            <a:endParaRPr lang="en-GB" dirty="0"/>
          </a:p>
        </p:txBody>
      </p:sp>
    </p:spTree>
    <p:extLst>
      <p:ext uri="{BB962C8B-B14F-4D97-AF65-F5344CB8AC3E}">
        <p14:creationId xmlns:p14="http://schemas.microsoft.com/office/powerpoint/2010/main" val="42086548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76882-5DC2-5DC9-1AD8-DF60D96CB05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0FC67AE-18F5-FFE1-61CF-B610188DDF54}"/>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B5BDCA93-BC78-7BED-2926-03920C3AFF7A}"/>
              </a:ext>
            </a:extLst>
          </p:cNvPr>
          <p:cNvSpPr txBox="1"/>
          <p:nvPr/>
        </p:nvSpPr>
        <p:spPr>
          <a:xfrm>
            <a:off x="146964" y="88823"/>
            <a:ext cx="170431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Ethics in AI</a:t>
            </a:r>
          </a:p>
        </p:txBody>
      </p:sp>
      <p:sp>
        <p:nvSpPr>
          <p:cNvPr id="7" name="Rectangle 6">
            <a:extLst>
              <a:ext uri="{FF2B5EF4-FFF2-40B4-BE49-F238E27FC236}">
                <a16:creationId xmlns:a16="http://schemas.microsoft.com/office/drawing/2014/main" id="{7D95BB42-67CA-D352-5ED8-0455724AB5BF}"/>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0E22AB28-B185-C727-5B26-A36589497271}"/>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8" descr="A close up of a circuit board&#10;&#10;Description automatically generated">
            <a:extLst>
              <a:ext uri="{FF2B5EF4-FFF2-40B4-BE49-F238E27FC236}">
                <a16:creationId xmlns:a16="http://schemas.microsoft.com/office/drawing/2014/main" id="{837405CE-0161-5943-A35D-D08811CAA366}"/>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8089900" y="1148606"/>
            <a:ext cx="3492500" cy="1968500"/>
          </a:xfrm>
          <a:prstGeom prst="rect">
            <a:avLst/>
          </a:prstGeom>
        </p:spPr>
      </p:pic>
      <p:pic>
        <p:nvPicPr>
          <p:cNvPr id="10" name="Picture 9" descr="A close-up of a machine&#10;&#10;Description automatically generated">
            <a:extLst>
              <a:ext uri="{FF2B5EF4-FFF2-40B4-BE49-F238E27FC236}">
                <a16:creationId xmlns:a16="http://schemas.microsoft.com/office/drawing/2014/main" id="{3871D8A1-B410-061F-E852-EC0D940E9A3E}"/>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8089899" y="3740895"/>
            <a:ext cx="3492501" cy="1967606"/>
          </a:xfrm>
          <a:prstGeom prst="rect">
            <a:avLst/>
          </a:prstGeom>
        </p:spPr>
      </p:pic>
      <p:sp>
        <p:nvSpPr>
          <p:cNvPr id="13" name="Rectangle 12">
            <a:extLst>
              <a:ext uri="{FF2B5EF4-FFF2-40B4-BE49-F238E27FC236}">
                <a16:creationId xmlns:a16="http://schemas.microsoft.com/office/drawing/2014/main" id="{44B1A87D-78C3-3600-5A25-A62C73BBF0CD}"/>
              </a:ext>
            </a:extLst>
          </p:cNvPr>
          <p:cNvSpPr/>
          <p:nvPr/>
        </p:nvSpPr>
        <p:spPr>
          <a:xfrm>
            <a:off x="839416" y="2151727"/>
            <a:ext cx="5256584" cy="2554545"/>
          </a:xfrm>
          <a:prstGeom prst="rect">
            <a:avLst/>
          </a:prstGeom>
        </p:spPr>
        <p:txBody>
          <a:bodyPr wrap="square">
            <a:spAutoFit/>
          </a:bodyPr>
          <a:lstStyle/>
          <a:p>
            <a:r>
              <a:rPr lang="en-GB" sz="2000" b="1" dirty="0">
                <a:solidFill>
                  <a:srgbClr val="00326E"/>
                </a:solidFill>
                <a:latin typeface="Avenir Book" panose="02000503020000020003" pitchFamily="2" charset="0"/>
              </a:rPr>
              <a:t>Objectives:</a:t>
            </a:r>
          </a:p>
          <a:p>
            <a:endParaRPr lang="en-GB" sz="2000" dirty="0">
              <a:solidFill>
                <a:srgbClr val="00326E"/>
              </a:solidFill>
              <a:latin typeface="Avenir Book" panose="02000503020000020003" pitchFamily="2" charset="0"/>
            </a:endParaRPr>
          </a:p>
          <a:p>
            <a:pPr marL="342900" indent="-342900">
              <a:buFont typeface="Arial" panose="020B0604020202020204" pitchFamily="34" charset="0"/>
              <a:buChar char="•"/>
            </a:pPr>
            <a:r>
              <a:rPr lang="en-GB" sz="2000" noProof="0" dirty="0">
                <a:solidFill>
                  <a:srgbClr val="00326E"/>
                </a:solidFill>
                <a:latin typeface="Avenir Book" panose="02000503020000020003" pitchFamily="2" charset="0"/>
              </a:rPr>
              <a:t>Prevent harm</a:t>
            </a:r>
          </a:p>
          <a:p>
            <a:pPr marL="342900" indent="-342900">
              <a:buFont typeface="Arial" panose="020B0604020202020204" pitchFamily="34" charset="0"/>
              <a:buChar char="•"/>
            </a:pPr>
            <a:endParaRPr lang="en-GB" sz="2000" noProof="0" dirty="0">
              <a:solidFill>
                <a:srgbClr val="00326E"/>
              </a:solidFill>
              <a:latin typeface="Avenir Book" panose="02000503020000020003" pitchFamily="2" charset="0"/>
            </a:endParaRPr>
          </a:p>
          <a:p>
            <a:pPr marL="342900" indent="-342900">
              <a:buFont typeface="Arial" panose="020B0604020202020204" pitchFamily="34" charset="0"/>
              <a:buChar char="•"/>
            </a:pPr>
            <a:r>
              <a:rPr lang="en-GB" sz="2000" dirty="0">
                <a:solidFill>
                  <a:srgbClr val="00326E"/>
                </a:solidFill>
                <a:latin typeface="Avenir Book" panose="02000503020000020003" pitchFamily="2" charset="0"/>
              </a:rPr>
              <a:t>Mitigate risk</a:t>
            </a:r>
          </a:p>
          <a:p>
            <a:pPr marL="342900" indent="-342900">
              <a:buFont typeface="Arial" panose="020B0604020202020204" pitchFamily="34" charset="0"/>
              <a:buChar char="•"/>
            </a:pPr>
            <a:endParaRPr lang="en-GB" sz="2000" dirty="0">
              <a:solidFill>
                <a:srgbClr val="00326E"/>
              </a:solidFill>
              <a:latin typeface="Avenir Book" panose="02000503020000020003" pitchFamily="2" charset="0"/>
            </a:endParaRPr>
          </a:p>
          <a:p>
            <a:pPr marL="342900" indent="-342900">
              <a:buFont typeface="Arial" panose="020B0604020202020204" pitchFamily="34" charset="0"/>
              <a:buChar char="•"/>
            </a:pPr>
            <a:r>
              <a:rPr lang="en-GB" sz="2000" noProof="0" dirty="0">
                <a:solidFill>
                  <a:srgbClr val="00326E"/>
                </a:solidFill>
                <a:latin typeface="Avenir Book" panose="02000503020000020003" pitchFamily="2" charset="0"/>
              </a:rPr>
              <a:t>Prioritize fairness, transparency and human well-being</a:t>
            </a:r>
          </a:p>
        </p:txBody>
      </p:sp>
      <p:pic>
        <p:nvPicPr>
          <p:cNvPr id="18" name="Picture 6">
            <a:extLst>
              <a:ext uri="{FF2B5EF4-FFF2-40B4-BE49-F238E27FC236}">
                <a16:creationId xmlns:a16="http://schemas.microsoft.com/office/drawing/2014/main" id="{61087A24-BC09-A8C9-1C39-0BB67063A1C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A colorful letters and numbers&#10;&#10;Description automatically generated">
            <a:extLst>
              <a:ext uri="{FF2B5EF4-FFF2-40B4-BE49-F238E27FC236}">
                <a16:creationId xmlns:a16="http://schemas.microsoft.com/office/drawing/2014/main" id="{3AAD67BC-B070-425E-E0C1-35EABE071024}"/>
              </a:ext>
            </a:extLst>
          </p:cNvPr>
          <p:cNvPicPr>
            <a:picLocks noChangeAspect="1"/>
          </p:cNvPicPr>
          <p:nvPr/>
        </p:nvPicPr>
        <p:blipFill>
          <a:blip r:embed="rId8">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21" name="Slide Number Placeholder 20">
            <a:extLst>
              <a:ext uri="{FF2B5EF4-FFF2-40B4-BE49-F238E27FC236}">
                <a16:creationId xmlns:a16="http://schemas.microsoft.com/office/drawing/2014/main" id="{FB63DA03-C4A8-DBC4-0D72-C0A812E87F18}"/>
              </a:ext>
            </a:extLst>
          </p:cNvPr>
          <p:cNvSpPr>
            <a:spLocks noGrp="1"/>
          </p:cNvSpPr>
          <p:nvPr>
            <p:ph type="sldNum" sz="quarter" idx="4"/>
          </p:nvPr>
        </p:nvSpPr>
        <p:spPr/>
        <p:txBody>
          <a:bodyPr/>
          <a:lstStyle/>
          <a:p>
            <a:pPr algn="ctr"/>
            <a:fld id="{C42724C2-2594-D243-93D9-F6E5CF9F2B94}" type="slidenum">
              <a:rPr lang="en-GB" smtClean="0"/>
              <a:pPr algn="ctr"/>
              <a:t>3</a:t>
            </a:fld>
            <a:endParaRPr lang="en-GB" dirty="0"/>
          </a:p>
        </p:txBody>
      </p:sp>
    </p:spTree>
    <p:extLst>
      <p:ext uri="{BB962C8B-B14F-4D97-AF65-F5344CB8AC3E}">
        <p14:creationId xmlns:p14="http://schemas.microsoft.com/office/powerpoint/2010/main" val="2822792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16F08-2A38-4C79-D0AF-E19E68F7EDD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3B9E3DF-3241-3BA4-25C1-0BD303E19051}"/>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9F67836E-C95D-A32C-37DD-A89761EA10C8}"/>
              </a:ext>
            </a:extLst>
          </p:cNvPr>
          <p:cNvSpPr txBox="1"/>
          <p:nvPr/>
        </p:nvSpPr>
        <p:spPr>
          <a:xfrm>
            <a:off x="146964" y="88823"/>
            <a:ext cx="325941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Why Should We </a:t>
            </a:r>
            <a:r>
              <a:rPr lang="en-GB" sz="2400" dirty="0">
                <a:solidFill>
                  <a:srgbClr val="FFFFFF"/>
                </a:solidFill>
                <a:latin typeface="Avenir Book" panose="02000503020000020003" pitchFamily="2" charset="0"/>
                <a:cs typeface="Arial" panose="020B0604020202020204" pitchFamily="34" charset="0"/>
              </a:rPr>
              <a:t>C</a:t>
            </a: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are?</a:t>
            </a:r>
          </a:p>
        </p:txBody>
      </p:sp>
      <p:sp>
        <p:nvSpPr>
          <p:cNvPr id="7" name="Rectangle 6">
            <a:extLst>
              <a:ext uri="{FF2B5EF4-FFF2-40B4-BE49-F238E27FC236}">
                <a16:creationId xmlns:a16="http://schemas.microsoft.com/office/drawing/2014/main" id="{125767F3-1B76-F81D-69CF-8450548AC710}"/>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58EFEFEE-F832-ABE9-4989-7020D3204D5C}"/>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sp>
        <p:nvSpPr>
          <p:cNvPr id="3" name="Rectangle 2">
            <a:extLst>
              <a:ext uri="{FF2B5EF4-FFF2-40B4-BE49-F238E27FC236}">
                <a16:creationId xmlns:a16="http://schemas.microsoft.com/office/drawing/2014/main" id="{0932347D-DE19-EEF1-A600-3B86D1450BFE}"/>
              </a:ext>
            </a:extLst>
          </p:cNvPr>
          <p:cNvSpPr/>
          <p:nvPr/>
        </p:nvSpPr>
        <p:spPr>
          <a:xfrm>
            <a:off x="3093576" y="6315201"/>
            <a:ext cx="6004847" cy="215444"/>
          </a:xfrm>
          <a:prstGeom prst="rect">
            <a:avLst/>
          </a:prstGeom>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GB" sz="800" dirty="0">
                <a:solidFill>
                  <a:srgbClr val="00326E"/>
                </a:solidFill>
                <a:latin typeface="Avenir Book" panose="02000503020000020003" pitchFamily="2" charset="0"/>
                <a:ea typeface="ＭＳ Ｐゴシック" panose="020B0600070205080204" pitchFamily="34" charset="-128"/>
                <a:cs typeface="Arial"/>
              </a:rPr>
              <a:t>GIF by Unknown Author, from</a:t>
            </a:r>
            <a:r>
              <a:rPr kumimoji="0" lang="en-GB" sz="800" b="0" i="0" u="none" strike="noStrike" kern="1200" cap="none" spc="0" normalizeH="0" baseline="0" noProof="0" dirty="0">
                <a:ln>
                  <a:noFill/>
                </a:ln>
                <a:solidFill>
                  <a:srgbClr val="00326E"/>
                </a:solidFill>
                <a:effectLst/>
                <a:uLnTx/>
                <a:uFillTx/>
                <a:latin typeface="Avenir Book" panose="02000503020000020003" pitchFamily="2" charset="0"/>
                <a:ea typeface="ＭＳ Ｐゴシック" panose="020B0600070205080204" pitchFamily="34" charset="-128"/>
                <a:cs typeface="Arial"/>
              </a:rPr>
              <a:t> </a:t>
            </a:r>
            <a:r>
              <a:rPr kumimoji="0" lang="en-GB" sz="800" b="0" i="1" u="none" strike="noStrike" kern="1200" cap="none" spc="0" normalizeH="0" baseline="0" noProof="0" dirty="0">
                <a:ln>
                  <a:noFill/>
                </a:ln>
                <a:solidFill>
                  <a:srgbClr val="00326E"/>
                </a:solidFill>
                <a:effectLst/>
                <a:uLnTx/>
                <a:uFillTx/>
                <a:latin typeface="Avenir Book" panose="02000503020000020003" pitchFamily="2" charset="0"/>
                <a:ea typeface="ＭＳ Ｐゴシック" panose="020B0600070205080204" pitchFamily="34" charset="-128"/>
                <a:cs typeface="Arial"/>
              </a:rPr>
              <a:t>The Lord of the Rings: The Two Towers </a:t>
            </a:r>
            <a:r>
              <a:rPr kumimoji="0" lang="en-GB" sz="800" b="0" i="0" u="none" strike="noStrike" kern="1200" cap="none" spc="0" normalizeH="0" baseline="0" noProof="0" dirty="0">
                <a:ln>
                  <a:noFill/>
                </a:ln>
                <a:solidFill>
                  <a:srgbClr val="00326E"/>
                </a:solidFill>
                <a:effectLst/>
                <a:uLnTx/>
                <a:uFillTx/>
                <a:latin typeface="Avenir Book" panose="02000503020000020003" pitchFamily="2" charset="0"/>
                <a:ea typeface="ＭＳ Ｐゴシック" panose="020B0600070205080204" pitchFamily="34" charset="-128"/>
                <a:cs typeface="Arial"/>
              </a:rPr>
              <a:t>(2002), directed by Peter Jackson, © New Line Cinema.</a:t>
            </a:r>
          </a:p>
        </p:txBody>
      </p:sp>
      <p:pic>
        <p:nvPicPr>
          <p:cNvPr id="5" name="Picture 4" descr="A collage of a person&#10;&#10;Description automatically generated">
            <a:extLst>
              <a:ext uri="{FF2B5EF4-FFF2-40B4-BE49-F238E27FC236}">
                <a16:creationId xmlns:a16="http://schemas.microsoft.com/office/drawing/2014/main" id="{9D9CBA67-73DC-5B3F-0600-8218628F2841}"/>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2921000" y="1428750"/>
            <a:ext cx="6350000" cy="4000500"/>
          </a:xfrm>
          <a:prstGeom prst="rect">
            <a:avLst/>
          </a:prstGeom>
        </p:spPr>
      </p:pic>
      <p:pic>
        <p:nvPicPr>
          <p:cNvPr id="16" name="Picture 6">
            <a:extLst>
              <a:ext uri="{FF2B5EF4-FFF2-40B4-BE49-F238E27FC236}">
                <a16:creationId xmlns:a16="http://schemas.microsoft.com/office/drawing/2014/main" id="{118BC321-9847-4749-46CB-BFDB1DCDAE8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descr="A colorful letters and numbers&#10;&#10;Description automatically generated">
            <a:extLst>
              <a:ext uri="{FF2B5EF4-FFF2-40B4-BE49-F238E27FC236}">
                <a16:creationId xmlns:a16="http://schemas.microsoft.com/office/drawing/2014/main" id="{31B146CB-7651-35B7-67D3-F445A1A5B36D}"/>
              </a:ext>
            </a:extLst>
          </p:cNvPr>
          <p:cNvPicPr>
            <a:picLocks noChangeAspect="1"/>
          </p:cNvPicPr>
          <p:nvPr/>
        </p:nvPicPr>
        <p:blipFill>
          <a:blip r:embed="rId6">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19" name="Slide Number Placeholder 18">
            <a:extLst>
              <a:ext uri="{FF2B5EF4-FFF2-40B4-BE49-F238E27FC236}">
                <a16:creationId xmlns:a16="http://schemas.microsoft.com/office/drawing/2014/main" id="{F7008794-F088-97F6-C1A8-6E6EE21F034B}"/>
              </a:ext>
            </a:extLst>
          </p:cNvPr>
          <p:cNvSpPr>
            <a:spLocks noGrp="1"/>
          </p:cNvSpPr>
          <p:nvPr>
            <p:ph type="sldNum" sz="quarter" idx="4"/>
          </p:nvPr>
        </p:nvSpPr>
        <p:spPr/>
        <p:txBody>
          <a:bodyPr/>
          <a:lstStyle/>
          <a:p>
            <a:pPr algn="ctr"/>
            <a:fld id="{C42724C2-2594-D243-93D9-F6E5CF9F2B94}" type="slidenum">
              <a:rPr lang="en-GB" smtClean="0"/>
              <a:pPr algn="ctr"/>
              <a:t>4</a:t>
            </a:fld>
            <a:endParaRPr lang="en-GB" dirty="0"/>
          </a:p>
        </p:txBody>
      </p:sp>
    </p:spTree>
    <p:extLst>
      <p:ext uri="{BB962C8B-B14F-4D97-AF65-F5344CB8AC3E}">
        <p14:creationId xmlns:p14="http://schemas.microsoft.com/office/powerpoint/2010/main" val="3775114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502C7-17EC-2AD9-382E-C60AC4745C2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431CC6C-85AC-FEB6-E660-E9819EA4C423}"/>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56634A43-C72F-9A5A-44BE-9EFE6C352B7C}"/>
              </a:ext>
            </a:extLst>
          </p:cNvPr>
          <p:cNvSpPr txBox="1"/>
          <p:nvPr/>
        </p:nvSpPr>
        <p:spPr>
          <a:xfrm>
            <a:off x="146964" y="88823"/>
            <a:ext cx="249459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Ethical Principles</a:t>
            </a:r>
          </a:p>
        </p:txBody>
      </p:sp>
      <p:sp>
        <p:nvSpPr>
          <p:cNvPr id="7" name="Rectangle 6">
            <a:extLst>
              <a:ext uri="{FF2B5EF4-FFF2-40B4-BE49-F238E27FC236}">
                <a16:creationId xmlns:a16="http://schemas.microsoft.com/office/drawing/2014/main" id="{9D201194-931B-7AF0-02D9-B1C51905890C}"/>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D1711268-1F56-7113-8324-10B8BB6BF106}"/>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sp>
        <p:nvSpPr>
          <p:cNvPr id="8" name="TextBox 7">
            <a:extLst>
              <a:ext uri="{FF2B5EF4-FFF2-40B4-BE49-F238E27FC236}">
                <a16:creationId xmlns:a16="http://schemas.microsoft.com/office/drawing/2014/main" id="{5BD5886E-19C1-7512-1AEF-727392324DBB}"/>
              </a:ext>
            </a:extLst>
          </p:cNvPr>
          <p:cNvSpPr txBox="1"/>
          <p:nvPr/>
        </p:nvSpPr>
        <p:spPr>
          <a:xfrm>
            <a:off x="3234479" y="6269732"/>
            <a:ext cx="5723042" cy="338554"/>
          </a:xfrm>
          <a:prstGeom prst="rect">
            <a:avLst/>
          </a:prstGeom>
          <a:noFill/>
        </p:spPr>
        <p:txBody>
          <a:bodyPr wrap="none" rtlCol="0">
            <a:spAutoFit/>
          </a:bodyPr>
          <a:lstStyle/>
          <a:p>
            <a:pPr algn="ctr"/>
            <a:r>
              <a:rPr lang="en-GB" sz="800" noProof="0" dirty="0">
                <a:solidFill>
                  <a:srgbClr val="00326E"/>
                </a:solidFill>
                <a:latin typeface="Avenir Book" panose="02000503020000020003" pitchFamily="2" charset="0"/>
              </a:rPr>
              <a:t>Source: The Belmont Report. (1979). </a:t>
            </a:r>
            <a:r>
              <a:rPr lang="en-GB" sz="800" i="1" noProof="0" dirty="0">
                <a:solidFill>
                  <a:srgbClr val="00326E"/>
                </a:solidFill>
                <a:latin typeface="Avenir Book" panose="02000503020000020003" pitchFamily="2" charset="0"/>
              </a:rPr>
              <a:t>Ethical Principles and Guidelines for the Protection of Human Subjects of Research. </a:t>
            </a:r>
          </a:p>
          <a:p>
            <a:pPr algn="ctr"/>
            <a:r>
              <a:rPr lang="en-GB" sz="800" noProof="0" dirty="0">
                <a:solidFill>
                  <a:srgbClr val="00326E"/>
                </a:solidFill>
                <a:latin typeface="Avenir Book" panose="02000503020000020003" pitchFamily="2" charset="0"/>
              </a:rPr>
              <a:t>U.S. Health Department of Health and Human Services.</a:t>
            </a:r>
          </a:p>
        </p:txBody>
      </p:sp>
      <p:pic>
        <p:nvPicPr>
          <p:cNvPr id="10" name="Graphic 9" descr="Document outline">
            <a:extLst>
              <a:ext uri="{FF2B5EF4-FFF2-40B4-BE49-F238E27FC236}">
                <a16:creationId xmlns:a16="http://schemas.microsoft.com/office/drawing/2014/main" id="{6705D342-B7FE-956D-335B-BAE96FB175D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2317" y="1852617"/>
            <a:ext cx="3170082" cy="3189478"/>
          </a:xfrm>
          <a:prstGeom prst="rect">
            <a:avLst/>
          </a:prstGeom>
        </p:spPr>
      </p:pic>
      <p:graphicFrame>
        <p:nvGraphicFramePr>
          <p:cNvPr id="17" name="TextBox 8">
            <a:extLst>
              <a:ext uri="{FF2B5EF4-FFF2-40B4-BE49-F238E27FC236}">
                <a16:creationId xmlns:a16="http://schemas.microsoft.com/office/drawing/2014/main" id="{407825C4-102E-FB69-4E08-51EAC73426E5}"/>
              </a:ext>
            </a:extLst>
          </p:cNvPr>
          <p:cNvGraphicFramePr/>
          <p:nvPr>
            <p:extLst>
              <p:ext uri="{D42A27DB-BD31-4B8C-83A1-F6EECF244321}">
                <p14:modId xmlns:p14="http://schemas.microsoft.com/office/powerpoint/2010/main" val="541277920"/>
              </p:ext>
            </p:extLst>
          </p:nvPr>
        </p:nvGraphicFramePr>
        <p:xfrm>
          <a:off x="609601" y="1843958"/>
          <a:ext cx="7620000" cy="317008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11" name="Picture 6">
            <a:extLst>
              <a:ext uri="{FF2B5EF4-FFF2-40B4-BE49-F238E27FC236}">
                <a16:creationId xmlns:a16="http://schemas.microsoft.com/office/drawing/2014/main" id="{E528E074-4582-797D-CDB5-CE020F92D89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A colorful letters and numbers&#10;&#10;Description automatically generated">
            <a:extLst>
              <a:ext uri="{FF2B5EF4-FFF2-40B4-BE49-F238E27FC236}">
                <a16:creationId xmlns:a16="http://schemas.microsoft.com/office/drawing/2014/main" id="{0037F1AD-A238-A981-83B5-E037DB840853}"/>
              </a:ext>
            </a:extLst>
          </p:cNvPr>
          <p:cNvPicPr>
            <a:picLocks noChangeAspect="1"/>
          </p:cNvPicPr>
          <p:nvPr/>
        </p:nvPicPr>
        <p:blipFill>
          <a:blip r:embed="rId11">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16" name="Slide Number Placeholder 15">
            <a:extLst>
              <a:ext uri="{FF2B5EF4-FFF2-40B4-BE49-F238E27FC236}">
                <a16:creationId xmlns:a16="http://schemas.microsoft.com/office/drawing/2014/main" id="{59558C19-826F-1896-FB8C-CDB0AA38C402}"/>
              </a:ext>
            </a:extLst>
          </p:cNvPr>
          <p:cNvSpPr>
            <a:spLocks noGrp="1"/>
          </p:cNvSpPr>
          <p:nvPr>
            <p:ph type="sldNum" sz="quarter" idx="4"/>
          </p:nvPr>
        </p:nvSpPr>
        <p:spPr/>
        <p:txBody>
          <a:bodyPr/>
          <a:lstStyle/>
          <a:p>
            <a:pPr algn="ctr"/>
            <a:fld id="{C42724C2-2594-D243-93D9-F6E5CF9F2B94}" type="slidenum">
              <a:rPr lang="en-GB" smtClean="0"/>
              <a:pPr algn="ctr"/>
              <a:t>5</a:t>
            </a:fld>
            <a:endParaRPr lang="en-GB" dirty="0"/>
          </a:p>
        </p:txBody>
      </p:sp>
    </p:spTree>
    <p:extLst>
      <p:ext uri="{BB962C8B-B14F-4D97-AF65-F5344CB8AC3E}">
        <p14:creationId xmlns:p14="http://schemas.microsoft.com/office/powerpoint/2010/main" val="15068849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A0BA3-7698-33A5-6E57-06F7D95BF63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76A86F7-E13B-0C56-1824-5A298CB7184B}"/>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8EAAF32D-F04E-61B5-E799-C0ED71CCED18}"/>
              </a:ext>
            </a:extLst>
          </p:cNvPr>
          <p:cNvSpPr txBox="1"/>
          <p:nvPr/>
        </p:nvSpPr>
        <p:spPr>
          <a:xfrm>
            <a:off x="146964" y="88823"/>
            <a:ext cx="289534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Respect for Persons</a:t>
            </a:r>
          </a:p>
        </p:txBody>
      </p:sp>
      <p:sp>
        <p:nvSpPr>
          <p:cNvPr id="7" name="Rectangle 6">
            <a:extLst>
              <a:ext uri="{FF2B5EF4-FFF2-40B4-BE49-F238E27FC236}">
                <a16:creationId xmlns:a16="http://schemas.microsoft.com/office/drawing/2014/main" id="{3BD2C238-FB75-6C70-3DEB-F514C9AB1085}"/>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F0B7D500-FFD8-02FF-15A7-B5F5AEAE2E76}"/>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sp>
        <p:nvSpPr>
          <p:cNvPr id="3" name="TextBox 2">
            <a:extLst>
              <a:ext uri="{FF2B5EF4-FFF2-40B4-BE49-F238E27FC236}">
                <a16:creationId xmlns:a16="http://schemas.microsoft.com/office/drawing/2014/main" id="{44264A35-E7C5-4D57-0B2D-F3B9D759B863}"/>
              </a:ext>
            </a:extLst>
          </p:cNvPr>
          <p:cNvSpPr txBox="1"/>
          <p:nvPr/>
        </p:nvSpPr>
        <p:spPr>
          <a:xfrm>
            <a:off x="609600" y="1536174"/>
            <a:ext cx="10631510" cy="3785652"/>
          </a:xfrm>
          <a:prstGeom prst="rect">
            <a:avLst/>
          </a:prstGeom>
          <a:noFill/>
        </p:spPr>
        <p:txBody>
          <a:bodyPr wrap="square">
            <a:spAutoFit/>
          </a:bodyPr>
          <a:lstStyle/>
          <a:p>
            <a:r>
              <a:rPr lang="en-GB" sz="2000" dirty="0">
                <a:solidFill>
                  <a:srgbClr val="00326E"/>
                </a:solidFill>
                <a:effectLst/>
                <a:latin typeface="Avenir Book" panose="02000503020000020003" pitchFamily="2" charset="0"/>
              </a:rPr>
              <a:t>The principle of Respect for Persons is comprised of two key components:</a:t>
            </a:r>
            <a:br>
              <a:rPr lang="en-GB" sz="2000" dirty="0">
                <a:solidFill>
                  <a:srgbClr val="00326E"/>
                </a:solidFill>
                <a:effectLst/>
                <a:latin typeface="Avenir Book" panose="02000503020000020003" pitchFamily="2" charset="0"/>
              </a:rPr>
            </a:br>
            <a:endParaRPr lang="en-GB" sz="2000" dirty="0">
              <a:solidFill>
                <a:srgbClr val="00326E"/>
              </a:solidFill>
              <a:effectLst/>
              <a:latin typeface="Avenir Book" panose="02000503020000020003" pitchFamily="2" charset="0"/>
            </a:endParaRPr>
          </a:p>
          <a:p>
            <a:pPr marL="342900" indent="-342900">
              <a:buFont typeface="+mj-lt"/>
              <a:buAutoNum type="arabicPeriod"/>
            </a:pPr>
            <a:r>
              <a:rPr lang="en-GB" sz="2000" dirty="0">
                <a:solidFill>
                  <a:srgbClr val="00326E"/>
                </a:solidFill>
                <a:effectLst/>
                <a:latin typeface="Avenir Book" panose="02000503020000020003" pitchFamily="2" charset="0"/>
              </a:rPr>
              <a:t>Informed </a:t>
            </a:r>
            <a:r>
              <a:rPr lang="en-GB" sz="2000" dirty="0">
                <a:solidFill>
                  <a:srgbClr val="00326E"/>
                </a:solidFill>
                <a:latin typeface="Avenir Book" panose="02000503020000020003" pitchFamily="2" charset="0"/>
              </a:rPr>
              <a:t>Consent: </a:t>
            </a:r>
            <a:r>
              <a:rPr lang="en-GB" sz="2000" kern="0" dirty="0">
                <a:solidFill>
                  <a:srgbClr val="00326E"/>
                </a:solidFill>
                <a:effectLst/>
                <a:latin typeface="Avenir Book" panose="02000503020000020003" pitchFamily="2" charset="0"/>
                <a:ea typeface="Times New Roman" panose="02020603050405020304" pitchFamily="18" charset="0"/>
              </a:rPr>
              <a:t>"Respect for persons requires that subjects, to the degree that they are capable, be given the opportunity to choose what shall or shall not happen to them. This opportunity is provided when adequate standards for informed consent are satisfied" (The National Commission, 1979).</a:t>
            </a:r>
            <a:r>
              <a:rPr lang="en-GB" sz="2000" dirty="0">
                <a:solidFill>
                  <a:srgbClr val="00326E"/>
                </a:solidFill>
                <a:effectLst/>
                <a:latin typeface="Avenir Book" panose="02000503020000020003" pitchFamily="2" charset="0"/>
              </a:rPr>
              <a:t> These standards include:</a:t>
            </a:r>
          </a:p>
          <a:p>
            <a:pPr marL="342900" indent="-342900">
              <a:buAutoNum type="arabicPeriod"/>
            </a:pPr>
            <a:endParaRPr lang="en-GB" sz="2000" dirty="0">
              <a:solidFill>
                <a:srgbClr val="00326E"/>
              </a:solidFill>
              <a:latin typeface="Avenir Book" panose="02000503020000020003" pitchFamily="2" charset="0"/>
            </a:endParaRPr>
          </a:p>
          <a:p>
            <a:pPr marL="800100" lvl="1" indent="-342900">
              <a:buFont typeface="Arial" panose="020B0604020202020204" pitchFamily="34" charset="0"/>
              <a:buChar char="•"/>
            </a:pPr>
            <a:r>
              <a:rPr lang="en-GB" sz="2000" dirty="0">
                <a:solidFill>
                  <a:srgbClr val="00326E"/>
                </a:solidFill>
                <a:latin typeface="Avenir Book" panose="02000503020000020003" pitchFamily="2" charset="0"/>
              </a:rPr>
              <a:t>Information, necessary for full understanding</a:t>
            </a:r>
          </a:p>
          <a:p>
            <a:pPr marL="800100" lvl="1" indent="-342900">
              <a:buFont typeface="Arial" panose="020B0604020202020204" pitchFamily="34" charset="0"/>
              <a:buChar char="•"/>
            </a:pPr>
            <a:r>
              <a:rPr lang="en-GB" sz="2000" dirty="0">
                <a:solidFill>
                  <a:srgbClr val="00326E"/>
                </a:solidFill>
                <a:latin typeface="Avenir Book" panose="02000503020000020003" pitchFamily="2" charset="0"/>
              </a:rPr>
              <a:t>Comprehension, for which the investigating party is responsible for ascertaining</a:t>
            </a:r>
          </a:p>
          <a:p>
            <a:pPr marL="800100" lvl="1" indent="-342900">
              <a:buFont typeface="Arial" panose="020B0604020202020204" pitchFamily="34" charset="0"/>
              <a:buChar char="•"/>
            </a:pPr>
            <a:r>
              <a:rPr lang="en-GB" sz="2000" dirty="0">
                <a:solidFill>
                  <a:srgbClr val="00326E"/>
                </a:solidFill>
                <a:latin typeface="Avenir Book" panose="02000503020000020003" pitchFamily="2" charset="0"/>
              </a:rPr>
              <a:t>Voluntariness</a:t>
            </a:r>
          </a:p>
          <a:p>
            <a:pPr marL="342900" indent="-342900">
              <a:buAutoNum type="arabicPeriod"/>
            </a:pPr>
            <a:endParaRPr lang="en-GB" sz="2000" dirty="0">
              <a:solidFill>
                <a:srgbClr val="00326E"/>
              </a:solidFill>
              <a:effectLst/>
              <a:latin typeface="Avenir Book" panose="02000503020000020003" pitchFamily="2" charset="0"/>
            </a:endParaRPr>
          </a:p>
          <a:p>
            <a:pPr marL="342900" indent="-342900">
              <a:buAutoNum type="arabicPeriod"/>
            </a:pPr>
            <a:r>
              <a:rPr lang="en-GB" sz="2000" dirty="0">
                <a:solidFill>
                  <a:srgbClr val="00326E"/>
                </a:solidFill>
                <a:effectLst/>
                <a:latin typeface="Avenir Book" panose="02000503020000020003" pitchFamily="2" charset="0"/>
              </a:rPr>
              <a:t>Privacy</a:t>
            </a:r>
          </a:p>
        </p:txBody>
      </p:sp>
      <p:sp>
        <p:nvSpPr>
          <p:cNvPr id="5" name="TextBox 4">
            <a:extLst>
              <a:ext uri="{FF2B5EF4-FFF2-40B4-BE49-F238E27FC236}">
                <a16:creationId xmlns:a16="http://schemas.microsoft.com/office/drawing/2014/main" id="{7C44D6B1-1B1E-DA72-E484-179535181A18}"/>
              </a:ext>
            </a:extLst>
          </p:cNvPr>
          <p:cNvSpPr txBox="1"/>
          <p:nvPr/>
        </p:nvSpPr>
        <p:spPr>
          <a:xfrm>
            <a:off x="3234479" y="6269732"/>
            <a:ext cx="5723042" cy="338554"/>
          </a:xfrm>
          <a:prstGeom prst="rect">
            <a:avLst/>
          </a:prstGeom>
          <a:noFill/>
        </p:spPr>
        <p:txBody>
          <a:bodyPr wrap="none" rtlCol="0">
            <a:spAutoFit/>
          </a:bodyPr>
          <a:lstStyle/>
          <a:p>
            <a:pPr algn="ctr"/>
            <a:r>
              <a:rPr lang="en-GB" sz="800" noProof="0" dirty="0">
                <a:solidFill>
                  <a:srgbClr val="00326E"/>
                </a:solidFill>
                <a:latin typeface="Avenir Book" panose="02000503020000020003" pitchFamily="2" charset="0"/>
              </a:rPr>
              <a:t>Source: The Belmont Report. (1979). </a:t>
            </a:r>
            <a:r>
              <a:rPr lang="en-GB" sz="800" i="1" noProof="0" dirty="0">
                <a:solidFill>
                  <a:srgbClr val="00326E"/>
                </a:solidFill>
                <a:latin typeface="Avenir Book" panose="02000503020000020003" pitchFamily="2" charset="0"/>
              </a:rPr>
              <a:t>Ethical Principles and Guidelines for the Protection of Human Subjects of Research. </a:t>
            </a:r>
          </a:p>
          <a:p>
            <a:pPr algn="ctr"/>
            <a:r>
              <a:rPr lang="en-GB" sz="800" noProof="0" dirty="0">
                <a:solidFill>
                  <a:srgbClr val="00326E"/>
                </a:solidFill>
                <a:latin typeface="Avenir Book" panose="02000503020000020003" pitchFamily="2" charset="0"/>
              </a:rPr>
              <a:t>U.S. Health Department of Health and Human Services.</a:t>
            </a:r>
          </a:p>
        </p:txBody>
      </p:sp>
      <p:pic>
        <p:nvPicPr>
          <p:cNvPr id="9" name="Picture 6">
            <a:extLst>
              <a:ext uri="{FF2B5EF4-FFF2-40B4-BE49-F238E27FC236}">
                <a16:creationId xmlns:a16="http://schemas.microsoft.com/office/drawing/2014/main" id="{6C1D6C3B-B35C-4B07-84D5-AB3C090D25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A colorful letters and numbers&#10;&#10;Description automatically generated">
            <a:extLst>
              <a:ext uri="{FF2B5EF4-FFF2-40B4-BE49-F238E27FC236}">
                <a16:creationId xmlns:a16="http://schemas.microsoft.com/office/drawing/2014/main" id="{4E5EAECD-6469-A248-92F4-F687B67A9F16}"/>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13" name="Slide Number Placeholder 12">
            <a:extLst>
              <a:ext uri="{FF2B5EF4-FFF2-40B4-BE49-F238E27FC236}">
                <a16:creationId xmlns:a16="http://schemas.microsoft.com/office/drawing/2014/main" id="{D9A43BB6-0991-3470-1331-70C0E0BC1712}"/>
              </a:ext>
            </a:extLst>
          </p:cNvPr>
          <p:cNvSpPr>
            <a:spLocks noGrp="1"/>
          </p:cNvSpPr>
          <p:nvPr>
            <p:ph type="sldNum" sz="quarter" idx="4"/>
          </p:nvPr>
        </p:nvSpPr>
        <p:spPr/>
        <p:txBody>
          <a:bodyPr/>
          <a:lstStyle/>
          <a:p>
            <a:pPr algn="ctr"/>
            <a:fld id="{C42724C2-2594-D243-93D9-F6E5CF9F2B94}" type="slidenum">
              <a:rPr lang="en-GB" smtClean="0"/>
              <a:pPr algn="ctr"/>
              <a:t>6</a:t>
            </a:fld>
            <a:endParaRPr lang="en-GB" dirty="0"/>
          </a:p>
        </p:txBody>
      </p:sp>
    </p:spTree>
    <p:extLst>
      <p:ext uri="{BB962C8B-B14F-4D97-AF65-F5344CB8AC3E}">
        <p14:creationId xmlns:p14="http://schemas.microsoft.com/office/powerpoint/2010/main" val="653856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51BC1-B2FB-5246-81EA-1F9C0C568A6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B12021-493E-9548-67F0-B32327556F68}"/>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BFF28AC0-EA7F-9C16-8370-65B2B7D5E733}"/>
              </a:ext>
            </a:extLst>
          </p:cNvPr>
          <p:cNvSpPr txBox="1"/>
          <p:nvPr/>
        </p:nvSpPr>
        <p:spPr>
          <a:xfrm>
            <a:off x="146964" y="88823"/>
            <a:ext cx="1871025"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Beneficence</a:t>
            </a:r>
          </a:p>
        </p:txBody>
      </p:sp>
      <p:sp>
        <p:nvSpPr>
          <p:cNvPr id="7" name="Rectangle 6">
            <a:extLst>
              <a:ext uri="{FF2B5EF4-FFF2-40B4-BE49-F238E27FC236}">
                <a16:creationId xmlns:a16="http://schemas.microsoft.com/office/drawing/2014/main" id="{307A9FE6-510C-CC3C-BF98-D00C9B14445F}"/>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4E657018-355F-4271-7EBC-BEBF2A119018}"/>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sp>
        <p:nvSpPr>
          <p:cNvPr id="8" name="TextBox 7">
            <a:extLst>
              <a:ext uri="{FF2B5EF4-FFF2-40B4-BE49-F238E27FC236}">
                <a16:creationId xmlns:a16="http://schemas.microsoft.com/office/drawing/2014/main" id="{2432EAF5-6AAD-8C4A-18BA-7AEE07734790}"/>
              </a:ext>
            </a:extLst>
          </p:cNvPr>
          <p:cNvSpPr txBox="1"/>
          <p:nvPr/>
        </p:nvSpPr>
        <p:spPr>
          <a:xfrm>
            <a:off x="609600" y="2613392"/>
            <a:ext cx="10631510" cy="1631216"/>
          </a:xfrm>
          <a:prstGeom prst="rect">
            <a:avLst/>
          </a:prstGeom>
          <a:noFill/>
        </p:spPr>
        <p:txBody>
          <a:bodyPr wrap="square">
            <a:spAutoFit/>
          </a:bodyPr>
          <a:lstStyle/>
          <a:p>
            <a:r>
              <a:rPr lang="en-GB" sz="2000" dirty="0">
                <a:solidFill>
                  <a:srgbClr val="00326E"/>
                </a:solidFill>
                <a:effectLst/>
                <a:latin typeface="Avenir Book" panose="02000503020000020003" pitchFamily="2" charset="0"/>
              </a:rPr>
              <a:t>The principle of Beneficence is comprised of two key components:</a:t>
            </a:r>
            <a:br>
              <a:rPr lang="en-GB" sz="2000" dirty="0">
                <a:solidFill>
                  <a:srgbClr val="00326E"/>
                </a:solidFill>
                <a:effectLst/>
                <a:latin typeface="Avenir Book" panose="02000503020000020003" pitchFamily="2" charset="0"/>
              </a:rPr>
            </a:br>
            <a:endParaRPr lang="en-GB" sz="2000" dirty="0">
              <a:solidFill>
                <a:srgbClr val="00326E"/>
              </a:solidFill>
              <a:effectLst/>
              <a:latin typeface="Avenir Book" panose="02000503020000020003" pitchFamily="2" charset="0"/>
            </a:endParaRPr>
          </a:p>
          <a:p>
            <a:pPr marL="342900" indent="-342900">
              <a:buFont typeface="+mj-lt"/>
              <a:buAutoNum type="arabicPeriod"/>
            </a:pPr>
            <a:r>
              <a:rPr lang="en-GB" sz="2000" dirty="0">
                <a:solidFill>
                  <a:srgbClr val="00326E"/>
                </a:solidFill>
                <a:effectLst/>
                <a:latin typeface="Avenir Book" panose="02000503020000020003" pitchFamily="2" charset="0"/>
              </a:rPr>
              <a:t>Systematic Assessment of Risks and Benefits</a:t>
            </a:r>
            <a:endParaRPr lang="en-GB" sz="2000" kern="0" dirty="0">
              <a:solidFill>
                <a:srgbClr val="00326E"/>
              </a:solidFill>
              <a:latin typeface="Avenir Book" panose="02000503020000020003" pitchFamily="2" charset="0"/>
            </a:endParaRPr>
          </a:p>
          <a:p>
            <a:pPr marL="342900" indent="-342900">
              <a:buFont typeface="+mj-lt"/>
              <a:buAutoNum type="arabicPeriod"/>
            </a:pPr>
            <a:endParaRPr lang="en-GB" sz="2000" dirty="0">
              <a:solidFill>
                <a:srgbClr val="00326E"/>
              </a:solidFill>
              <a:effectLst/>
              <a:latin typeface="Avenir Book" panose="02000503020000020003" pitchFamily="2" charset="0"/>
            </a:endParaRPr>
          </a:p>
          <a:p>
            <a:pPr marL="342900" indent="-342900">
              <a:buAutoNum type="arabicPeriod"/>
            </a:pPr>
            <a:r>
              <a:rPr lang="en-GB" sz="2000" dirty="0">
                <a:solidFill>
                  <a:srgbClr val="00326E"/>
                </a:solidFill>
                <a:effectLst/>
                <a:latin typeface="Avenir Book" panose="02000503020000020003" pitchFamily="2" charset="0"/>
              </a:rPr>
              <a:t>Minimization of Risk</a:t>
            </a:r>
          </a:p>
        </p:txBody>
      </p:sp>
      <p:pic>
        <p:nvPicPr>
          <p:cNvPr id="9" name="Picture 6">
            <a:extLst>
              <a:ext uri="{FF2B5EF4-FFF2-40B4-BE49-F238E27FC236}">
                <a16:creationId xmlns:a16="http://schemas.microsoft.com/office/drawing/2014/main" id="{BA1212A0-5459-9E0D-E2B2-0178B84AA9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F8EA9B8A-7A8B-6D29-863B-5B6B248CAD2B}"/>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12" name="Slide Number Placeholder 11">
            <a:extLst>
              <a:ext uri="{FF2B5EF4-FFF2-40B4-BE49-F238E27FC236}">
                <a16:creationId xmlns:a16="http://schemas.microsoft.com/office/drawing/2014/main" id="{6D8E07BD-C6B7-D3BB-6CD1-D15DC6ADBADE}"/>
              </a:ext>
            </a:extLst>
          </p:cNvPr>
          <p:cNvSpPr>
            <a:spLocks noGrp="1"/>
          </p:cNvSpPr>
          <p:nvPr>
            <p:ph type="sldNum" sz="quarter" idx="4"/>
          </p:nvPr>
        </p:nvSpPr>
        <p:spPr/>
        <p:txBody>
          <a:bodyPr/>
          <a:lstStyle/>
          <a:p>
            <a:pPr algn="ctr"/>
            <a:fld id="{C42724C2-2594-D243-93D9-F6E5CF9F2B94}" type="slidenum">
              <a:rPr lang="en-GB" smtClean="0"/>
              <a:pPr algn="ctr"/>
              <a:t>7</a:t>
            </a:fld>
            <a:endParaRPr lang="en-GB" dirty="0"/>
          </a:p>
        </p:txBody>
      </p:sp>
    </p:spTree>
    <p:extLst>
      <p:ext uri="{BB962C8B-B14F-4D97-AF65-F5344CB8AC3E}">
        <p14:creationId xmlns:p14="http://schemas.microsoft.com/office/powerpoint/2010/main" val="17010408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9AA96-3087-91E1-E331-7A292C9A47C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66CF1C5-A4EE-CA80-D519-FA088EF69A3F}"/>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E3775A2F-3575-1CB8-E423-F613A1F29570}"/>
              </a:ext>
            </a:extLst>
          </p:cNvPr>
          <p:cNvSpPr txBox="1"/>
          <p:nvPr/>
        </p:nvSpPr>
        <p:spPr>
          <a:xfrm>
            <a:off x="146964" y="88823"/>
            <a:ext cx="113364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Justice</a:t>
            </a:r>
          </a:p>
        </p:txBody>
      </p:sp>
      <p:sp>
        <p:nvSpPr>
          <p:cNvPr id="7" name="Rectangle 6">
            <a:extLst>
              <a:ext uri="{FF2B5EF4-FFF2-40B4-BE49-F238E27FC236}">
                <a16:creationId xmlns:a16="http://schemas.microsoft.com/office/drawing/2014/main" id="{E091935A-1803-AAAF-024B-1F5DB0B8F359}"/>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67C1384A-F51A-8362-9C43-81C3F320E75C}"/>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sp>
        <p:nvSpPr>
          <p:cNvPr id="8" name="TextBox 7">
            <a:extLst>
              <a:ext uri="{FF2B5EF4-FFF2-40B4-BE49-F238E27FC236}">
                <a16:creationId xmlns:a16="http://schemas.microsoft.com/office/drawing/2014/main" id="{4A5DEDAC-8D0E-34E4-4201-B8CFD6B08E09}"/>
              </a:ext>
            </a:extLst>
          </p:cNvPr>
          <p:cNvSpPr txBox="1"/>
          <p:nvPr/>
        </p:nvSpPr>
        <p:spPr>
          <a:xfrm>
            <a:off x="609600" y="2305615"/>
            <a:ext cx="10631510" cy="2246769"/>
          </a:xfrm>
          <a:prstGeom prst="rect">
            <a:avLst/>
          </a:prstGeom>
          <a:noFill/>
        </p:spPr>
        <p:txBody>
          <a:bodyPr wrap="square">
            <a:spAutoFit/>
          </a:bodyPr>
          <a:lstStyle/>
          <a:p>
            <a:r>
              <a:rPr lang="en-GB" sz="2000" dirty="0">
                <a:solidFill>
                  <a:srgbClr val="00326E"/>
                </a:solidFill>
                <a:effectLst/>
                <a:latin typeface="Avenir Book" panose="02000503020000020003" pitchFamily="2" charset="0"/>
              </a:rPr>
              <a:t>The principle of Justice is comprised of two key components:</a:t>
            </a:r>
            <a:br>
              <a:rPr lang="en-GB" sz="2000" dirty="0">
                <a:solidFill>
                  <a:srgbClr val="00326E"/>
                </a:solidFill>
                <a:effectLst/>
                <a:latin typeface="Avenir Book" panose="02000503020000020003" pitchFamily="2" charset="0"/>
              </a:rPr>
            </a:br>
            <a:endParaRPr lang="en-GB" sz="2000" dirty="0">
              <a:solidFill>
                <a:srgbClr val="00326E"/>
              </a:solidFill>
              <a:effectLst/>
              <a:latin typeface="Avenir Book" panose="02000503020000020003" pitchFamily="2" charset="0"/>
            </a:endParaRPr>
          </a:p>
          <a:p>
            <a:pPr marL="342900" indent="-342900">
              <a:buFont typeface="+mj-lt"/>
              <a:buAutoNum type="arabicPeriod"/>
            </a:pPr>
            <a:r>
              <a:rPr lang="en-GB" sz="2000" dirty="0">
                <a:solidFill>
                  <a:srgbClr val="00326E"/>
                </a:solidFill>
                <a:effectLst/>
                <a:latin typeface="Avenir Book" panose="02000503020000020003" pitchFamily="2" charset="0"/>
              </a:rPr>
              <a:t>Selection of Subjects</a:t>
            </a:r>
          </a:p>
          <a:p>
            <a:pPr marL="342900" indent="-342900">
              <a:buFont typeface="+mj-lt"/>
              <a:buAutoNum type="arabicPeriod"/>
            </a:pPr>
            <a:endParaRPr lang="en-GB" sz="2000" dirty="0">
              <a:solidFill>
                <a:srgbClr val="00326E"/>
              </a:solidFill>
              <a:effectLst/>
              <a:latin typeface="Avenir Book" panose="02000503020000020003" pitchFamily="2" charset="0"/>
            </a:endParaRPr>
          </a:p>
          <a:p>
            <a:pPr marL="342900" indent="-342900">
              <a:buAutoNum type="arabicPeriod"/>
            </a:pPr>
            <a:r>
              <a:rPr lang="en-GB" sz="2000" dirty="0">
                <a:solidFill>
                  <a:srgbClr val="00326E"/>
                </a:solidFill>
                <a:effectLst/>
                <a:latin typeface="Avenir Book" panose="02000503020000020003" pitchFamily="2" charset="0"/>
                <a:ea typeface="Calibri" panose="020F0502020204030204" pitchFamily="34" charset="0"/>
              </a:rPr>
              <a:t>"Who ought to receive the benefits of research and bear its burdens? …An injustice occurs when some benefit to which a person is entitled is denied without good reason or when some burden is imposed unduly" (The National Commission, 1979</a:t>
            </a:r>
            <a:r>
              <a:rPr lang="en-GB" sz="2000" dirty="0">
                <a:solidFill>
                  <a:srgbClr val="00326E"/>
                </a:solidFill>
                <a:latin typeface="Avenir Book" panose="02000503020000020003" pitchFamily="2" charset="0"/>
                <a:ea typeface="Calibri" panose="020F0502020204030204" pitchFamily="34" charset="0"/>
              </a:rPr>
              <a:t>)</a:t>
            </a:r>
            <a:endParaRPr lang="en-GB" sz="2000" dirty="0">
              <a:solidFill>
                <a:srgbClr val="00326E"/>
              </a:solidFill>
              <a:effectLst/>
              <a:latin typeface="Avenir Book" panose="02000503020000020003" pitchFamily="2" charset="0"/>
            </a:endParaRPr>
          </a:p>
        </p:txBody>
      </p:sp>
      <p:pic>
        <p:nvPicPr>
          <p:cNvPr id="9" name="Picture 6">
            <a:extLst>
              <a:ext uri="{FF2B5EF4-FFF2-40B4-BE49-F238E27FC236}">
                <a16:creationId xmlns:a16="http://schemas.microsoft.com/office/drawing/2014/main" id="{2CDB0AD3-A4DD-C2E4-FA75-B5808D4B15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D50023DA-1D0D-090F-77BB-2A9C200547DC}"/>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12" name="Slide Number Placeholder 11">
            <a:extLst>
              <a:ext uri="{FF2B5EF4-FFF2-40B4-BE49-F238E27FC236}">
                <a16:creationId xmlns:a16="http://schemas.microsoft.com/office/drawing/2014/main" id="{65EF79E4-0318-746E-A12F-AC57FD8642DA}"/>
              </a:ext>
            </a:extLst>
          </p:cNvPr>
          <p:cNvSpPr>
            <a:spLocks noGrp="1"/>
          </p:cNvSpPr>
          <p:nvPr>
            <p:ph type="sldNum" sz="quarter" idx="4"/>
          </p:nvPr>
        </p:nvSpPr>
        <p:spPr/>
        <p:txBody>
          <a:bodyPr/>
          <a:lstStyle/>
          <a:p>
            <a:pPr algn="ctr"/>
            <a:fld id="{C42724C2-2594-D243-93D9-F6E5CF9F2B94}" type="slidenum">
              <a:rPr lang="en-GB" smtClean="0"/>
              <a:pPr algn="ctr"/>
              <a:t>8</a:t>
            </a:fld>
            <a:endParaRPr lang="en-GB" dirty="0"/>
          </a:p>
        </p:txBody>
      </p:sp>
    </p:spTree>
    <p:extLst>
      <p:ext uri="{BB962C8B-B14F-4D97-AF65-F5344CB8AC3E}">
        <p14:creationId xmlns:p14="http://schemas.microsoft.com/office/powerpoint/2010/main" val="36861114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CE9C8-99CA-F413-7DB3-05538F3ABF8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BA608BD-6E8C-BDDA-8A4B-5F1E7D9E4412}"/>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6822E2B5-6C75-DB8B-AB4E-DE8B4BACA934}"/>
              </a:ext>
            </a:extLst>
          </p:cNvPr>
          <p:cNvSpPr txBox="1"/>
          <p:nvPr/>
        </p:nvSpPr>
        <p:spPr>
          <a:xfrm>
            <a:off x="146964" y="88823"/>
            <a:ext cx="20624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Ethical Values</a:t>
            </a:r>
          </a:p>
        </p:txBody>
      </p:sp>
      <p:sp>
        <p:nvSpPr>
          <p:cNvPr id="7" name="Rectangle 6">
            <a:extLst>
              <a:ext uri="{FF2B5EF4-FFF2-40B4-BE49-F238E27FC236}">
                <a16:creationId xmlns:a16="http://schemas.microsoft.com/office/drawing/2014/main" id="{BA988535-401B-0C45-2DCA-18E7C188FD66}"/>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3ECB0B05-74CE-8653-7E0A-89B61904D6F2}"/>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6">
            <a:extLst>
              <a:ext uri="{FF2B5EF4-FFF2-40B4-BE49-F238E27FC236}">
                <a16:creationId xmlns:a16="http://schemas.microsoft.com/office/drawing/2014/main" id="{9A7E533B-B1CB-06C3-7650-C6C372E278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57F2E351-49B4-9F77-4910-7E0D26F74C8B}"/>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11" name="Slide Number Placeholder 10">
            <a:extLst>
              <a:ext uri="{FF2B5EF4-FFF2-40B4-BE49-F238E27FC236}">
                <a16:creationId xmlns:a16="http://schemas.microsoft.com/office/drawing/2014/main" id="{2935F29B-0718-37D8-2884-8A93A2824723}"/>
              </a:ext>
            </a:extLst>
          </p:cNvPr>
          <p:cNvSpPr>
            <a:spLocks noGrp="1"/>
          </p:cNvSpPr>
          <p:nvPr>
            <p:ph type="sldNum" sz="quarter" idx="4"/>
          </p:nvPr>
        </p:nvSpPr>
        <p:spPr/>
        <p:txBody>
          <a:bodyPr/>
          <a:lstStyle/>
          <a:p>
            <a:pPr algn="ctr"/>
            <a:fld id="{C42724C2-2594-D243-93D9-F6E5CF9F2B94}" type="slidenum">
              <a:rPr lang="en-GB" smtClean="0"/>
              <a:pPr algn="ctr"/>
              <a:t>9</a:t>
            </a:fld>
            <a:endParaRPr lang="en-GB" dirty="0"/>
          </a:p>
        </p:txBody>
      </p:sp>
    </p:spTree>
    <p:extLst>
      <p:ext uri="{BB962C8B-B14F-4D97-AF65-F5344CB8AC3E}">
        <p14:creationId xmlns:p14="http://schemas.microsoft.com/office/powerpoint/2010/main" val="24174476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96D2B-AE5A-CA9D-A57E-1EF847A38EE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7242402-A197-C918-DE04-5AF7139E8158}"/>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EF440DD1-488C-178C-F53A-D534230BA120}"/>
              </a:ext>
            </a:extLst>
          </p:cNvPr>
          <p:cNvSpPr txBox="1"/>
          <p:nvPr/>
        </p:nvSpPr>
        <p:spPr>
          <a:xfrm>
            <a:off x="146964" y="88823"/>
            <a:ext cx="20624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Ethical Values</a:t>
            </a:r>
          </a:p>
        </p:txBody>
      </p:sp>
      <p:sp>
        <p:nvSpPr>
          <p:cNvPr id="7" name="Rectangle 6">
            <a:extLst>
              <a:ext uri="{FF2B5EF4-FFF2-40B4-BE49-F238E27FC236}">
                <a16:creationId xmlns:a16="http://schemas.microsoft.com/office/drawing/2014/main" id="{D7B83899-3E3C-B1B8-034A-A79BF024918A}"/>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3DF5DE98-26C4-98EF-3C29-C0E8B9CE54C7}"/>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6">
            <a:extLst>
              <a:ext uri="{FF2B5EF4-FFF2-40B4-BE49-F238E27FC236}">
                <a16:creationId xmlns:a16="http://schemas.microsoft.com/office/drawing/2014/main" id="{D26AAB95-2016-7FBC-11D9-C7039DBC99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EEF3B13E-4A3A-B7FF-C61C-C0E6B2C22956}"/>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pic>
        <p:nvPicPr>
          <p:cNvPr id="3" name="Picture 2">
            <a:extLst>
              <a:ext uri="{FF2B5EF4-FFF2-40B4-BE49-F238E27FC236}">
                <a16:creationId xmlns:a16="http://schemas.microsoft.com/office/drawing/2014/main" id="{149B0351-29D9-7029-6174-A5C37DFD233D}"/>
              </a:ext>
            </a:extLst>
          </p:cNvPr>
          <p:cNvPicPr>
            <a:picLocks noChangeAspect="1"/>
          </p:cNvPicPr>
          <p:nvPr/>
        </p:nvPicPr>
        <p:blipFill>
          <a:blip r:embed="rId5"/>
          <a:stretch>
            <a:fillRect/>
          </a:stretch>
        </p:blipFill>
        <p:spPr>
          <a:xfrm>
            <a:off x="2209800" y="1535906"/>
            <a:ext cx="7772400" cy="3786187"/>
          </a:xfrm>
          <a:prstGeom prst="rect">
            <a:avLst/>
          </a:prstGeom>
        </p:spPr>
      </p:pic>
      <p:sp>
        <p:nvSpPr>
          <p:cNvPr id="8" name="Slide Number Placeholder 7">
            <a:extLst>
              <a:ext uri="{FF2B5EF4-FFF2-40B4-BE49-F238E27FC236}">
                <a16:creationId xmlns:a16="http://schemas.microsoft.com/office/drawing/2014/main" id="{9283359B-93D3-C421-A4CA-76D800111F02}"/>
              </a:ext>
            </a:extLst>
          </p:cNvPr>
          <p:cNvSpPr>
            <a:spLocks noGrp="1"/>
          </p:cNvSpPr>
          <p:nvPr>
            <p:ph type="sldNum" sz="quarter" idx="4"/>
          </p:nvPr>
        </p:nvSpPr>
        <p:spPr/>
        <p:txBody>
          <a:bodyPr/>
          <a:lstStyle/>
          <a:p>
            <a:pPr algn="ctr"/>
            <a:fld id="{C42724C2-2594-D243-93D9-F6E5CF9F2B94}" type="slidenum">
              <a:rPr lang="en-GB" smtClean="0"/>
              <a:pPr algn="ctr"/>
              <a:t>10</a:t>
            </a:fld>
            <a:endParaRPr lang="en-GB" dirty="0"/>
          </a:p>
        </p:txBody>
      </p:sp>
    </p:spTree>
    <p:extLst>
      <p:ext uri="{BB962C8B-B14F-4D97-AF65-F5344CB8AC3E}">
        <p14:creationId xmlns:p14="http://schemas.microsoft.com/office/powerpoint/2010/main" val="41703009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F02F5-296A-6466-5225-08740BCA445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45EB390-24E1-8863-6E29-179223F722EC}"/>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906931AC-82C3-27DF-4706-ED0A151945E9}"/>
              </a:ext>
            </a:extLst>
          </p:cNvPr>
          <p:cNvSpPr txBox="1"/>
          <p:nvPr/>
        </p:nvSpPr>
        <p:spPr>
          <a:xfrm>
            <a:off x="146964" y="88823"/>
            <a:ext cx="231896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Legal Concerns</a:t>
            </a:r>
          </a:p>
        </p:txBody>
      </p:sp>
      <p:sp>
        <p:nvSpPr>
          <p:cNvPr id="7" name="Rectangle 6">
            <a:extLst>
              <a:ext uri="{FF2B5EF4-FFF2-40B4-BE49-F238E27FC236}">
                <a16:creationId xmlns:a16="http://schemas.microsoft.com/office/drawing/2014/main" id="{BEA735C4-720F-E983-2635-01CF6DE007A9}"/>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BC1F36BF-D78E-2909-5E74-420FCDA6EEF9}"/>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6">
            <a:extLst>
              <a:ext uri="{FF2B5EF4-FFF2-40B4-BE49-F238E27FC236}">
                <a16:creationId xmlns:a16="http://schemas.microsoft.com/office/drawing/2014/main" id="{7ABAC6C4-3BEC-4E33-F238-C99B3F3206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357B592E-1055-9E73-1E98-2EB25356A652}"/>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11" name="Slide Number Placeholder 10">
            <a:extLst>
              <a:ext uri="{FF2B5EF4-FFF2-40B4-BE49-F238E27FC236}">
                <a16:creationId xmlns:a16="http://schemas.microsoft.com/office/drawing/2014/main" id="{EE62F347-B351-3C86-8509-86978311170A}"/>
              </a:ext>
            </a:extLst>
          </p:cNvPr>
          <p:cNvSpPr>
            <a:spLocks noGrp="1"/>
          </p:cNvSpPr>
          <p:nvPr>
            <p:ph type="sldNum" sz="quarter" idx="4"/>
          </p:nvPr>
        </p:nvSpPr>
        <p:spPr/>
        <p:txBody>
          <a:bodyPr/>
          <a:lstStyle/>
          <a:p>
            <a:pPr algn="ctr"/>
            <a:fld id="{C42724C2-2594-D243-93D9-F6E5CF9F2B94}" type="slidenum">
              <a:rPr lang="en-GB" smtClean="0"/>
              <a:pPr algn="ctr"/>
              <a:t>11</a:t>
            </a:fld>
            <a:endParaRPr lang="en-GB" dirty="0"/>
          </a:p>
        </p:txBody>
      </p:sp>
      <p:grpSp>
        <p:nvGrpSpPr>
          <p:cNvPr id="41" name="Group 40">
            <a:extLst>
              <a:ext uri="{FF2B5EF4-FFF2-40B4-BE49-F238E27FC236}">
                <a16:creationId xmlns:a16="http://schemas.microsoft.com/office/drawing/2014/main" id="{CF057B24-5F74-1549-6742-5C28F9942869}"/>
              </a:ext>
            </a:extLst>
          </p:cNvPr>
          <p:cNvGrpSpPr/>
          <p:nvPr/>
        </p:nvGrpSpPr>
        <p:grpSpPr>
          <a:xfrm>
            <a:off x="774759" y="1637717"/>
            <a:ext cx="10631183" cy="3652242"/>
            <a:chOff x="160647" y="1259383"/>
            <a:chExt cx="10631183" cy="3652242"/>
          </a:xfrm>
        </p:grpSpPr>
        <p:sp>
          <p:nvSpPr>
            <p:cNvPr id="21" name="Rectangle 20">
              <a:extLst>
                <a:ext uri="{FF2B5EF4-FFF2-40B4-BE49-F238E27FC236}">
                  <a16:creationId xmlns:a16="http://schemas.microsoft.com/office/drawing/2014/main" id="{0076379C-CF0C-0D36-D5E2-19F199EA7D27}"/>
                </a:ext>
              </a:extLst>
            </p:cNvPr>
            <p:cNvSpPr/>
            <p:nvPr/>
          </p:nvSpPr>
          <p:spPr>
            <a:xfrm>
              <a:off x="731543" y="1259385"/>
              <a:ext cx="934193" cy="934193"/>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a:lstStyle/>
            <a:p>
              <a:endParaRPr lang="en-GB"/>
            </a:p>
          </p:txBody>
        </p:sp>
        <p:sp>
          <p:nvSpPr>
            <p:cNvPr id="22" name="Rectangle 21" descr="Head with Gears">
              <a:extLst>
                <a:ext uri="{FF2B5EF4-FFF2-40B4-BE49-F238E27FC236}">
                  <a16:creationId xmlns:a16="http://schemas.microsoft.com/office/drawing/2014/main" id="{C20C7945-939E-D108-FE25-0F26F1CF570A}"/>
                </a:ext>
              </a:extLst>
            </p:cNvPr>
            <p:cNvSpPr/>
            <p:nvPr/>
          </p:nvSpPr>
          <p:spPr>
            <a:xfrm>
              <a:off x="3583276" y="1259384"/>
              <a:ext cx="934193" cy="934193"/>
            </a:xfrm>
            <a:prstGeom prst="rect">
              <a:avLst/>
            </a:prstGeom>
            <a:blipFill rotWithShape="1">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a:blipFill>
          </p:spPr>
          <p:style>
            <a:lnRef idx="2">
              <a:schemeClr val="lt1">
                <a:hueOff val="0"/>
                <a:satOff val="0"/>
                <a:lumOff val="0"/>
                <a:alphaOff val="0"/>
              </a:schemeClr>
            </a:lnRef>
            <a:fillRef idx="1">
              <a:scrgbClr r="0" g="0" b="0"/>
            </a:fillRef>
            <a:effectRef idx="0">
              <a:schemeClr val="accent3">
                <a:hueOff val="-2765889"/>
                <a:satOff val="0"/>
                <a:lumOff val="6210"/>
                <a:alphaOff val="0"/>
              </a:schemeClr>
            </a:effectRef>
            <a:fontRef idx="minor">
              <a:schemeClr val="lt1"/>
            </a:fontRef>
          </p:style>
          <p:txBody>
            <a:bodyPr/>
            <a:lstStyle/>
            <a:p>
              <a:endParaRPr lang="en-GB"/>
            </a:p>
          </p:txBody>
        </p:sp>
        <p:sp>
          <p:nvSpPr>
            <p:cNvPr id="23" name="Rectangle 22" descr="Handshake">
              <a:extLst>
                <a:ext uri="{FF2B5EF4-FFF2-40B4-BE49-F238E27FC236}">
                  <a16:creationId xmlns:a16="http://schemas.microsoft.com/office/drawing/2014/main" id="{4AC0E2A3-98C7-B291-96C4-FA45D573D2A2}"/>
                </a:ext>
              </a:extLst>
            </p:cNvPr>
            <p:cNvSpPr/>
            <p:nvPr/>
          </p:nvSpPr>
          <p:spPr>
            <a:xfrm>
              <a:off x="6435009" y="1259383"/>
              <a:ext cx="934193" cy="934193"/>
            </a:xfrm>
            <a:prstGeom prst="rect">
              <a:avLst/>
            </a:prstGeom>
            <a: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p:spPr>
          <p:style>
            <a:lnRef idx="2">
              <a:schemeClr val="lt1">
                <a:hueOff val="0"/>
                <a:satOff val="0"/>
                <a:lumOff val="0"/>
                <a:alphaOff val="0"/>
              </a:schemeClr>
            </a:lnRef>
            <a:fillRef idx="1">
              <a:scrgbClr r="0" g="0" b="0"/>
            </a:fillRef>
            <a:effectRef idx="0">
              <a:schemeClr val="accent3">
                <a:hueOff val="-5531779"/>
                <a:satOff val="0"/>
                <a:lumOff val="12421"/>
                <a:alphaOff val="0"/>
              </a:schemeClr>
            </a:effectRef>
            <a:fontRef idx="minor">
              <a:schemeClr val="lt1"/>
            </a:fontRef>
          </p:style>
          <p:txBody>
            <a:bodyPr/>
            <a:lstStyle/>
            <a:p>
              <a:endParaRPr lang="en-GB"/>
            </a:p>
          </p:txBody>
        </p:sp>
        <p:sp>
          <p:nvSpPr>
            <p:cNvPr id="24" name="Rectangle 23" descr="Judge">
              <a:extLst>
                <a:ext uri="{FF2B5EF4-FFF2-40B4-BE49-F238E27FC236}">
                  <a16:creationId xmlns:a16="http://schemas.microsoft.com/office/drawing/2014/main" id="{9316DD15-9228-6D84-0380-9D3A4671BA3C}"/>
                </a:ext>
              </a:extLst>
            </p:cNvPr>
            <p:cNvSpPr/>
            <p:nvPr/>
          </p:nvSpPr>
          <p:spPr>
            <a:xfrm>
              <a:off x="9286742" y="1259383"/>
              <a:ext cx="934193" cy="934193"/>
            </a:xfrm>
            <a:prstGeom prst="rect">
              <a:avLst/>
            </a:prstGeom>
            <a: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p:spPr>
          <p:style>
            <a:lnRef idx="2">
              <a:schemeClr val="lt1">
                <a:hueOff val="0"/>
                <a:satOff val="0"/>
                <a:lumOff val="0"/>
                <a:alphaOff val="0"/>
              </a:schemeClr>
            </a:lnRef>
            <a:fillRef idx="1">
              <a:scrgbClr r="0" g="0" b="0"/>
            </a:fillRef>
            <a:effectRef idx="0">
              <a:schemeClr val="accent3">
                <a:hueOff val="-8297668"/>
                <a:satOff val="0"/>
                <a:lumOff val="18631"/>
                <a:alphaOff val="0"/>
              </a:schemeClr>
            </a:effectRef>
            <a:fontRef idx="minor">
              <a:schemeClr val="lt1"/>
            </a:fontRef>
          </p:style>
          <p:txBody>
            <a:bodyPr/>
            <a:lstStyle/>
            <a:p>
              <a:endParaRPr lang="en-GB"/>
            </a:p>
          </p:txBody>
        </p:sp>
        <p:sp>
          <p:nvSpPr>
            <p:cNvPr id="37" name="TextBox 36">
              <a:extLst>
                <a:ext uri="{FF2B5EF4-FFF2-40B4-BE49-F238E27FC236}">
                  <a16:creationId xmlns:a16="http://schemas.microsoft.com/office/drawing/2014/main" id="{D9C8654F-B11E-7DC9-5438-D33F8E96AE88}"/>
                </a:ext>
              </a:extLst>
            </p:cNvPr>
            <p:cNvSpPr txBox="1"/>
            <p:nvPr/>
          </p:nvSpPr>
          <p:spPr>
            <a:xfrm>
              <a:off x="160647" y="3215005"/>
              <a:ext cx="2075984" cy="151909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latin typeface="Avenir Book" panose="02000503020000020003" pitchFamily="2" charset="0"/>
                </a:rPr>
                <a:t>Fairness</a:t>
              </a:r>
              <a:r>
                <a:rPr lang="en-GB" sz="1500" kern="1200" dirty="0">
                  <a:latin typeface="Avenir Book" panose="02000503020000020003" pitchFamily="2" charset="0"/>
                </a:rPr>
                <a:t> </a:t>
              </a:r>
            </a:p>
            <a:p>
              <a:pPr marL="0" lvl="0" indent="0" algn="ctr" defTabSz="666750">
                <a:lnSpc>
                  <a:spcPct val="100000"/>
                </a:lnSpc>
                <a:spcBef>
                  <a:spcPct val="0"/>
                </a:spcBef>
                <a:spcAft>
                  <a:spcPct val="35000"/>
                </a:spcAft>
                <a:buNone/>
              </a:pPr>
              <a:r>
                <a:rPr lang="en-GB" sz="1500" kern="1200" dirty="0">
                  <a:latin typeface="Avenir Book" panose="02000503020000020003" pitchFamily="2" charset="0"/>
                </a:rPr>
                <a:t>The capacity of an AI system to make decisions that are impartial, equitable and free from bias.  </a:t>
              </a:r>
              <a:endParaRPr lang="en-US" sz="1500" kern="1200" dirty="0">
                <a:latin typeface="Avenir Book" panose="02000503020000020003" pitchFamily="2" charset="0"/>
              </a:endParaRPr>
            </a:p>
          </p:txBody>
        </p:sp>
        <p:sp>
          <p:nvSpPr>
            <p:cNvPr id="38" name="TextBox 37">
              <a:extLst>
                <a:ext uri="{FF2B5EF4-FFF2-40B4-BE49-F238E27FC236}">
                  <a16:creationId xmlns:a16="http://schemas.microsoft.com/office/drawing/2014/main" id="{4D327F79-DDED-D8D6-ADC5-6E8A3C911D8A}"/>
                </a:ext>
              </a:extLst>
            </p:cNvPr>
            <p:cNvSpPr txBox="1"/>
            <p:nvPr/>
          </p:nvSpPr>
          <p:spPr>
            <a:xfrm>
              <a:off x="3012380" y="3215005"/>
              <a:ext cx="2075984" cy="130127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latin typeface="Avenir Book" panose="02000503020000020003" pitchFamily="2" charset="0"/>
                </a:rPr>
                <a:t>Transparency</a:t>
              </a:r>
              <a:r>
                <a:rPr lang="en-GB" sz="1500" kern="1200" dirty="0">
                  <a:latin typeface="Avenir Book" panose="02000503020000020003" pitchFamily="2" charset="0"/>
                </a:rPr>
                <a:t> </a:t>
              </a:r>
            </a:p>
            <a:p>
              <a:pPr marL="0" lvl="0" indent="0" algn="ctr" defTabSz="666750">
                <a:lnSpc>
                  <a:spcPct val="100000"/>
                </a:lnSpc>
                <a:spcBef>
                  <a:spcPct val="0"/>
                </a:spcBef>
                <a:spcAft>
                  <a:spcPct val="35000"/>
                </a:spcAft>
                <a:buNone/>
              </a:pPr>
              <a:r>
                <a:rPr lang="en-GB" sz="1500" kern="1200" dirty="0">
                  <a:latin typeface="Avenir Book" panose="02000503020000020003" pitchFamily="2" charset="0"/>
                </a:rPr>
                <a:t>The obligation to provide clear, accessible information about how an AI system operates.</a:t>
              </a:r>
              <a:endParaRPr lang="en-US" sz="1500" kern="1200" dirty="0">
                <a:latin typeface="Avenir Book" panose="02000503020000020003" pitchFamily="2" charset="0"/>
              </a:endParaRPr>
            </a:p>
          </p:txBody>
        </p:sp>
        <p:sp>
          <p:nvSpPr>
            <p:cNvPr id="39" name="TextBox 38">
              <a:extLst>
                <a:ext uri="{FF2B5EF4-FFF2-40B4-BE49-F238E27FC236}">
                  <a16:creationId xmlns:a16="http://schemas.microsoft.com/office/drawing/2014/main" id="{0CE736E1-5E72-50B3-FBE4-FFFCF831B89B}"/>
                </a:ext>
              </a:extLst>
            </p:cNvPr>
            <p:cNvSpPr txBox="1"/>
            <p:nvPr/>
          </p:nvSpPr>
          <p:spPr>
            <a:xfrm>
              <a:off x="5864113" y="3215005"/>
              <a:ext cx="2075984" cy="151909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latin typeface="Avenir Book" panose="02000503020000020003" pitchFamily="2" charset="0"/>
                </a:rPr>
                <a:t>Accountability</a:t>
              </a:r>
              <a:r>
                <a:rPr lang="en-GB" sz="1500" kern="1200" dirty="0">
                  <a:latin typeface="Avenir Book" panose="02000503020000020003" pitchFamily="2" charset="0"/>
                </a:rPr>
                <a:t> </a:t>
              </a:r>
            </a:p>
            <a:p>
              <a:pPr marL="0" lvl="0" indent="0" algn="ctr" defTabSz="666750">
                <a:lnSpc>
                  <a:spcPct val="100000"/>
                </a:lnSpc>
                <a:spcBef>
                  <a:spcPct val="0"/>
                </a:spcBef>
                <a:spcAft>
                  <a:spcPct val="35000"/>
                </a:spcAft>
                <a:buNone/>
              </a:pPr>
              <a:r>
                <a:rPr lang="en-GB" sz="1500" kern="1200" dirty="0">
                  <a:latin typeface="Avenir Book" panose="02000503020000020003" pitchFamily="2" charset="0"/>
                </a:rPr>
                <a:t>The obligation to hold relevant parties responsible for the actions and outcomes of an AI system.</a:t>
              </a:r>
              <a:endParaRPr lang="en-US" sz="1500" kern="1200" dirty="0">
                <a:latin typeface="Avenir Book" panose="02000503020000020003" pitchFamily="2" charset="0"/>
              </a:endParaRPr>
            </a:p>
          </p:txBody>
        </p:sp>
        <p:sp>
          <p:nvSpPr>
            <p:cNvPr id="40" name="TextBox 39">
              <a:extLst>
                <a:ext uri="{FF2B5EF4-FFF2-40B4-BE49-F238E27FC236}">
                  <a16:creationId xmlns:a16="http://schemas.microsoft.com/office/drawing/2014/main" id="{BAAAE713-E3BE-85E0-2916-CFF2A9A8D8D1}"/>
                </a:ext>
              </a:extLst>
            </p:cNvPr>
            <p:cNvSpPr txBox="1"/>
            <p:nvPr/>
          </p:nvSpPr>
          <p:spPr>
            <a:xfrm>
              <a:off x="8715846" y="3215005"/>
              <a:ext cx="2075984" cy="169662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latin typeface="Avenir Book" panose="02000503020000020003" pitchFamily="2" charset="0"/>
                </a:rPr>
                <a:t>Lawfulness</a:t>
              </a:r>
              <a:r>
                <a:rPr lang="en-GB" sz="1500" kern="1200" dirty="0">
                  <a:latin typeface="Avenir Book" panose="02000503020000020003" pitchFamily="2" charset="0"/>
                </a:rPr>
                <a:t> </a:t>
              </a:r>
            </a:p>
            <a:p>
              <a:pPr marL="0" lvl="0" indent="0" algn="ctr" defTabSz="666750">
                <a:lnSpc>
                  <a:spcPct val="100000"/>
                </a:lnSpc>
                <a:spcBef>
                  <a:spcPct val="0"/>
                </a:spcBef>
                <a:spcAft>
                  <a:spcPct val="35000"/>
                </a:spcAft>
                <a:buNone/>
              </a:pPr>
              <a:r>
                <a:rPr lang="en-GB" sz="1500" kern="1200" dirty="0">
                  <a:latin typeface="Avenir Book" panose="02000503020000020003" pitchFamily="2" charset="0"/>
                </a:rPr>
                <a:t>The requirement for an AI system to be developed and deployed in compliance with legal regulations and relevant standards. </a:t>
              </a:r>
              <a:endParaRPr lang="en-US" sz="1500" kern="1200" dirty="0">
                <a:latin typeface="Avenir Book" panose="02000503020000020003" pitchFamily="2" charset="0"/>
              </a:endParaRPr>
            </a:p>
          </p:txBody>
        </p:sp>
      </p:grpSp>
    </p:spTree>
    <p:extLst>
      <p:ext uri="{BB962C8B-B14F-4D97-AF65-F5344CB8AC3E}">
        <p14:creationId xmlns:p14="http://schemas.microsoft.com/office/powerpoint/2010/main" val="22701448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DF59C-562F-01C8-6394-50D77450A31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9517D8C-4881-EBD9-2EB3-78C71378F01B}"/>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C0ADA09B-0BE8-495C-203E-58E641D7F2F3}"/>
              </a:ext>
            </a:extLst>
          </p:cNvPr>
          <p:cNvSpPr txBox="1"/>
          <p:nvPr/>
        </p:nvSpPr>
        <p:spPr>
          <a:xfrm>
            <a:off x="146964" y="88823"/>
            <a:ext cx="159460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Protection</a:t>
            </a:r>
          </a:p>
        </p:txBody>
      </p:sp>
      <p:sp>
        <p:nvSpPr>
          <p:cNvPr id="7" name="Rectangle 6">
            <a:extLst>
              <a:ext uri="{FF2B5EF4-FFF2-40B4-BE49-F238E27FC236}">
                <a16:creationId xmlns:a16="http://schemas.microsoft.com/office/drawing/2014/main" id="{32A9B3E0-680D-AD88-2547-60F12A0F6600}"/>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3DB04EA7-98C1-2928-75C0-6BC5086232AC}"/>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6">
            <a:extLst>
              <a:ext uri="{FF2B5EF4-FFF2-40B4-BE49-F238E27FC236}">
                <a16:creationId xmlns:a16="http://schemas.microsoft.com/office/drawing/2014/main" id="{46D90A9B-8D36-32F7-8000-CC9A55C80B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BAD8BF5E-1C69-3AA4-15E3-5983DA82C46C}"/>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11" name="Slide Number Placeholder 10">
            <a:extLst>
              <a:ext uri="{FF2B5EF4-FFF2-40B4-BE49-F238E27FC236}">
                <a16:creationId xmlns:a16="http://schemas.microsoft.com/office/drawing/2014/main" id="{FA71F741-BA56-FBBB-25B7-2B9E54FD804C}"/>
              </a:ext>
            </a:extLst>
          </p:cNvPr>
          <p:cNvSpPr>
            <a:spLocks noGrp="1"/>
          </p:cNvSpPr>
          <p:nvPr>
            <p:ph type="sldNum" sz="quarter" idx="4"/>
          </p:nvPr>
        </p:nvSpPr>
        <p:spPr/>
        <p:txBody>
          <a:bodyPr/>
          <a:lstStyle/>
          <a:p>
            <a:pPr algn="ctr"/>
            <a:fld id="{C42724C2-2594-D243-93D9-F6E5CF9F2B94}" type="slidenum">
              <a:rPr lang="en-GB" smtClean="0"/>
              <a:pPr algn="ctr"/>
              <a:t>12</a:t>
            </a:fld>
            <a:endParaRPr lang="en-GB" dirty="0"/>
          </a:p>
        </p:txBody>
      </p:sp>
      <p:grpSp>
        <p:nvGrpSpPr>
          <p:cNvPr id="38" name="Group 37">
            <a:extLst>
              <a:ext uri="{FF2B5EF4-FFF2-40B4-BE49-F238E27FC236}">
                <a16:creationId xmlns:a16="http://schemas.microsoft.com/office/drawing/2014/main" id="{E15B11F9-1B14-D8E8-830C-B5ED3A39EBA9}"/>
              </a:ext>
            </a:extLst>
          </p:cNvPr>
          <p:cNvGrpSpPr/>
          <p:nvPr/>
        </p:nvGrpSpPr>
        <p:grpSpPr>
          <a:xfrm>
            <a:off x="774759" y="1718763"/>
            <a:ext cx="10631183" cy="3642346"/>
            <a:chOff x="780409" y="2458813"/>
            <a:chExt cx="10631183" cy="3642346"/>
          </a:xfrm>
        </p:grpSpPr>
        <p:grpSp>
          <p:nvGrpSpPr>
            <p:cNvPr id="14" name="Group 13">
              <a:extLst>
                <a:ext uri="{FF2B5EF4-FFF2-40B4-BE49-F238E27FC236}">
                  <a16:creationId xmlns:a16="http://schemas.microsoft.com/office/drawing/2014/main" id="{4FA82247-6FDC-0316-E491-B6762A102E72}"/>
                </a:ext>
              </a:extLst>
            </p:cNvPr>
            <p:cNvGrpSpPr/>
            <p:nvPr/>
          </p:nvGrpSpPr>
          <p:grpSpPr>
            <a:xfrm>
              <a:off x="780409" y="4404539"/>
              <a:ext cx="10631183" cy="1696620"/>
              <a:chOff x="160647" y="3215005"/>
              <a:chExt cx="10631183" cy="1696620"/>
            </a:xfrm>
          </p:grpSpPr>
          <p:sp>
            <p:nvSpPr>
              <p:cNvPr id="19" name="TextBox 18">
                <a:extLst>
                  <a:ext uri="{FF2B5EF4-FFF2-40B4-BE49-F238E27FC236}">
                    <a16:creationId xmlns:a16="http://schemas.microsoft.com/office/drawing/2014/main" id="{35F84CF4-B806-9BCB-0267-589CAA1D191B}"/>
                  </a:ext>
                </a:extLst>
              </p:cNvPr>
              <p:cNvSpPr txBox="1"/>
              <p:nvPr/>
            </p:nvSpPr>
            <p:spPr>
              <a:xfrm>
                <a:off x="160647" y="3215005"/>
                <a:ext cx="2075984" cy="151909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solidFill>
                      <a:schemeClr val="tx1"/>
                    </a:solidFill>
                    <a:latin typeface="Avenir Book" panose="02000503020000020003" pitchFamily="2" charset="0"/>
                  </a:rPr>
                  <a:t>Safety</a:t>
                </a:r>
                <a:r>
                  <a:rPr lang="en-GB" sz="1500" kern="1200" dirty="0">
                    <a:solidFill>
                      <a:schemeClr val="tx1"/>
                    </a:solidFill>
                    <a:latin typeface="Avenir Book" panose="02000503020000020003" pitchFamily="2" charset="0"/>
                  </a:rPr>
                  <a:t> </a:t>
                </a:r>
              </a:p>
              <a:p>
                <a:pPr algn="ctr" defTabSz="666750">
                  <a:spcBef>
                    <a:spcPct val="0"/>
                  </a:spcBef>
                  <a:spcAft>
                    <a:spcPct val="35000"/>
                  </a:spcAft>
                </a:pPr>
                <a:r>
                  <a:rPr lang="en-GB" sz="1500" kern="1200" dirty="0">
                    <a:solidFill>
                      <a:schemeClr val="tx1"/>
                    </a:solidFill>
                    <a:latin typeface="Avenir Book" panose="02000503020000020003" pitchFamily="2" charset="0"/>
                  </a:rPr>
                  <a:t>The</a:t>
                </a:r>
                <a:r>
                  <a:rPr lang="en-GB" sz="1500" dirty="0">
                    <a:solidFill>
                      <a:schemeClr val="tx1"/>
                    </a:solidFill>
                    <a:latin typeface="Avenir Book" panose="02000503020000020003" pitchFamily="2" charset="0"/>
                  </a:rPr>
                  <a:t> requirement for an AI system to be designed and implemented in such a way as to prevent harm.</a:t>
                </a:r>
              </a:p>
              <a:p>
                <a:pPr marL="0" lvl="0" indent="0" algn="ctr" defTabSz="666750">
                  <a:lnSpc>
                    <a:spcPct val="100000"/>
                  </a:lnSpc>
                  <a:spcBef>
                    <a:spcPct val="0"/>
                  </a:spcBef>
                  <a:spcAft>
                    <a:spcPct val="35000"/>
                  </a:spcAft>
                  <a:buNone/>
                </a:pPr>
                <a:r>
                  <a:rPr lang="en-GB" sz="1500" kern="1200" dirty="0">
                    <a:solidFill>
                      <a:schemeClr val="tx1"/>
                    </a:solidFill>
                    <a:latin typeface="Avenir Book" panose="02000503020000020003" pitchFamily="2" charset="0"/>
                  </a:rPr>
                  <a:t>  </a:t>
                </a:r>
                <a:endParaRPr lang="en-US" sz="1500" kern="1200" dirty="0">
                  <a:solidFill>
                    <a:schemeClr val="tx1"/>
                  </a:solidFill>
                  <a:latin typeface="Avenir Book" panose="02000503020000020003" pitchFamily="2" charset="0"/>
                </a:endParaRPr>
              </a:p>
            </p:txBody>
          </p:sp>
          <p:sp>
            <p:nvSpPr>
              <p:cNvPr id="20" name="TextBox 19">
                <a:extLst>
                  <a:ext uri="{FF2B5EF4-FFF2-40B4-BE49-F238E27FC236}">
                    <a16:creationId xmlns:a16="http://schemas.microsoft.com/office/drawing/2014/main" id="{B1A7F603-3B89-A24D-D186-E0B09EAEED53}"/>
                  </a:ext>
                </a:extLst>
              </p:cNvPr>
              <p:cNvSpPr txBox="1"/>
              <p:nvPr/>
            </p:nvSpPr>
            <p:spPr>
              <a:xfrm>
                <a:off x="3012380" y="3215005"/>
                <a:ext cx="2075984" cy="169662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solidFill>
                      <a:schemeClr val="tx1"/>
                    </a:solidFill>
                    <a:latin typeface="Avenir Book" panose="02000503020000020003" pitchFamily="2" charset="0"/>
                  </a:rPr>
                  <a:t>Reliability</a:t>
                </a:r>
                <a:r>
                  <a:rPr lang="en-GB" sz="1500" kern="1200" dirty="0">
                    <a:solidFill>
                      <a:schemeClr val="tx1"/>
                    </a:solidFill>
                    <a:latin typeface="Avenir Book" panose="02000503020000020003" pitchFamily="2" charset="0"/>
                  </a:rPr>
                  <a:t> </a:t>
                </a:r>
              </a:p>
              <a:p>
                <a:pPr algn="ctr"/>
                <a:r>
                  <a:rPr lang="en-GB" sz="1500" dirty="0">
                    <a:solidFill>
                      <a:schemeClr val="tx1"/>
                    </a:solidFill>
                    <a:latin typeface="Avenir Book" panose="02000503020000020003" pitchFamily="2" charset="0"/>
                  </a:rPr>
                  <a:t>The capacity of an AI system to perform consistently as intended, maintaining this functionality over time.</a:t>
                </a:r>
              </a:p>
            </p:txBody>
          </p:sp>
          <p:sp>
            <p:nvSpPr>
              <p:cNvPr id="21" name="TextBox 20">
                <a:extLst>
                  <a:ext uri="{FF2B5EF4-FFF2-40B4-BE49-F238E27FC236}">
                    <a16:creationId xmlns:a16="http://schemas.microsoft.com/office/drawing/2014/main" id="{F9C2E0D4-C297-B2BD-8187-3A25DED977AA}"/>
                  </a:ext>
                </a:extLst>
              </p:cNvPr>
              <p:cNvSpPr txBox="1"/>
              <p:nvPr/>
            </p:nvSpPr>
            <p:spPr>
              <a:xfrm>
                <a:off x="5864113" y="3215005"/>
                <a:ext cx="2075984" cy="151909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latin typeface="Avenir Book" panose="02000503020000020003" pitchFamily="2" charset="0"/>
                  </a:rPr>
                  <a:t>Privacy</a:t>
                </a:r>
                <a:r>
                  <a:rPr lang="en-GB" sz="1500" kern="1200" dirty="0">
                    <a:latin typeface="Avenir Book" panose="02000503020000020003" pitchFamily="2" charset="0"/>
                  </a:rPr>
                  <a:t> </a:t>
                </a:r>
              </a:p>
              <a:p>
                <a:pPr algn="ctr" defTabSz="666750">
                  <a:spcBef>
                    <a:spcPct val="0"/>
                  </a:spcBef>
                  <a:spcAft>
                    <a:spcPct val="35000"/>
                  </a:spcAft>
                </a:pPr>
                <a:r>
                  <a:rPr lang="en-GB" sz="1500" kern="1200" dirty="0">
                    <a:solidFill>
                      <a:schemeClr val="tx1"/>
                    </a:solidFill>
                    <a:latin typeface="Avenir Book" panose="02000503020000020003" pitchFamily="2" charset="0"/>
                  </a:rPr>
                  <a:t>The obligation </a:t>
                </a:r>
                <a:r>
                  <a:rPr lang="en-GB" sz="1500" dirty="0">
                    <a:solidFill>
                      <a:schemeClr val="tx1"/>
                    </a:solidFill>
                    <a:latin typeface="Avenir Book" panose="02000503020000020003" pitchFamily="2" charset="0"/>
                  </a:rPr>
                  <a:t>to uphold the rights of individuals to control their own data.</a:t>
                </a:r>
              </a:p>
              <a:p>
                <a:pPr marL="0" lvl="0" indent="0" algn="ctr" defTabSz="666750">
                  <a:lnSpc>
                    <a:spcPct val="100000"/>
                  </a:lnSpc>
                  <a:spcBef>
                    <a:spcPct val="0"/>
                  </a:spcBef>
                  <a:spcAft>
                    <a:spcPct val="35000"/>
                  </a:spcAft>
                  <a:buNone/>
                </a:pPr>
                <a:endParaRPr lang="en-US" sz="1500" kern="1200" dirty="0">
                  <a:latin typeface="Avenir Book" panose="02000503020000020003" pitchFamily="2" charset="0"/>
                </a:endParaRPr>
              </a:p>
            </p:txBody>
          </p:sp>
          <p:sp>
            <p:nvSpPr>
              <p:cNvPr id="22" name="TextBox 21">
                <a:extLst>
                  <a:ext uri="{FF2B5EF4-FFF2-40B4-BE49-F238E27FC236}">
                    <a16:creationId xmlns:a16="http://schemas.microsoft.com/office/drawing/2014/main" id="{66A9B34B-1395-91CF-A856-1F5D60FF1E38}"/>
                  </a:ext>
                </a:extLst>
              </p:cNvPr>
              <p:cNvSpPr txBox="1"/>
              <p:nvPr/>
            </p:nvSpPr>
            <p:spPr>
              <a:xfrm>
                <a:off x="8715846" y="3215005"/>
                <a:ext cx="2075984" cy="169662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latin typeface="Avenir Book" panose="02000503020000020003" pitchFamily="2" charset="0"/>
                  </a:rPr>
                  <a:t>Security</a:t>
                </a:r>
                <a:r>
                  <a:rPr lang="en-GB" sz="1500" kern="1200" dirty="0">
                    <a:latin typeface="Avenir Book" panose="02000503020000020003" pitchFamily="2" charset="0"/>
                  </a:rPr>
                  <a:t> </a:t>
                </a:r>
              </a:p>
              <a:p>
                <a:pPr lvl="0" algn="ctr" defTabSz="666750">
                  <a:spcBef>
                    <a:spcPct val="0"/>
                  </a:spcBef>
                  <a:spcAft>
                    <a:spcPct val="35000"/>
                  </a:spcAft>
                </a:pPr>
                <a:r>
                  <a:rPr lang="en-GB" sz="1500" dirty="0">
                    <a:solidFill>
                      <a:schemeClr val="tx1"/>
                    </a:solidFill>
                    <a:latin typeface="Avenir Book" panose="02000503020000020003" pitchFamily="2" charset="0"/>
                  </a:rPr>
                  <a:t>The requirement to safeguard of an AI system from unauthorized access and malicious attacks.</a:t>
                </a:r>
                <a:endParaRPr lang="en-US" sz="1500" kern="1200" dirty="0">
                  <a:solidFill>
                    <a:schemeClr val="tx1"/>
                  </a:solidFill>
                  <a:latin typeface="Avenir Book" panose="02000503020000020003" pitchFamily="2" charset="0"/>
                </a:endParaRPr>
              </a:p>
            </p:txBody>
          </p:sp>
        </p:grpSp>
        <p:pic>
          <p:nvPicPr>
            <p:cNvPr id="26" name="Graphic 25" descr="Lock with solid fill">
              <a:extLst>
                <a:ext uri="{FF2B5EF4-FFF2-40B4-BE49-F238E27FC236}">
                  <a16:creationId xmlns:a16="http://schemas.microsoft.com/office/drawing/2014/main" id="{6A304238-B42C-08A1-322C-AAF497D05A2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916400" y="2458813"/>
              <a:ext cx="914400" cy="914400"/>
            </a:xfrm>
            <a:prstGeom prst="rect">
              <a:avLst/>
            </a:prstGeom>
          </p:spPr>
        </p:pic>
        <p:pic>
          <p:nvPicPr>
            <p:cNvPr id="30" name="Graphic 29" descr="Eye Scan with solid fill">
              <a:extLst>
                <a:ext uri="{FF2B5EF4-FFF2-40B4-BE49-F238E27FC236}">
                  <a16:creationId xmlns:a16="http://schemas.microsoft.com/office/drawing/2014/main" id="{1A367534-BE5B-553D-258B-1C7B0D20883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64667" y="2485836"/>
              <a:ext cx="914400" cy="914400"/>
            </a:xfrm>
            <a:prstGeom prst="rect">
              <a:avLst/>
            </a:prstGeom>
          </p:spPr>
        </p:pic>
        <p:pic>
          <p:nvPicPr>
            <p:cNvPr id="34" name="Graphic 33" descr="Shield Tick with solid fill">
              <a:extLst>
                <a:ext uri="{FF2B5EF4-FFF2-40B4-BE49-F238E27FC236}">
                  <a16:creationId xmlns:a16="http://schemas.microsoft.com/office/drawing/2014/main" id="{4C73D4B5-8A64-C423-F3CA-FBFB323EBF8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61200" y="2485836"/>
              <a:ext cx="914400" cy="914400"/>
            </a:xfrm>
            <a:prstGeom prst="rect">
              <a:avLst/>
            </a:prstGeom>
          </p:spPr>
        </p:pic>
        <p:pic>
          <p:nvPicPr>
            <p:cNvPr id="37" name="Graphic 36" descr="Badge Tick with solid fill">
              <a:extLst>
                <a:ext uri="{FF2B5EF4-FFF2-40B4-BE49-F238E27FC236}">
                  <a16:creationId xmlns:a16="http://schemas.microsoft.com/office/drawing/2014/main" id="{CF9DAF50-2373-7BA7-C127-4F83215532A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212934" y="2489970"/>
              <a:ext cx="914400" cy="914400"/>
            </a:xfrm>
            <a:prstGeom prst="rect">
              <a:avLst/>
            </a:prstGeom>
          </p:spPr>
        </p:pic>
      </p:grpSp>
    </p:spTree>
    <p:extLst>
      <p:ext uri="{BB962C8B-B14F-4D97-AF65-F5344CB8AC3E}">
        <p14:creationId xmlns:p14="http://schemas.microsoft.com/office/powerpoint/2010/main" val="28451275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46CB5-C7AE-910B-9AD0-0D794A9070D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B2D1FB5-351A-728E-12C0-B7F6DAD8E13B}"/>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E5C19F1C-3500-CA62-6BDF-A9F3D995B0F4}"/>
              </a:ext>
            </a:extLst>
          </p:cNvPr>
          <p:cNvSpPr txBox="1"/>
          <p:nvPr/>
        </p:nvSpPr>
        <p:spPr>
          <a:xfrm>
            <a:off x="146964" y="88823"/>
            <a:ext cx="451027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Usability and Long-term Impact</a:t>
            </a:r>
          </a:p>
        </p:txBody>
      </p:sp>
      <p:sp>
        <p:nvSpPr>
          <p:cNvPr id="7" name="Rectangle 6">
            <a:extLst>
              <a:ext uri="{FF2B5EF4-FFF2-40B4-BE49-F238E27FC236}">
                <a16:creationId xmlns:a16="http://schemas.microsoft.com/office/drawing/2014/main" id="{3BDE9A34-6839-7050-037D-DB45254E7B87}"/>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79F8B6EE-71FF-C087-D2AD-943D5704505D}"/>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6">
            <a:extLst>
              <a:ext uri="{FF2B5EF4-FFF2-40B4-BE49-F238E27FC236}">
                <a16:creationId xmlns:a16="http://schemas.microsoft.com/office/drawing/2014/main" id="{9A17943D-CA89-4146-0E01-23392CFF8F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910A2B54-8D99-4D75-0A5D-CCA9B518E432}"/>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11" name="Slide Number Placeholder 10">
            <a:extLst>
              <a:ext uri="{FF2B5EF4-FFF2-40B4-BE49-F238E27FC236}">
                <a16:creationId xmlns:a16="http://schemas.microsoft.com/office/drawing/2014/main" id="{BF32D193-9B6D-6EDB-7EDA-02330B2BED14}"/>
              </a:ext>
            </a:extLst>
          </p:cNvPr>
          <p:cNvSpPr>
            <a:spLocks noGrp="1"/>
          </p:cNvSpPr>
          <p:nvPr>
            <p:ph type="sldNum" sz="quarter" idx="4"/>
          </p:nvPr>
        </p:nvSpPr>
        <p:spPr/>
        <p:txBody>
          <a:bodyPr/>
          <a:lstStyle/>
          <a:p>
            <a:pPr algn="ctr"/>
            <a:fld id="{C42724C2-2594-D243-93D9-F6E5CF9F2B94}" type="slidenum">
              <a:rPr lang="en-GB" smtClean="0"/>
              <a:pPr algn="ctr"/>
              <a:t>13</a:t>
            </a:fld>
            <a:endParaRPr lang="en-GB" dirty="0"/>
          </a:p>
        </p:txBody>
      </p:sp>
      <p:grpSp>
        <p:nvGrpSpPr>
          <p:cNvPr id="32" name="Group 31">
            <a:extLst>
              <a:ext uri="{FF2B5EF4-FFF2-40B4-BE49-F238E27FC236}">
                <a16:creationId xmlns:a16="http://schemas.microsoft.com/office/drawing/2014/main" id="{C74B081A-C51D-5A82-D6D1-0BDB97082D91}"/>
              </a:ext>
            </a:extLst>
          </p:cNvPr>
          <p:cNvGrpSpPr/>
          <p:nvPr/>
        </p:nvGrpSpPr>
        <p:grpSpPr>
          <a:xfrm>
            <a:off x="774759" y="1579918"/>
            <a:ext cx="10631183" cy="3920036"/>
            <a:chOff x="774759" y="1718763"/>
            <a:chExt cx="10631183" cy="3920036"/>
          </a:xfrm>
        </p:grpSpPr>
        <p:pic>
          <p:nvPicPr>
            <p:cNvPr id="15" name="Graphic 14" descr="Abacus with solid fill">
              <a:extLst>
                <a:ext uri="{FF2B5EF4-FFF2-40B4-BE49-F238E27FC236}">
                  <a16:creationId xmlns:a16="http://schemas.microsoft.com/office/drawing/2014/main" id="{CA6EBD2A-7204-1685-D496-23768554BD9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355551" y="1718763"/>
              <a:ext cx="914400" cy="914400"/>
            </a:xfrm>
            <a:prstGeom prst="rect">
              <a:avLst/>
            </a:prstGeom>
          </p:spPr>
        </p:pic>
        <p:pic>
          <p:nvPicPr>
            <p:cNvPr id="17" name="Graphic 16" descr="Universal access with solid fill">
              <a:extLst>
                <a:ext uri="{FF2B5EF4-FFF2-40B4-BE49-F238E27FC236}">
                  <a16:creationId xmlns:a16="http://schemas.microsoft.com/office/drawing/2014/main" id="{41D25EBC-FECA-BDB8-4383-E032401A420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258785" y="1718763"/>
              <a:ext cx="914400" cy="914400"/>
            </a:xfrm>
            <a:prstGeom prst="rect">
              <a:avLst/>
            </a:prstGeom>
          </p:spPr>
        </p:pic>
        <p:pic>
          <p:nvPicPr>
            <p:cNvPr id="19" name="Graphic 18" descr="Teacher with solid fill">
              <a:extLst>
                <a:ext uri="{FF2B5EF4-FFF2-40B4-BE49-F238E27FC236}">
                  <a16:creationId xmlns:a16="http://schemas.microsoft.com/office/drawing/2014/main" id="{A31E14AE-7D7C-3EB2-C799-C5F813B9E20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007516" y="1718763"/>
              <a:ext cx="914400" cy="914400"/>
            </a:xfrm>
            <a:prstGeom prst="rect">
              <a:avLst/>
            </a:prstGeom>
          </p:spPr>
        </p:pic>
        <p:pic>
          <p:nvPicPr>
            <p:cNvPr id="21" name="Graphic 20" descr="Sustainability with solid fill">
              <a:extLst>
                <a:ext uri="{FF2B5EF4-FFF2-40B4-BE49-F238E27FC236}">
                  <a16:creationId xmlns:a16="http://schemas.microsoft.com/office/drawing/2014/main" id="{3CDE0277-2E8A-39C9-8FBD-6760FF1B0A4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910750" y="1718763"/>
              <a:ext cx="914400" cy="914400"/>
            </a:xfrm>
            <a:prstGeom prst="rect">
              <a:avLst/>
            </a:prstGeom>
          </p:spPr>
        </p:pic>
        <p:grpSp>
          <p:nvGrpSpPr>
            <p:cNvPr id="23" name="Group 22">
              <a:extLst>
                <a:ext uri="{FF2B5EF4-FFF2-40B4-BE49-F238E27FC236}">
                  <a16:creationId xmlns:a16="http://schemas.microsoft.com/office/drawing/2014/main" id="{53A00AC2-C91D-B142-6E46-A6FF1B1548CB}"/>
                </a:ext>
              </a:extLst>
            </p:cNvPr>
            <p:cNvGrpSpPr/>
            <p:nvPr/>
          </p:nvGrpSpPr>
          <p:grpSpPr>
            <a:xfrm>
              <a:off x="774759" y="3664488"/>
              <a:ext cx="10631183" cy="1974311"/>
              <a:chOff x="160647" y="3215004"/>
              <a:chExt cx="10631183" cy="1974311"/>
            </a:xfrm>
          </p:grpSpPr>
          <p:sp>
            <p:nvSpPr>
              <p:cNvPr id="28" name="TextBox 27">
                <a:extLst>
                  <a:ext uri="{FF2B5EF4-FFF2-40B4-BE49-F238E27FC236}">
                    <a16:creationId xmlns:a16="http://schemas.microsoft.com/office/drawing/2014/main" id="{D9B3D0DC-B9C3-0816-89D0-599E1964BA23}"/>
                  </a:ext>
                </a:extLst>
              </p:cNvPr>
              <p:cNvSpPr txBox="1"/>
              <p:nvPr/>
            </p:nvSpPr>
            <p:spPr>
              <a:xfrm>
                <a:off x="160647" y="3215005"/>
                <a:ext cx="2075984" cy="151909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solidFill>
                      <a:schemeClr val="tx1"/>
                    </a:solidFill>
                    <a:latin typeface="Avenir Book" panose="02000503020000020003" pitchFamily="2" charset="0"/>
                  </a:rPr>
                  <a:t>Ease of Use</a:t>
                </a:r>
                <a:r>
                  <a:rPr lang="en-GB" sz="1500" kern="1200" dirty="0">
                    <a:solidFill>
                      <a:schemeClr val="tx1"/>
                    </a:solidFill>
                    <a:latin typeface="Avenir Book" panose="02000503020000020003" pitchFamily="2" charset="0"/>
                  </a:rPr>
                  <a:t> </a:t>
                </a:r>
              </a:p>
              <a:p>
                <a:pPr algn="ctr" defTabSz="666750">
                  <a:spcBef>
                    <a:spcPct val="0"/>
                  </a:spcBef>
                  <a:spcAft>
                    <a:spcPct val="35000"/>
                  </a:spcAft>
                </a:pPr>
                <a:r>
                  <a:rPr lang="en-GB" sz="1500" kern="1200" dirty="0">
                    <a:solidFill>
                      <a:schemeClr val="tx1"/>
                    </a:solidFill>
                    <a:latin typeface="Avenir Book" panose="02000503020000020003" pitchFamily="2" charset="0"/>
                  </a:rPr>
                  <a:t>The</a:t>
                </a:r>
                <a:r>
                  <a:rPr lang="en-GB" sz="1500" dirty="0">
                    <a:solidFill>
                      <a:schemeClr val="tx1"/>
                    </a:solidFill>
                    <a:latin typeface="Avenir Book" panose="02000503020000020003" pitchFamily="2" charset="0"/>
                  </a:rPr>
                  <a:t> requirement to design an AI system that is intuitive and easy to interact with.</a:t>
                </a:r>
                <a:r>
                  <a:rPr lang="en-GB" sz="1500" kern="1200" dirty="0">
                    <a:solidFill>
                      <a:schemeClr val="tx1"/>
                    </a:solidFill>
                    <a:latin typeface="Avenir Book" panose="02000503020000020003" pitchFamily="2" charset="0"/>
                  </a:rPr>
                  <a:t>  </a:t>
                </a:r>
                <a:endParaRPr lang="en-US" sz="1500" kern="1200" dirty="0">
                  <a:solidFill>
                    <a:schemeClr val="tx1"/>
                  </a:solidFill>
                  <a:latin typeface="Avenir Book" panose="02000503020000020003" pitchFamily="2" charset="0"/>
                </a:endParaRPr>
              </a:p>
            </p:txBody>
          </p:sp>
          <p:sp>
            <p:nvSpPr>
              <p:cNvPr id="29" name="TextBox 28">
                <a:extLst>
                  <a:ext uri="{FF2B5EF4-FFF2-40B4-BE49-F238E27FC236}">
                    <a16:creationId xmlns:a16="http://schemas.microsoft.com/office/drawing/2014/main" id="{E3355FD5-8A2D-7E74-8A6C-9F9EEB4D228D}"/>
                  </a:ext>
                </a:extLst>
              </p:cNvPr>
              <p:cNvSpPr txBox="1"/>
              <p:nvPr/>
            </p:nvSpPr>
            <p:spPr>
              <a:xfrm>
                <a:off x="3012380" y="3215004"/>
                <a:ext cx="2075984" cy="1974311"/>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solidFill>
                      <a:schemeClr val="tx1"/>
                    </a:solidFill>
                    <a:latin typeface="Avenir Book" panose="02000503020000020003" pitchFamily="2" charset="0"/>
                  </a:rPr>
                  <a:t>Accessibility</a:t>
                </a:r>
                <a:r>
                  <a:rPr lang="en-GB" sz="1500" kern="1200" dirty="0">
                    <a:solidFill>
                      <a:schemeClr val="tx1"/>
                    </a:solidFill>
                    <a:latin typeface="Avenir Book" panose="02000503020000020003" pitchFamily="2" charset="0"/>
                  </a:rPr>
                  <a:t> </a:t>
                </a:r>
              </a:p>
              <a:p>
                <a:pPr algn="ctr"/>
                <a:r>
                  <a:rPr lang="en-GB" sz="1500" dirty="0">
                    <a:solidFill>
                      <a:schemeClr val="tx1"/>
                    </a:solidFill>
                    <a:latin typeface="Avenir Book" panose="02000503020000020003" pitchFamily="2" charset="0"/>
                  </a:rPr>
                  <a:t>The obligation to ensure that an AI system can be used by people with diverse abilities and is available to people from diverse backgrounds.</a:t>
                </a:r>
              </a:p>
            </p:txBody>
          </p:sp>
          <p:sp>
            <p:nvSpPr>
              <p:cNvPr id="30" name="TextBox 29">
                <a:extLst>
                  <a:ext uri="{FF2B5EF4-FFF2-40B4-BE49-F238E27FC236}">
                    <a16:creationId xmlns:a16="http://schemas.microsoft.com/office/drawing/2014/main" id="{AFBB292D-A6D7-9551-68C0-C93AB52082DE}"/>
                  </a:ext>
                </a:extLst>
              </p:cNvPr>
              <p:cNvSpPr txBox="1"/>
              <p:nvPr/>
            </p:nvSpPr>
            <p:spPr>
              <a:xfrm>
                <a:off x="5864113" y="3215005"/>
                <a:ext cx="2075984" cy="1519093"/>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solidFill>
                      <a:schemeClr val="tx1"/>
                    </a:solidFill>
                    <a:latin typeface="Avenir Book" panose="02000503020000020003" pitchFamily="2" charset="0"/>
                  </a:rPr>
                  <a:t>Explainability</a:t>
                </a:r>
                <a:endParaRPr lang="en-GB" sz="1500" kern="1200" dirty="0">
                  <a:solidFill>
                    <a:schemeClr val="tx1"/>
                  </a:solidFill>
                  <a:latin typeface="Avenir Book" panose="02000503020000020003" pitchFamily="2" charset="0"/>
                </a:endParaRPr>
              </a:p>
              <a:p>
                <a:pPr algn="ctr"/>
                <a:r>
                  <a:rPr lang="en-GB" sz="1500" kern="1200" dirty="0">
                    <a:solidFill>
                      <a:schemeClr val="tx1"/>
                    </a:solidFill>
                    <a:latin typeface="Avenir Book" panose="02000503020000020003" pitchFamily="2" charset="0"/>
                  </a:rPr>
                  <a:t>The obligation </a:t>
                </a:r>
                <a:r>
                  <a:rPr lang="en-GB" sz="1500" dirty="0">
                    <a:solidFill>
                      <a:schemeClr val="tx1"/>
                    </a:solidFill>
                    <a:latin typeface="Avenir Book" panose="02000503020000020003" pitchFamily="2" charset="0"/>
                  </a:rPr>
                  <a:t>to provide clarification on the rationale behind the the decision-making process of an AI system.</a:t>
                </a:r>
              </a:p>
            </p:txBody>
          </p:sp>
          <p:sp>
            <p:nvSpPr>
              <p:cNvPr id="31" name="TextBox 30">
                <a:extLst>
                  <a:ext uri="{FF2B5EF4-FFF2-40B4-BE49-F238E27FC236}">
                    <a16:creationId xmlns:a16="http://schemas.microsoft.com/office/drawing/2014/main" id="{E45F85FC-9500-DCF1-A1F7-3973C3F776AB}"/>
                  </a:ext>
                </a:extLst>
              </p:cNvPr>
              <p:cNvSpPr txBox="1"/>
              <p:nvPr/>
            </p:nvSpPr>
            <p:spPr>
              <a:xfrm>
                <a:off x="8715846" y="3215005"/>
                <a:ext cx="2075984" cy="169662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pPr>
                <a:r>
                  <a:rPr lang="en-GB" sz="1500" b="1" kern="1200" dirty="0">
                    <a:solidFill>
                      <a:schemeClr val="tx1"/>
                    </a:solidFill>
                    <a:latin typeface="Avenir Book" panose="02000503020000020003" pitchFamily="2" charset="0"/>
                  </a:rPr>
                  <a:t>Sustainability</a:t>
                </a:r>
                <a:r>
                  <a:rPr lang="en-GB" sz="1500" kern="1200" dirty="0">
                    <a:solidFill>
                      <a:schemeClr val="tx1"/>
                    </a:solidFill>
                    <a:latin typeface="Avenir Book" panose="02000503020000020003" pitchFamily="2" charset="0"/>
                  </a:rPr>
                  <a:t> </a:t>
                </a:r>
              </a:p>
              <a:p>
                <a:pPr lvl="0" algn="ctr" defTabSz="666750">
                  <a:spcBef>
                    <a:spcPct val="0"/>
                  </a:spcBef>
                  <a:spcAft>
                    <a:spcPct val="35000"/>
                  </a:spcAft>
                </a:pPr>
                <a:r>
                  <a:rPr lang="en-GB" sz="1500" dirty="0">
                    <a:solidFill>
                      <a:schemeClr val="tx1"/>
                    </a:solidFill>
                    <a:latin typeface="Avenir Book" panose="02000503020000020003" pitchFamily="2" charset="0"/>
                  </a:rPr>
                  <a:t>The obligation to consider the long-term impact on the environment, society, and economy in the design of an AI system.</a:t>
                </a:r>
                <a:endParaRPr lang="en-US" sz="1500" kern="1200" dirty="0">
                  <a:solidFill>
                    <a:schemeClr val="tx1"/>
                  </a:solidFill>
                  <a:latin typeface="Avenir Book" panose="02000503020000020003" pitchFamily="2" charset="0"/>
                </a:endParaRPr>
              </a:p>
            </p:txBody>
          </p:sp>
        </p:grpSp>
      </p:grpSp>
    </p:spTree>
    <p:extLst>
      <p:ext uri="{BB962C8B-B14F-4D97-AF65-F5344CB8AC3E}">
        <p14:creationId xmlns:p14="http://schemas.microsoft.com/office/powerpoint/2010/main" val="18827025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F3D04-9670-8014-15C8-E10C4C98B59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C88F55B-0AD7-4E90-663E-392BA4C9A76D}"/>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547B8166-8787-97D0-D789-88830894AAC8}"/>
              </a:ext>
            </a:extLst>
          </p:cNvPr>
          <p:cNvSpPr txBox="1"/>
          <p:nvPr/>
        </p:nvSpPr>
        <p:spPr>
          <a:xfrm>
            <a:off x="146964" y="88823"/>
            <a:ext cx="240001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Ethical Practices</a:t>
            </a:r>
          </a:p>
        </p:txBody>
      </p:sp>
      <p:sp>
        <p:nvSpPr>
          <p:cNvPr id="7" name="Rectangle 6">
            <a:extLst>
              <a:ext uri="{FF2B5EF4-FFF2-40B4-BE49-F238E27FC236}">
                <a16:creationId xmlns:a16="http://schemas.microsoft.com/office/drawing/2014/main" id="{2723BEA6-2882-6186-3527-F482E7997564}"/>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F6658BBB-4D0A-FCE0-75D1-5B3012253E46}"/>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6">
            <a:extLst>
              <a:ext uri="{FF2B5EF4-FFF2-40B4-BE49-F238E27FC236}">
                <a16:creationId xmlns:a16="http://schemas.microsoft.com/office/drawing/2014/main" id="{581C3B50-2A30-EF80-12D3-62F4CCDFFD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71B6E0EF-0F70-9615-03D4-83AF950203FE}"/>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pic>
        <p:nvPicPr>
          <p:cNvPr id="5" name="Picture 4">
            <a:extLst>
              <a:ext uri="{FF2B5EF4-FFF2-40B4-BE49-F238E27FC236}">
                <a16:creationId xmlns:a16="http://schemas.microsoft.com/office/drawing/2014/main" id="{8B8CFB17-8E58-465A-A875-9A48389BC107}"/>
              </a:ext>
            </a:extLst>
          </p:cNvPr>
          <p:cNvPicPr>
            <a:picLocks noChangeAspect="1"/>
          </p:cNvPicPr>
          <p:nvPr/>
        </p:nvPicPr>
        <p:blipFill>
          <a:blip r:embed="rId5"/>
          <a:stretch>
            <a:fillRect/>
          </a:stretch>
        </p:blipFill>
        <p:spPr>
          <a:xfrm>
            <a:off x="2209800" y="1116014"/>
            <a:ext cx="7772400" cy="4690131"/>
          </a:xfrm>
          <a:prstGeom prst="rect">
            <a:avLst/>
          </a:prstGeom>
        </p:spPr>
      </p:pic>
      <p:sp>
        <p:nvSpPr>
          <p:cNvPr id="11" name="Slide Number Placeholder 10">
            <a:extLst>
              <a:ext uri="{FF2B5EF4-FFF2-40B4-BE49-F238E27FC236}">
                <a16:creationId xmlns:a16="http://schemas.microsoft.com/office/drawing/2014/main" id="{AB4EAA07-634A-F1EA-5239-CCA4CCDC5FB7}"/>
              </a:ext>
            </a:extLst>
          </p:cNvPr>
          <p:cNvSpPr>
            <a:spLocks noGrp="1"/>
          </p:cNvSpPr>
          <p:nvPr>
            <p:ph type="sldNum" sz="quarter" idx="4"/>
          </p:nvPr>
        </p:nvSpPr>
        <p:spPr/>
        <p:txBody>
          <a:bodyPr/>
          <a:lstStyle/>
          <a:p>
            <a:pPr algn="ctr"/>
            <a:fld id="{C42724C2-2594-D243-93D9-F6E5CF9F2B94}" type="slidenum">
              <a:rPr lang="en-GB" smtClean="0"/>
              <a:pPr algn="ctr"/>
              <a:t>14</a:t>
            </a:fld>
            <a:endParaRPr lang="en-GB" dirty="0"/>
          </a:p>
        </p:txBody>
      </p:sp>
    </p:spTree>
    <p:extLst>
      <p:ext uri="{BB962C8B-B14F-4D97-AF65-F5344CB8AC3E}">
        <p14:creationId xmlns:p14="http://schemas.microsoft.com/office/powerpoint/2010/main" val="2629451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01274-C730-F416-D56C-222CDDC9A89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40FFCEB-8B58-4FDC-5141-954CFFE2BB6F}"/>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7A82181B-AC12-FC8E-2B30-D9261AA24665}"/>
              </a:ext>
            </a:extLst>
          </p:cNvPr>
          <p:cNvSpPr txBox="1"/>
          <p:nvPr/>
        </p:nvSpPr>
        <p:spPr>
          <a:xfrm>
            <a:off x="146964" y="88823"/>
            <a:ext cx="7710957"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Does the AI System Provide Meaningful Improvement?</a:t>
            </a:r>
          </a:p>
        </p:txBody>
      </p:sp>
      <p:sp>
        <p:nvSpPr>
          <p:cNvPr id="7" name="Rectangle 6">
            <a:extLst>
              <a:ext uri="{FF2B5EF4-FFF2-40B4-BE49-F238E27FC236}">
                <a16:creationId xmlns:a16="http://schemas.microsoft.com/office/drawing/2014/main" id="{9ECEE410-4DD5-0B7F-A036-A7A646697B9B}"/>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F38B8D2E-6804-5A0B-5CDB-A6DE3EA68315}"/>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6">
            <a:extLst>
              <a:ext uri="{FF2B5EF4-FFF2-40B4-BE49-F238E27FC236}">
                <a16:creationId xmlns:a16="http://schemas.microsoft.com/office/drawing/2014/main" id="{958B8CF0-5815-98C4-5D66-92B6BDC18F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CBF1AFFF-961D-30AB-F3B2-BF4B6CD86159}"/>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3" name="TextBox 2">
            <a:extLst>
              <a:ext uri="{FF2B5EF4-FFF2-40B4-BE49-F238E27FC236}">
                <a16:creationId xmlns:a16="http://schemas.microsoft.com/office/drawing/2014/main" id="{3E283499-9670-DE6D-45FF-C67A06370094}"/>
              </a:ext>
            </a:extLst>
          </p:cNvPr>
          <p:cNvSpPr txBox="1"/>
          <p:nvPr/>
        </p:nvSpPr>
        <p:spPr>
          <a:xfrm>
            <a:off x="609600" y="1690062"/>
            <a:ext cx="10631510" cy="3477875"/>
          </a:xfrm>
          <a:prstGeom prst="rect">
            <a:avLst/>
          </a:prstGeom>
          <a:noFill/>
        </p:spPr>
        <p:txBody>
          <a:bodyPr wrap="square">
            <a:spAutoFit/>
          </a:bodyPr>
          <a:lstStyle/>
          <a:p>
            <a:r>
              <a:rPr lang="en-GB" sz="2000" b="1" dirty="0">
                <a:solidFill>
                  <a:srgbClr val="00326E"/>
                </a:solidFill>
                <a:latin typeface="Avenir Book" panose="02000503020000020003" pitchFamily="2" charset="0"/>
              </a:rPr>
              <a:t>User</a:t>
            </a:r>
            <a:r>
              <a:rPr lang="en-GB" sz="2000" dirty="0">
                <a:solidFill>
                  <a:srgbClr val="00326E"/>
                </a:solidFill>
                <a:latin typeface="Avenir Book" panose="02000503020000020003" pitchFamily="2" charset="0"/>
              </a:rPr>
              <a:t> </a:t>
            </a:r>
          </a:p>
          <a:p>
            <a:endParaRPr lang="en-GB" sz="2000" dirty="0">
              <a:solidFill>
                <a:srgbClr val="00326E"/>
              </a:solidFill>
              <a:latin typeface="Avenir Book" panose="02000503020000020003" pitchFamily="2" charset="0"/>
            </a:endParaRPr>
          </a:p>
          <a:p>
            <a:r>
              <a:rPr lang="en-GB" sz="2000" dirty="0">
                <a:solidFill>
                  <a:srgbClr val="00326E"/>
                </a:solidFill>
                <a:latin typeface="Avenir Book" panose="02000503020000020003" pitchFamily="2" charset="0"/>
              </a:rPr>
              <a:t>Does the AI system solve a core problem? </a:t>
            </a:r>
          </a:p>
          <a:p>
            <a:endParaRPr lang="en-GB" sz="2000" dirty="0">
              <a:solidFill>
                <a:srgbClr val="00326E"/>
              </a:solidFill>
              <a:effectLst/>
              <a:latin typeface="Avenir Book" panose="02000503020000020003" pitchFamily="2" charset="0"/>
            </a:endParaRPr>
          </a:p>
          <a:p>
            <a:r>
              <a:rPr lang="en-GB" sz="2000" b="1" dirty="0">
                <a:solidFill>
                  <a:srgbClr val="00326E"/>
                </a:solidFill>
                <a:latin typeface="Avenir Book" panose="02000503020000020003" pitchFamily="2" charset="0"/>
              </a:rPr>
              <a:t>Professional</a:t>
            </a:r>
          </a:p>
          <a:p>
            <a:endParaRPr lang="en-GB" sz="2000" b="1" dirty="0">
              <a:solidFill>
                <a:srgbClr val="00326E"/>
              </a:solidFill>
              <a:latin typeface="Avenir Book" panose="02000503020000020003" pitchFamily="2" charset="0"/>
            </a:endParaRPr>
          </a:p>
          <a:p>
            <a:r>
              <a:rPr lang="en-GB" sz="2000" dirty="0">
                <a:solidFill>
                  <a:srgbClr val="00326E"/>
                </a:solidFill>
                <a:latin typeface="Avenir Book" panose="02000503020000020003" pitchFamily="2" charset="0"/>
              </a:rPr>
              <a:t>How does the AI system compare to other solutions? </a:t>
            </a:r>
          </a:p>
          <a:p>
            <a:endParaRPr lang="en-GB" sz="2000" dirty="0">
              <a:solidFill>
                <a:srgbClr val="00326E"/>
              </a:solidFill>
              <a:effectLst/>
              <a:latin typeface="Avenir Book" panose="02000503020000020003" pitchFamily="2" charset="0"/>
            </a:endParaRPr>
          </a:p>
          <a:p>
            <a:r>
              <a:rPr lang="en-GB" sz="2000" b="1" dirty="0">
                <a:solidFill>
                  <a:srgbClr val="00326E"/>
                </a:solidFill>
                <a:latin typeface="Avenir Book" panose="02000503020000020003" pitchFamily="2" charset="0"/>
              </a:rPr>
              <a:t>Developers </a:t>
            </a:r>
          </a:p>
          <a:p>
            <a:endParaRPr lang="en-GB" sz="2000" dirty="0">
              <a:solidFill>
                <a:srgbClr val="00326E"/>
              </a:solidFill>
              <a:latin typeface="Avenir Book" panose="02000503020000020003" pitchFamily="2" charset="0"/>
            </a:endParaRPr>
          </a:p>
          <a:p>
            <a:r>
              <a:rPr lang="en-GB" sz="2000" dirty="0">
                <a:solidFill>
                  <a:srgbClr val="00326E"/>
                </a:solidFill>
                <a:latin typeface="Avenir Book" panose="02000503020000020003" pitchFamily="2" charset="0"/>
              </a:rPr>
              <a:t>What sets this AI system apart from competitors? </a:t>
            </a:r>
            <a:endParaRPr lang="en-GB" sz="2000" dirty="0">
              <a:solidFill>
                <a:srgbClr val="00326E"/>
              </a:solidFill>
              <a:effectLst/>
              <a:latin typeface="Avenir Book" panose="02000503020000020003" pitchFamily="2" charset="0"/>
            </a:endParaRPr>
          </a:p>
        </p:txBody>
      </p:sp>
      <p:sp>
        <p:nvSpPr>
          <p:cNvPr id="11" name="Slide Number Placeholder 10">
            <a:extLst>
              <a:ext uri="{FF2B5EF4-FFF2-40B4-BE49-F238E27FC236}">
                <a16:creationId xmlns:a16="http://schemas.microsoft.com/office/drawing/2014/main" id="{259F1B59-EDA1-F071-B40D-50FCDDC955A0}"/>
              </a:ext>
            </a:extLst>
          </p:cNvPr>
          <p:cNvSpPr>
            <a:spLocks noGrp="1"/>
          </p:cNvSpPr>
          <p:nvPr>
            <p:ph type="sldNum" sz="quarter" idx="4"/>
          </p:nvPr>
        </p:nvSpPr>
        <p:spPr/>
        <p:txBody>
          <a:bodyPr/>
          <a:lstStyle/>
          <a:p>
            <a:pPr algn="ctr"/>
            <a:fld id="{C42724C2-2594-D243-93D9-F6E5CF9F2B94}" type="slidenum">
              <a:rPr lang="en-GB" smtClean="0"/>
              <a:pPr algn="ctr"/>
              <a:t>15</a:t>
            </a:fld>
            <a:endParaRPr lang="en-GB" dirty="0"/>
          </a:p>
        </p:txBody>
      </p:sp>
    </p:spTree>
    <p:extLst>
      <p:ext uri="{BB962C8B-B14F-4D97-AF65-F5344CB8AC3E}">
        <p14:creationId xmlns:p14="http://schemas.microsoft.com/office/powerpoint/2010/main" val="9398783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069F5-8E32-AFAF-DF73-EB312DC55E8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E739B60-A741-6A38-3E4A-C07284B1751A}"/>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2AE8B5ED-BB59-517A-D629-A81AB7169133}"/>
              </a:ext>
            </a:extLst>
          </p:cNvPr>
          <p:cNvSpPr txBox="1"/>
          <p:nvPr/>
        </p:nvSpPr>
        <p:spPr>
          <a:xfrm>
            <a:off x="146964" y="88823"/>
            <a:ext cx="319529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Why We </a:t>
            </a:r>
            <a:r>
              <a:rPr lang="en-GB" sz="2400" dirty="0">
                <a:solidFill>
                  <a:srgbClr val="FFFFFF"/>
                </a:solidFill>
                <a:latin typeface="Avenir Book" panose="02000503020000020003" pitchFamily="2" charset="0"/>
                <a:cs typeface="Arial" panose="020B0604020202020204" pitchFamily="34" charset="0"/>
              </a:rPr>
              <a:t>S</a:t>
            </a:r>
            <a:r>
              <a:rPr kumimoji="0" lang="en-GB" sz="2400" b="0" i="0" u="none" strike="noStrike" kern="1200" cap="none" spc="0" normalizeH="0" baseline="0" noProof="0" dirty="0" err="1">
                <a:ln>
                  <a:noFill/>
                </a:ln>
                <a:solidFill>
                  <a:srgbClr val="FFFFFF"/>
                </a:solidFill>
                <a:effectLst/>
                <a:uLnTx/>
                <a:uFillTx/>
                <a:latin typeface="Avenir Book" panose="02000503020000020003" pitchFamily="2" charset="0"/>
                <a:ea typeface="+mn-ea"/>
                <a:cs typeface="Arial" panose="020B0604020202020204" pitchFamily="34" charset="0"/>
              </a:rPr>
              <a:t>hould</a:t>
            </a: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 </a:t>
            </a:r>
            <a:r>
              <a:rPr lang="en-GB" sz="2400" dirty="0">
                <a:solidFill>
                  <a:srgbClr val="FFFFFF"/>
                </a:solidFill>
                <a:latin typeface="Avenir Book" panose="02000503020000020003" pitchFamily="2" charset="0"/>
                <a:cs typeface="Arial" panose="020B0604020202020204" pitchFamily="34" charset="0"/>
              </a:rPr>
              <a:t>C</a:t>
            </a: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are.</a:t>
            </a:r>
          </a:p>
        </p:txBody>
      </p:sp>
      <p:sp>
        <p:nvSpPr>
          <p:cNvPr id="7" name="Rectangle 6">
            <a:extLst>
              <a:ext uri="{FF2B5EF4-FFF2-40B4-BE49-F238E27FC236}">
                <a16:creationId xmlns:a16="http://schemas.microsoft.com/office/drawing/2014/main" id="{E06AD41F-9C7D-7076-510A-17EB8091DFB9}"/>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C18C5B34-02D2-A3CE-0677-2DF3F5FEBC65}"/>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6">
            <a:extLst>
              <a:ext uri="{FF2B5EF4-FFF2-40B4-BE49-F238E27FC236}">
                <a16:creationId xmlns:a16="http://schemas.microsoft.com/office/drawing/2014/main" id="{01F70315-B6A7-7648-6CCB-40CF8F71BD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D236F50D-F82D-8024-C5F8-9F6120333924}"/>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5" name="Rectangle 4">
            <a:extLst>
              <a:ext uri="{FF2B5EF4-FFF2-40B4-BE49-F238E27FC236}">
                <a16:creationId xmlns:a16="http://schemas.microsoft.com/office/drawing/2014/main" id="{A0E1DB68-F77C-E457-A3FD-8072B4CA9EE2}"/>
              </a:ext>
            </a:extLst>
          </p:cNvPr>
          <p:cNvSpPr/>
          <p:nvPr/>
        </p:nvSpPr>
        <p:spPr>
          <a:xfrm>
            <a:off x="839416" y="2459503"/>
            <a:ext cx="5489665" cy="1938992"/>
          </a:xfrm>
          <a:prstGeom prst="rect">
            <a:avLst/>
          </a:prstGeom>
        </p:spPr>
        <p:txBody>
          <a:bodyPr wrap="square">
            <a:spAutoFit/>
          </a:bodyPr>
          <a:lstStyle/>
          <a:p>
            <a:r>
              <a:rPr lang="en-GB" sz="2000" b="0" i="1" u="none" strike="noStrike" dirty="0">
                <a:solidFill>
                  <a:srgbClr val="000000"/>
                </a:solidFill>
                <a:effectLst/>
                <a:latin typeface="Gill Sans MT" panose="020B0502020104020203" pitchFamily="34" charset="77"/>
              </a:rPr>
              <a:t>“AI is the new electricity. It has the potential to transform every industry and create tremendous value, but it also has the potential to be dangerous if not handled responsibly.”</a:t>
            </a:r>
          </a:p>
          <a:p>
            <a:br>
              <a:rPr lang="en-GB" sz="2000" dirty="0">
                <a:latin typeface="Gill Sans MT" panose="020B0502020104020203" pitchFamily="34" charset="77"/>
              </a:rPr>
            </a:br>
            <a:r>
              <a:rPr lang="en-GB" sz="2000" b="0" i="0" u="none" strike="noStrike" dirty="0">
                <a:solidFill>
                  <a:srgbClr val="000000"/>
                </a:solidFill>
                <a:effectLst/>
                <a:latin typeface="Gill Sans MT" panose="020B0502020104020203" pitchFamily="34" charset="77"/>
              </a:rPr>
              <a:t>— Andrew Ng</a:t>
            </a:r>
            <a:endParaRPr lang="en-GB" sz="2000" noProof="0" dirty="0">
              <a:solidFill>
                <a:srgbClr val="2F2E2C"/>
              </a:solidFill>
              <a:latin typeface="Gill Sans MT" panose="020B0502020104020203" pitchFamily="34" charset="77"/>
            </a:endParaRPr>
          </a:p>
        </p:txBody>
      </p:sp>
      <p:pic>
        <p:nvPicPr>
          <p:cNvPr id="8" name="Picture 7" descr="A high voltage tower with wires&#10;&#10;Description automatically generated">
            <a:extLst>
              <a:ext uri="{FF2B5EF4-FFF2-40B4-BE49-F238E27FC236}">
                <a16:creationId xmlns:a16="http://schemas.microsoft.com/office/drawing/2014/main" id="{33A7FCDC-1873-9805-4163-EDC80280C91A}"/>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7139172" y="2024528"/>
            <a:ext cx="4213412" cy="2808941"/>
          </a:xfrm>
          <a:prstGeom prst="rect">
            <a:avLst/>
          </a:prstGeom>
        </p:spPr>
      </p:pic>
      <p:sp>
        <p:nvSpPr>
          <p:cNvPr id="12" name="Slide Number Placeholder 11">
            <a:extLst>
              <a:ext uri="{FF2B5EF4-FFF2-40B4-BE49-F238E27FC236}">
                <a16:creationId xmlns:a16="http://schemas.microsoft.com/office/drawing/2014/main" id="{15EE1153-725B-0995-5936-961A2A99DC11}"/>
              </a:ext>
            </a:extLst>
          </p:cNvPr>
          <p:cNvSpPr>
            <a:spLocks noGrp="1"/>
          </p:cNvSpPr>
          <p:nvPr>
            <p:ph type="sldNum" sz="quarter" idx="4"/>
          </p:nvPr>
        </p:nvSpPr>
        <p:spPr/>
        <p:txBody>
          <a:bodyPr/>
          <a:lstStyle/>
          <a:p>
            <a:pPr algn="ctr"/>
            <a:fld id="{C42724C2-2594-D243-93D9-F6E5CF9F2B94}" type="slidenum">
              <a:rPr lang="en-GB" smtClean="0"/>
              <a:pPr algn="ctr"/>
              <a:t>16</a:t>
            </a:fld>
            <a:endParaRPr lang="en-GB" dirty="0"/>
          </a:p>
        </p:txBody>
      </p:sp>
    </p:spTree>
    <p:extLst>
      <p:ext uri="{BB962C8B-B14F-4D97-AF65-F5344CB8AC3E}">
        <p14:creationId xmlns:p14="http://schemas.microsoft.com/office/powerpoint/2010/main" val="23164595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1D330-5F59-FB73-A24D-BCD01143699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5A569BD-F9B6-C0BF-7867-2E04C7D5B584}"/>
              </a:ext>
            </a:extLst>
          </p:cNvPr>
          <p:cNvSpPr/>
          <p:nvPr/>
        </p:nvSpPr>
        <p:spPr>
          <a:xfrm>
            <a:off x="0" y="0"/>
            <a:ext cx="12192000" cy="624980"/>
          </a:xfrm>
          <a:prstGeom prst="rect">
            <a:avLst/>
          </a:prstGeom>
          <a:solidFill>
            <a:schemeClr val="tx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6" name="TextBox 5">
            <a:extLst>
              <a:ext uri="{FF2B5EF4-FFF2-40B4-BE49-F238E27FC236}">
                <a16:creationId xmlns:a16="http://schemas.microsoft.com/office/drawing/2014/main" id="{95DF6A25-3C18-E503-0D81-F36946DA01D5}"/>
              </a:ext>
            </a:extLst>
          </p:cNvPr>
          <p:cNvSpPr txBox="1"/>
          <p:nvPr/>
        </p:nvSpPr>
        <p:spPr>
          <a:xfrm>
            <a:off x="146964" y="88823"/>
            <a:ext cx="239841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srgbClr val="FFFFFF"/>
                </a:solidFill>
                <a:effectLst/>
                <a:uLnTx/>
                <a:uFillTx/>
                <a:latin typeface="Avenir Book" panose="02000503020000020003" pitchFamily="2" charset="0"/>
                <a:ea typeface="+mn-ea"/>
                <a:cs typeface="Arial" panose="020B0604020202020204" pitchFamily="34" charset="0"/>
              </a:rPr>
              <a:t>Further Reading</a:t>
            </a:r>
          </a:p>
        </p:txBody>
      </p:sp>
      <p:sp>
        <p:nvSpPr>
          <p:cNvPr id="7" name="Rectangle 6">
            <a:extLst>
              <a:ext uri="{FF2B5EF4-FFF2-40B4-BE49-F238E27FC236}">
                <a16:creationId xmlns:a16="http://schemas.microsoft.com/office/drawing/2014/main" id="{FD6D757A-A2CC-2D81-B495-7B6C1A4D2188}"/>
              </a:ext>
            </a:extLst>
          </p:cNvPr>
          <p:cNvSpPr/>
          <p:nvPr/>
        </p:nvSpPr>
        <p:spPr>
          <a:xfrm>
            <a:off x="0" y="-1"/>
            <a:ext cx="53975" cy="62498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Arial" panose="020B0604020202020204" pitchFamily="34" charset="0"/>
            </a:endParaRPr>
          </a:p>
        </p:txBody>
      </p:sp>
      <p:sp>
        <p:nvSpPr>
          <p:cNvPr id="4" name="TextBox 3">
            <a:extLst>
              <a:ext uri="{FF2B5EF4-FFF2-40B4-BE49-F238E27FC236}">
                <a16:creationId xmlns:a16="http://schemas.microsoft.com/office/drawing/2014/main" id="{28EAF703-28CA-4AF1-E5AC-88752B4B4885}"/>
              </a:ext>
            </a:extLst>
          </p:cNvPr>
          <p:cNvSpPr txBox="1"/>
          <p:nvPr/>
        </p:nvSpPr>
        <p:spPr>
          <a:xfrm>
            <a:off x="5782765" y="145523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Book" panose="02000503020000020003" pitchFamily="2" charset="0"/>
              <a:ea typeface="+mn-ea"/>
              <a:cs typeface="+mn-cs"/>
            </a:endParaRPr>
          </a:p>
        </p:txBody>
      </p:sp>
      <p:pic>
        <p:nvPicPr>
          <p:cNvPr id="9" name="Picture 6">
            <a:extLst>
              <a:ext uri="{FF2B5EF4-FFF2-40B4-BE49-F238E27FC236}">
                <a16:creationId xmlns:a16="http://schemas.microsoft.com/office/drawing/2014/main" id="{9FCEFC0C-C7A1-BF9B-D202-7A4EFC2E38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884" y="6302696"/>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colorful letters and numbers&#10;&#10;Description automatically generated">
            <a:extLst>
              <a:ext uri="{FF2B5EF4-FFF2-40B4-BE49-F238E27FC236}">
                <a16:creationId xmlns:a16="http://schemas.microsoft.com/office/drawing/2014/main" id="{905634B3-95C6-6306-29CD-8808D465AD70}"/>
              </a:ext>
            </a:extLst>
          </p:cNvPr>
          <p:cNvPicPr>
            <a:picLocks noChangeAspect="1"/>
          </p:cNvPicPr>
          <p:nvPr/>
        </p:nvPicPr>
        <p:blipFill>
          <a:blip r:embed="rId4">
            <a:extLst>
              <a:ext uri="{28A0092B-C50C-407E-A947-70E740481C1C}">
                <a14:useLocalDpi xmlns:a14="http://schemas.microsoft.com/office/drawing/2010/main" val="0"/>
              </a:ext>
            </a:extLst>
          </a:blip>
          <a:srcRect l="5440" r="4372"/>
          <a:stretch>
            <a:fillRect/>
          </a:stretch>
        </p:blipFill>
        <p:spPr>
          <a:xfrm>
            <a:off x="9381338" y="5998912"/>
            <a:ext cx="2480778" cy="848023"/>
          </a:xfrm>
          <a:prstGeom prst="rect">
            <a:avLst/>
          </a:prstGeom>
        </p:spPr>
      </p:pic>
      <p:sp>
        <p:nvSpPr>
          <p:cNvPr id="3" name="TextBox 2">
            <a:extLst>
              <a:ext uri="{FF2B5EF4-FFF2-40B4-BE49-F238E27FC236}">
                <a16:creationId xmlns:a16="http://schemas.microsoft.com/office/drawing/2014/main" id="{11FE9CEA-7B33-55E9-1D02-7B229A7CD346}"/>
              </a:ext>
            </a:extLst>
          </p:cNvPr>
          <p:cNvSpPr txBox="1"/>
          <p:nvPr/>
        </p:nvSpPr>
        <p:spPr>
          <a:xfrm>
            <a:off x="780245" y="1843950"/>
            <a:ext cx="10631510" cy="3170099"/>
          </a:xfrm>
          <a:prstGeom prst="rect">
            <a:avLst/>
          </a:prstGeom>
          <a:noFill/>
        </p:spPr>
        <p:txBody>
          <a:bodyPr wrap="square">
            <a:spAutoFit/>
          </a:bodyPr>
          <a:lstStyle/>
          <a:p>
            <a:r>
              <a:rPr lang="en-GB" sz="2000" dirty="0">
                <a:solidFill>
                  <a:srgbClr val="00326E"/>
                </a:solidFill>
                <a:effectLst/>
                <a:latin typeface="Avenir Book" panose="02000503020000020003" pitchFamily="2" charset="0"/>
                <a:hlinkClick r:id="rId5">
                  <a:extLst>
                    <a:ext uri="{A12FA001-AC4F-418D-AE19-62706E023703}">
                      <ahyp:hlinkClr xmlns:ahyp="http://schemas.microsoft.com/office/drawing/2018/hyperlinkcolor" val="tx"/>
                    </a:ext>
                  </a:extLst>
                </a:hlinkClick>
              </a:rPr>
              <a:t>The Belmont Report </a:t>
            </a:r>
            <a:r>
              <a:rPr lang="en-GB" sz="2000" dirty="0">
                <a:solidFill>
                  <a:srgbClr val="00326E"/>
                </a:solidFill>
                <a:effectLst/>
                <a:latin typeface="Avenir Book" panose="02000503020000020003" pitchFamily="2" charset="0"/>
              </a:rPr>
              <a:t>(The National Commission, 1979) </a:t>
            </a:r>
          </a:p>
          <a:p>
            <a:endParaRPr lang="en-GB" sz="2000" dirty="0">
              <a:solidFill>
                <a:srgbClr val="00326E"/>
              </a:solidFill>
              <a:effectLst/>
              <a:latin typeface="Avenir Book" panose="02000503020000020003" pitchFamily="2" charset="0"/>
            </a:endParaRPr>
          </a:p>
          <a:p>
            <a:r>
              <a:rPr lang="en-GB" sz="2000" dirty="0">
                <a:solidFill>
                  <a:srgbClr val="00326E"/>
                </a:solidFill>
                <a:latin typeface="Avenir Book" panose="02000503020000020003" pitchFamily="2" charset="0"/>
                <a:hlinkClick r:id="rId6">
                  <a:extLst>
                    <a:ext uri="{A12FA001-AC4F-418D-AE19-62706E023703}">
                      <ahyp:hlinkClr xmlns:ahyp="http://schemas.microsoft.com/office/drawing/2018/hyperlinkcolor" val="tx"/>
                    </a:ext>
                  </a:extLst>
                </a:hlinkClick>
              </a:rPr>
              <a:t>The IEEE Global Initiative on Ethics of Autonomous and Intelligent Systems </a:t>
            </a:r>
            <a:endParaRPr lang="en-GB" sz="2000" dirty="0">
              <a:solidFill>
                <a:srgbClr val="00326E"/>
              </a:solidFill>
              <a:latin typeface="Avenir Book" panose="02000503020000020003" pitchFamily="2" charset="0"/>
            </a:endParaRPr>
          </a:p>
          <a:p>
            <a:endParaRPr lang="en-GB" sz="2000" dirty="0">
              <a:solidFill>
                <a:srgbClr val="00326E"/>
              </a:solidFill>
              <a:latin typeface="Avenir Book" panose="02000503020000020003" pitchFamily="2" charset="0"/>
            </a:endParaRPr>
          </a:p>
          <a:p>
            <a:r>
              <a:rPr lang="en-GB" sz="2000" dirty="0">
                <a:solidFill>
                  <a:srgbClr val="00326E"/>
                </a:solidFill>
                <a:latin typeface="Avenir Book" panose="02000503020000020003" pitchFamily="2" charset="0"/>
              </a:rPr>
              <a:t>The final draft of the </a:t>
            </a:r>
            <a:r>
              <a:rPr lang="en-GB" sz="2000" dirty="0">
                <a:solidFill>
                  <a:srgbClr val="00326E"/>
                </a:solidFill>
                <a:latin typeface="Avenir Book" panose="02000503020000020003" pitchFamily="2" charset="0"/>
                <a:hlinkClick r:id="rId7">
                  <a:extLst>
                    <a:ext uri="{A12FA001-AC4F-418D-AE19-62706E023703}">
                      <ahyp:hlinkClr xmlns:ahyp="http://schemas.microsoft.com/office/drawing/2018/hyperlinkcolor" val="tx"/>
                    </a:ext>
                  </a:extLst>
                </a:hlinkClick>
              </a:rPr>
              <a:t>EU AI Act</a:t>
            </a:r>
            <a:endParaRPr lang="en-GB" sz="2000" dirty="0">
              <a:solidFill>
                <a:srgbClr val="00326E"/>
              </a:solidFill>
              <a:latin typeface="Avenir Book" panose="02000503020000020003" pitchFamily="2" charset="0"/>
            </a:endParaRPr>
          </a:p>
          <a:p>
            <a:endParaRPr lang="en-GB" sz="2000" dirty="0">
              <a:solidFill>
                <a:srgbClr val="00326E"/>
              </a:solidFill>
              <a:latin typeface="Avenir Book" panose="02000503020000020003" pitchFamily="2" charset="0"/>
            </a:endParaRPr>
          </a:p>
          <a:p>
            <a:r>
              <a:rPr lang="en-GB" sz="2000" b="0" i="0" u="none" strike="noStrike" dirty="0">
                <a:solidFill>
                  <a:srgbClr val="00326E"/>
                </a:solidFill>
                <a:effectLst/>
                <a:latin typeface="Avenir Book" panose="02000503020000020003" pitchFamily="2" charset="0"/>
                <a:hlinkClick r:id="rId8">
                  <a:extLst>
                    <a:ext uri="{A12FA001-AC4F-418D-AE19-62706E023703}">
                      <ahyp:hlinkClr xmlns:ahyp="http://schemas.microsoft.com/office/drawing/2018/hyperlinkcolor" val="tx"/>
                    </a:ext>
                  </a:extLst>
                </a:hlinkClick>
              </a:rPr>
              <a:t>Ethics of Artificial Intelligence and Robotics </a:t>
            </a:r>
            <a:r>
              <a:rPr lang="en-GB" sz="2000" b="0" i="0" u="none" strike="noStrike" dirty="0">
                <a:solidFill>
                  <a:srgbClr val="00326E"/>
                </a:solidFill>
                <a:effectLst/>
                <a:latin typeface="Avenir Book" panose="02000503020000020003" pitchFamily="2" charset="0"/>
              </a:rPr>
              <a:t>(Stanford </a:t>
            </a:r>
            <a:r>
              <a:rPr lang="en-GB" sz="2000" b="0" i="0" u="none" strike="noStrike" dirty="0" err="1">
                <a:solidFill>
                  <a:srgbClr val="00326E"/>
                </a:solidFill>
                <a:effectLst/>
                <a:latin typeface="Avenir Book" panose="02000503020000020003" pitchFamily="2" charset="0"/>
              </a:rPr>
              <a:t>Encyclopedia</a:t>
            </a:r>
            <a:r>
              <a:rPr lang="en-GB" sz="2000" b="0" i="0" u="none" strike="noStrike" dirty="0">
                <a:solidFill>
                  <a:srgbClr val="00326E"/>
                </a:solidFill>
                <a:effectLst/>
                <a:latin typeface="Avenir Book" panose="02000503020000020003" pitchFamily="2" charset="0"/>
              </a:rPr>
              <a:t> of Philosophy)</a:t>
            </a:r>
          </a:p>
          <a:p>
            <a:endParaRPr lang="en-GB" sz="2000" dirty="0">
              <a:solidFill>
                <a:srgbClr val="0AC8FF"/>
              </a:solidFill>
              <a:latin typeface="Avenir Book" panose="02000503020000020003" pitchFamily="2" charset="0"/>
              <a:hlinkClick r:id="rId9">
                <a:extLst>
                  <a:ext uri="{A12FA001-AC4F-418D-AE19-62706E023703}">
                    <ahyp:hlinkClr xmlns:ahyp="http://schemas.microsoft.com/office/drawing/2018/hyperlinkcolor" val="tx"/>
                  </a:ext>
                </a:extLst>
              </a:hlinkClick>
            </a:endParaRPr>
          </a:p>
          <a:p>
            <a:r>
              <a:rPr lang="en-GB" sz="2000" dirty="0">
                <a:solidFill>
                  <a:srgbClr val="00326E"/>
                </a:solidFill>
                <a:latin typeface="Avenir Book" panose="02000503020000020003" pitchFamily="2" charset="0"/>
                <a:hlinkClick r:id="rId9">
                  <a:extLst>
                    <a:ext uri="{A12FA001-AC4F-418D-AE19-62706E023703}">
                      <ahyp:hlinkClr xmlns:ahyp="http://schemas.microsoft.com/office/drawing/2018/hyperlinkcolor" val="tx"/>
                    </a:ext>
                  </a:extLst>
                </a:hlinkClick>
              </a:rPr>
              <a:t>A Roadmap for an Ethical AI in Healthcare </a:t>
            </a:r>
            <a:r>
              <a:rPr lang="en-GB" sz="2000" dirty="0">
                <a:solidFill>
                  <a:srgbClr val="00326E"/>
                </a:solidFill>
                <a:latin typeface="Avenir Book" panose="02000503020000020003" pitchFamily="2" charset="0"/>
              </a:rPr>
              <a:t>(Payam </a:t>
            </a:r>
            <a:r>
              <a:rPr lang="en-GB" sz="2000" dirty="0" err="1">
                <a:solidFill>
                  <a:srgbClr val="00326E"/>
                </a:solidFill>
                <a:latin typeface="Avenir Book" panose="02000503020000020003" pitchFamily="2" charset="0"/>
              </a:rPr>
              <a:t>Barnaghi</a:t>
            </a:r>
            <a:r>
              <a:rPr lang="en-GB" sz="2000" dirty="0">
                <a:solidFill>
                  <a:srgbClr val="00326E"/>
                </a:solidFill>
                <a:latin typeface="Avenir Book" panose="02000503020000020003" pitchFamily="2" charset="0"/>
              </a:rPr>
              <a:t>)</a:t>
            </a:r>
          </a:p>
          <a:p>
            <a:endParaRPr lang="en-GB" sz="2000" dirty="0">
              <a:solidFill>
                <a:srgbClr val="00326E"/>
              </a:solidFill>
              <a:effectLst/>
              <a:latin typeface="Avenir Book" panose="02000503020000020003" pitchFamily="2" charset="0"/>
            </a:endParaRPr>
          </a:p>
        </p:txBody>
      </p:sp>
      <p:sp>
        <p:nvSpPr>
          <p:cNvPr id="12" name="Slide Number Placeholder 11">
            <a:extLst>
              <a:ext uri="{FF2B5EF4-FFF2-40B4-BE49-F238E27FC236}">
                <a16:creationId xmlns:a16="http://schemas.microsoft.com/office/drawing/2014/main" id="{AD0E6294-9571-1885-0D0D-9C33C0D61665}"/>
              </a:ext>
            </a:extLst>
          </p:cNvPr>
          <p:cNvSpPr>
            <a:spLocks noGrp="1"/>
          </p:cNvSpPr>
          <p:nvPr>
            <p:ph type="sldNum" sz="quarter" idx="4"/>
          </p:nvPr>
        </p:nvSpPr>
        <p:spPr/>
        <p:txBody>
          <a:bodyPr/>
          <a:lstStyle/>
          <a:p>
            <a:pPr algn="ctr"/>
            <a:fld id="{C42724C2-2594-D243-93D9-F6E5CF9F2B94}" type="slidenum">
              <a:rPr lang="en-GB" smtClean="0"/>
              <a:pPr algn="ctr"/>
              <a:t>17</a:t>
            </a:fld>
            <a:endParaRPr lang="en-GB" dirty="0"/>
          </a:p>
        </p:txBody>
      </p:sp>
    </p:spTree>
    <p:extLst>
      <p:ext uri="{BB962C8B-B14F-4D97-AF65-F5344CB8AC3E}">
        <p14:creationId xmlns:p14="http://schemas.microsoft.com/office/powerpoint/2010/main" val="19263865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4E375-EDEF-8A3C-B1D7-FC2F6336AF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122F0C5-2E98-1EA6-2B1A-C09D0F9D1FD8}"/>
              </a:ext>
            </a:extLst>
          </p:cNvPr>
          <p:cNvSpPr txBox="1"/>
          <p:nvPr/>
        </p:nvSpPr>
        <p:spPr>
          <a:xfrm>
            <a:off x="527243" y="1632954"/>
            <a:ext cx="772669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GB" sz="4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Thank you for your attention.</a:t>
            </a:r>
            <a:endParaRPr kumimoji="0" lang="en-US" sz="4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endParaRPr>
          </a:p>
        </p:txBody>
      </p:sp>
      <p:sp>
        <p:nvSpPr>
          <p:cNvPr id="6" name="Rectangle 5">
            <a:extLst>
              <a:ext uri="{FF2B5EF4-FFF2-40B4-BE49-F238E27FC236}">
                <a16:creationId xmlns:a16="http://schemas.microsoft.com/office/drawing/2014/main" id="{ADE83752-10D9-8B2D-3759-EFFEDEC7ADB6}"/>
              </a:ext>
            </a:extLst>
          </p:cNvPr>
          <p:cNvSpPr/>
          <p:nvPr/>
        </p:nvSpPr>
        <p:spPr>
          <a:xfrm>
            <a:off x="3628103" y="6061589"/>
            <a:ext cx="8563897" cy="7226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mn-cs"/>
            </a:endParaRPr>
          </a:p>
        </p:txBody>
      </p:sp>
      <p:sp>
        <p:nvSpPr>
          <p:cNvPr id="10" name="Rectangle 9">
            <a:extLst>
              <a:ext uri="{FF2B5EF4-FFF2-40B4-BE49-F238E27FC236}">
                <a16:creationId xmlns:a16="http://schemas.microsoft.com/office/drawing/2014/main" id="{E3004060-D78A-9332-D331-58BA66F51D97}"/>
              </a:ext>
            </a:extLst>
          </p:cNvPr>
          <p:cNvSpPr/>
          <p:nvPr/>
        </p:nvSpPr>
        <p:spPr>
          <a:xfrm>
            <a:off x="8278650" y="1665906"/>
            <a:ext cx="2895601" cy="307777"/>
          </a:xfrm>
          <a:prstGeom prst="rect">
            <a:avLst/>
          </a:prstGeom>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Nan Fletcher-Lloyd</a:t>
            </a:r>
            <a:endParaRPr kumimoji="0" lang="en-US" sz="2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endParaRPr>
          </a:p>
        </p:txBody>
      </p:sp>
      <p:sp>
        <p:nvSpPr>
          <p:cNvPr id="11" name="TextBox 10">
            <a:extLst>
              <a:ext uri="{FF2B5EF4-FFF2-40B4-BE49-F238E27FC236}">
                <a16:creationId xmlns:a16="http://schemas.microsoft.com/office/drawing/2014/main" id="{CB93C98C-71BE-FB52-AD48-54206E9A1E41}"/>
              </a:ext>
            </a:extLst>
          </p:cNvPr>
          <p:cNvSpPr txBox="1"/>
          <p:nvPr/>
        </p:nvSpPr>
        <p:spPr>
          <a:xfrm>
            <a:off x="8278650" y="2099134"/>
            <a:ext cx="3443395" cy="24622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hlinkClick r:id="rId3"/>
              </a:rPr>
              <a:t>nan.fletcher-lloyd17@imperial.ac.uk</a:t>
            </a:r>
            <a:r>
              <a:rPr kumimoji="0" lang="en-US" sz="1600" b="0"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 </a:t>
            </a:r>
          </a:p>
        </p:txBody>
      </p:sp>
      <p:cxnSp>
        <p:nvCxnSpPr>
          <p:cNvPr id="12" name="Straight Connector 11">
            <a:extLst>
              <a:ext uri="{FF2B5EF4-FFF2-40B4-BE49-F238E27FC236}">
                <a16:creationId xmlns:a16="http://schemas.microsoft.com/office/drawing/2014/main" id="{327BF4A6-282C-3213-46AA-674C4E6A1892}"/>
              </a:ext>
            </a:extLst>
          </p:cNvPr>
          <p:cNvCxnSpPr>
            <a:cxnSpLocks/>
          </p:cNvCxnSpPr>
          <p:nvPr/>
        </p:nvCxnSpPr>
        <p:spPr>
          <a:xfrm>
            <a:off x="8278650" y="1984243"/>
            <a:ext cx="3443395" cy="0"/>
          </a:xfrm>
          <a:prstGeom prst="line">
            <a:avLst/>
          </a:prstGeom>
          <a:ln w="12700">
            <a:solidFill>
              <a:srgbClr val="0AC8FF"/>
            </a:solidFill>
          </a:ln>
        </p:spPr>
        <p:style>
          <a:lnRef idx="1">
            <a:schemeClr val="accent1"/>
          </a:lnRef>
          <a:fillRef idx="0">
            <a:schemeClr val="accent1"/>
          </a:fillRef>
          <a:effectRef idx="0">
            <a:schemeClr val="accent1"/>
          </a:effectRef>
          <a:fontRef idx="minor">
            <a:schemeClr val="tx1"/>
          </a:fontRef>
        </p:style>
      </p:cxnSp>
      <p:pic>
        <p:nvPicPr>
          <p:cNvPr id="15" name="Picture 6">
            <a:extLst>
              <a:ext uri="{FF2B5EF4-FFF2-40B4-BE49-F238E27FC236}">
                <a16:creationId xmlns:a16="http://schemas.microsoft.com/office/drawing/2014/main" id="{8171579F-5103-AF65-0FC7-1C5D5052564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95040" y="6286610"/>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close up of a sign&#10;&#10;Description automatically generated">
            <a:extLst>
              <a:ext uri="{FF2B5EF4-FFF2-40B4-BE49-F238E27FC236}">
                <a16:creationId xmlns:a16="http://schemas.microsoft.com/office/drawing/2014/main" id="{08875878-5DF0-DB95-351D-D78E695818B1}"/>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0" y="6014999"/>
            <a:ext cx="2950945" cy="815850"/>
          </a:xfrm>
          <a:prstGeom prst="rect">
            <a:avLst/>
          </a:prstGeom>
        </p:spPr>
      </p:pic>
      <p:sp>
        <p:nvSpPr>
          <p:cNvPr id="3" name="TextBox 2">
            <a:extLst>
              <a:ext uri="{FF2B5EF4-FFF2-40B4-BE49-F238E27FC236}">
                <a16:creationId xmlns:a16="http://schemas.microsoft.com/office/drawing/2014/main" id="{3CDA3E53-4CCC-7308-C69C-0B4B05F8DFB8}"/>
              </a:ext>
            </a:extLst>
          </p:cNvPr>
          <p:cNvSpPr txBox="1"/>
          <p:nvPr/>
        </p:nvSpPr>
        <p:spPr>
          <a:xfrm>
            <a:off x="527242" y="3665125"/>
            <a:ext cx="7726693" cy="101566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GB" sz="25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Ethical AI: </a:t>
            </a:r>
          </a:p>
          <a:p>
            <a:pPr marL="0" marR="0" lvl="0" indent="0" algn="l" defTabSz="914400" rtl="0" eaLnBrk="1" fontAlgn="auto" latinLnBrk="0" hangingPunct="1">
              <a:lnSpc>
                <a:spcPct val="100000"/>
              </a:lnSpc>
              <a:spcBef>
                <a:spcPts val="600"/>
              </a:spcBef>
              <a:spcAft>
                <a:spcPts val="600"/>
              </a:spcAft>
              <a:buClrTx/>
              <a:buSzTx/>
              <a:buFontTx/>
              <a:buNone/>
              <a:tabLst/>
              <a:defRPr/>
            </a:pPr>
            <a:r>
              <a:rPr lang="en-GB" sz="2500" b="1" spc="-31" dirty="0">
                <a:solidFill>
                  <a:srgbClr val="FFFFFF"/>
                </a:solidFill>
                <a:latin typeface="Avenir Book" panose="02000503020000020003" pitchFamily="2" charset="0"/>
                <a:ea typeface="Helvetica Neue" panose="02000503000000020004" pitchFamily="2" charset="0"/>
                <a:cs typeface="Helvetica Neue" panose="02000503000000020004" pitchFamily="2" charset="0"/>
              </a:rPr>
              <a:t>Principles and Practices</a:t>
            </a:r>
            <a:endParaRPr kumimoji="0" lang="en-GB" sz="25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endParaRPr>
          </a:p>
        </p:txBody>
      </p:sp>
      <p:sp>
        <p:nvSpPr>
          <p:cNvPr id="4" name="Slide Number Placeholder 3">
            <a:extLst>
              <a:ext uri="{FF2B5EF4-FFF2-40B4-BE49-F238E27FC236}">
                <a16:creationId xmlns:a16="http://schemas.microsoft.com/office/drawing/2014/main" id="{080CFD20-3BE2-42E7-EA9B-DA87E4532956}"/>
              </a:ext>
            </a:extLst>
          </p:cNvPr>
          <p:cNvSpPr>
            <a:spLocks noGrp="1"/>
          </p:cNvSpPr>
          <p:nvPr>
            <p:ph type="sldNum" sz="quarter" idx="4"/>
          </p:nvPr>
        </p:nvSpPr>
        <p:spPr/>
        <p:txBody>
          <a:bodyPr/>
          <a:lstStyle/>
          <a:p>
            <a:pPr algn="ctr"/>
            <a:fld id="{C42724C2-2594-D243-93D9-F6E5CF9F2B94}" type="slidenum">
              <a:rPr lang="en-GB" smtClean="0"/>
              <a:pPr algn="ctr"/>
              <a:t>18</a:t>
            </a:fld>
            <a:endParaRPr lang="en-GB" dirty="0"/>
          </a:p>
        </p:txBody>
      </p:sp>
    </p:spTree>
    <p:extLst>
      <p:ext uri="{BB962C8B-B14F-4D97-AF65-F5344CB8AC3E}">
        <p14:creationId xmlns:p14="http://schemas.microsoft.com/office/powerpoint/2010/main" val="16566472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A046-59D6-C55B-3F11-C81A4E61E3F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D7C6CA2-F151-BFF9-5C24-DFA1AA6BC56F}"/>
              </a:ext>
            </a:extLst>
          </p:cNvPr>
          <p:cNvSpPr txBox="1"/>
          <p:nvPr/>
        </p:nvSpPr>
        <p:spPr>
          <a:xfrm>
            <a:off x="527243" y="1632954"/>
            <a:ext cx="772669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GB" sz="4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Workshop</a:t>
            </a:r>
            <a:endParaRPr kumimoji="0" lang="en-US" sz="40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endParaRPr>
          </a:p>
        </p:txBody>
      </p:sp>
      <p:sp>
        <p:nvSpPr>
          <p:cNvPr id="6" name="Rectangle 5">
            <a:extLst>
              <a:ext uri="{FF2B5EF4-FFF2-40B4-BE49-F238E27FC236}">
                <a16:creationId xmlns:a16="http://schemas.microsoft.com/office/drawing/2014/main" id="{88699019-A909-F255-C952-EC68390BF6C9}"/>
              </a:ext>
            </a:extLst>
          </p:cNvPr>
          <p:cNvSpPr/>
          <p:nvPr/>
        </p:nvSpPr>
        <p:spPr>
          <a:xfrm>
            <a:off x="3628103" y="6061589"/>
            <a:ext cx="8563897" cy="7226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Avenir Book" panose="02000503020000020003" pitchFamily="2" charset="0"/>
              <a:ea typeface="+mn-ea"/>
              <a:cs typeface="+mn-cs"/>
            </a:endParaRPr>
          </a:p>
        </p:txBody>
      </p:sp>
      <p:pic>
        <p:nvPicPr>
          <p:cNvPr id="15" name="Picture 6">
            <a:extLst>
              <a:ext uri="{FF2B5EF4-FFF2-40B4-BE49-F238E27FC236}">
                <a16:creationId xmlns:a16="http://schemas.microsoft.com/office/drawing/2014/main" id="{2B5F5477-72BF-DDD9-8940-FD3FEB2E9B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95040" y="6286610"/>
            <a:ext cx="2480778" cy="272627"/>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close up of a sign&#10;&#10;Description automatically generated">
            <a:extLst>
              <a:ext uri="{FF2B5EF4-FFF2-40B4-BE49-F238E27FC236}">
                <a16:creationId xmlns:a16="http://schemas.microsoft.com/office/drawing/2014/main" id="{D9068E23-8498-2DE1-C560-24D33301D7B5}"/>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0" y="6014999"/>
            <a:ext cx="2950945" cy="815850"/>
          </a:xfrm>
          <a:prstGeom prst="rect">
            <a:avLst/>
          </a:prstGeom>
        </p:spPr>
      </p:pic>
      <p:sp>
        <p:nvSpPr>
          <p:cNvPr id="3" name="TextBox 2">
            <a:extLst>
              <a:ext uri="{FF2B5EF4-FFF2-40B4-BE49-F238E27FC236}">
                <a16:creationId xmlns:a16="http://schemas.microsoft.com/office/drawing/2014/main" id="{F3EAA71E-3604-B27E-106A-258020ACD209}"/>
              </a:ext>
            </a:extLst>
          </p:cNvPr>
          <p:cNvSpPr txBox="1"/>
          <p:nvPr/>
        </p:nvSpPr>
        <p:spPr>
          <a:xfrm>
            <a:off x="527242" y="3665125"/>
            <a:ext cx="7726693" cy="86177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GB" sz="2500" b="1" i="0" u="none" strike="noStrike" kern="1200" cap="none" spc="-31" normalizeH="0" baseline="0" noProof="0" dirty="0">
                <a:ln>
                  <a:noFill/>
                </a:ln>
                <a:solidFill>
                  <a:srgbClr val="FFFFFF"/>
                </a:solidFill>
                <a:effectLst/>
                <a:uLnTx/>
                <a:uFillTx/>
                <a:latin typeface="Avenir Book" panose="02000503020000020003" pitchFamily="2" charset="0"/>
                <a:ea typeface="Helvetica Neue" panose="02000503000000020004" pitchFamily="2" charset="0"/>
                <a:cs typeface="Helvetica Neue" panose="02000503000000020004" pitchFamily="2" charset="0"/>
              </a:rPr>
              <a:t>Should artificial intelligence be used to make diagnostic decisions in healthcare?</a:t>
            </a:r>
          </a:p>
        </p:txBody>
      </p:sp>
      <p:sp>
        <p:nvSpPr>
          <p:cNvPr id="4" name="Slide Number Placeholder 3">
            <a:extLst>
              <a:ext uri="{FF2B5EF4-FFF2-40B4-BE49-F238E27FC236}">
                <a16:creationId xmlns:a16="http://schemas.microsoft.com/office/drawing/2014/main" id="{1D73B431-1712-DC2D-6C03-277A4DF0C227}"/>
              </a:ext>
            </a:extLst>
          </p:cNvPr>
          <p:cNvSpPr>
            <a:spLocks noGrp="1"/>
          </p:cNvSpPr>
          <p:nvPr>
            <p:ph type="sldNum" sz="quarter" idx="4"/>
          </p:nvPr>
        </p:nvSpPr>
        <p:spPr/>
        <p:txBody>
          <a:bodyPr/>
          <a:lstStyle/>
          <a:p>
            <a:pPr algn="ctr"/>
            <a:fld id="{C42724C2-2594-D243-93D9-F6E5CF9F2B94}" type="slidenum">
              <a:rPr lang="en-GB" smtClean="0"/>
              <a:pPr algn="ctr"/>
              <a:t>19</a:t>
            </a:fld>
            <a:endParaRPr lang="en-GB" dirty="0"/>
          </a:p>
        </p:txBody>
      </p:sp>
    </p:spTree>
    <p:extLst>
      <p:ext uri="{BB962C8B-B14F-4D97-AF65-F5344CB8AC3E}">
        <p14:creationId xmlns:p14="http://schemas.microsoft.com/office/powerpoint/2010/main" val="3882723211"/>
      </p:ext>
    </p:extLst>
  </p:cSld>
  <p:clrMapOvr>
    <a:masterClrMapping/>
  </p:clrMapOvr>
</p:sld>
</file>

<file path=ppt/theme/theme1.xml><?xml version="1.0" encoding="utf-8"?>
<a:theme xmlns:a="http://schemas.openxmlformats.org/drawingml/2006/main" name="Title slide">
  <a:themeElements>
    <a:clrScheme name="UK DRI Brand Colours 2">
      <a:dk1>
        <a:srgbClr val="000000"/>
      </a:dk1>
      <a:lt1>
        <a:srgbClr val="FFFFFF"/>
      </a:lt1>
      <a:dk2>
        <a:srgbClr val="00326E"/>
      </a:dk2>
      <a:lt2>
        <a:srgbClr val="C3D1D9"/>
      </a:lt2>
      <a:accent1>
        <a:srgbClr val="415767"/>
      </a:accent1>
      <a:accent2>
        <a:srgbClr val="FA2C6E"/>
      </a:accent2>
      <a:accent3>
        <a:srgbClr val="AA0050"/>
      </a:accent3>
      <a:accent4>
        <a:srgbClr val="0AC8FF"/>
      </a:accent4>
      <a:accent5>
        <a:srgbClr val="007FAF"/>
      </a:accent5>
      <a:accent6>
        <a:srgbClr val="FFED00"/>
      </a:accent6>
      <a:hlink>
        <a:srgbClr val="0AC8FF"/>
      </a:hlink>
      <a:folHlink>
        <a:srgbClr val="007FA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_Blank slide">
  <a:themeElements>
    <a:clrScheme name="UK DRI Brand Colours 2">
      <a:dk1>
        <a:srgbClr val="000000"/>
      </a:dk1>
      <a:lt1>
        <a:srgbClr val="FFFFFF"/>
      </a:lt1>
      <a:dk2>
        <a:srgbClr val="00326E"/>
      </a:dk2>
      <a:lt2>
        <a:srgbClr val="C3D1D9"/>
      </a:lt2>
      <a:accent1>
        <a:srgbClr val="415767"/>
      </a:accent1>
      <a:accent2>
        <a:srgbClr val="FA2C6E"/>
      </a:accent2>
      <a:accent3>
        <a:srgbClr val="AA0050"/>
      </a:accent3>
      <a:accent4>
        <a:srgbClr val="0AC8FF"/>
      </a:accent4>
      <a:accent5>
        <a:srgbClr val="007FAF"/>
      </a:accent5>
      <a:accent6>
        <a:srgbClr val="FFED00"/>
      </a:accent6>
      <a:hlink>
        <a:srgbClr val="0AC8FF"/>
      </a:hlink>
      <a:folHlink>
        <a:srgbClr val="007FA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5767</TotalTime>
  <Words>2926</Words>
  <Application>Microsoft Macintosh PowerPoint</Application>
  <PresentationFormat>Widescreen</PresentationFormat>
  <Paragraphs>279</Paragraphs>
  <Slides>19</Slides>
  <Notes>19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19</vt:i4>
      </vt:variant>
    </vt:vector>
  </HeadingPairs>
  <TitlesOfParts>
    <vt:vector size="29" baseType="lpstr">
      <vt:lpstr>-webkit-standard</vt:lpstr>
      <vt:lpstr>Aptos</vt:lpstr>
      <vt:lpstr>Arial</vt:lpstr>
      <vt:lpstr>Avenir Book</vt:lpstr>
      <vt:lpstr>Calibri</vt:lpstr>
      <vt:lpstr>Gill Sans MT</vt:lpstr>
      <vt:lpstr>Google Sans</vt:lpstr>
      <vt:lpstr>Helvetica Neue</vt:lpstr>
      <vt:lpstr>Title slide</vt:lpstr>
      <vt:lpstr>White_Blank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Nan Victoria</dc:creator>
  <cp:lastModifiedBy>Nan Victoria</cp:lastModifiedBy>
  <cp:revision>92</cp:revision>
  <dcterms:created xsi:type="dcterms:W3CDTF">2025-01-03T16:12:02Z</dcterms:created>
  <dcterms:modified xsi:type="dcterms:W3CDTF">2025-11-10T18:58:03Z</dcterms:modified>
</cp:coreProperties>
</file>