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5" r:id="rId1"/>
  </p:sldMasterIdLst>
  <p:notesMasterIdLst>
    <p:notesMasterId r:id="rId66"/>
  </p:notesMasterIdLst>
  <p:handoutMasterIdLst>
    <p:handoutMasterId r:id="rId67"/>
  </p:handoutMasterIdLst>
  <p:sldIdLst>
    <p:sldId id="297" r:id="rId2"/>
    <p:sldId id="1242" r:id="rId3"/>
    <p:sldId id="1243" r:id="rId4"/>
    <p:sldId id="1249" r:id="rId5"/>
    <p:sldId id="1250" r:id="rId6"/>
    <p:sldId id="1206" r:id="rId7"/>
    <p:sldId id="1207" r:id="rId8"/>
    <p:sldId id="1208" r:id="rId9"/>
    <p:sldId id="1209" r:id="rId10"/>
    <p:sldId id="1210" r:id="rId11"/>
    <p:sldId id="1212" r:id="rId12"/>
    <p:sldId id="1282" r:id="rId13"/>
    <p:sldId id="1213" r:id="rId14"/>
    <p:sldId id="1214" r:id="rId15"/>
    <p:sldId id="1215" r:id="rId16"/>
    <p:sldId id="1220" r:id="rId17"/>
    <p:sldId id="1221" r:id="rId18"/>
    <p:sldId id="1222" r:id="rId19"/>
    <p:sldId id="1223" r:id="rId20"/>
    <p:sldId id="1225" r:id="rId21"/>
    <p:sldId id="1226" r:id="rId22"/>
    <p:sldId id="1227" r:id="rId23"/>
    <p:sldId id="1228" r:id="rId24"/>
    <p:sldId id="1230" r:id="rId25"/>
    <p:sldId id="1231" r:id="rId26"/>
    <p:sldId id="1232" r:id="rId27"/>
    <p:sldId id="1233" r:id="rId28"/>
    <p:sldId id="1234" r:id="rId29"/>
    <p:sldId id="1279" r:id="rId30"/>
    <p:sldId id="1235" r:id="rId31"/>
    <p:sldId id="1236" r:id="rId32"/>
    <p:sldId id="1237" r:id="rId33"/>
    <p:sldId id="1238" r:id="rId34"/>
    <p:sldId id="1239" r:id="rId35"/>
    <p:sldId id="1240" r:id="rId36"/>
    <p:sldId id="1251" r:id="rId37"/>
    <p:sldId id="1252" r:id="rId38"/>
    <p:sldId id="1253" r:id="rId39"/>
    <p:sldId id="1254" r:id="rId40"/>
    <p:sldId id="1255" r:id="rId41"/>
    <p:sldId id="1256" r:id="rId42"/>
    <p:sldId id="1257" r:id="rId43"/>
    <p:sldId id="1258" r:id="rId44"/>
    <p:sldId id="1259" r:id="rId45"/>
    <p:sldId id="1260" r:id="rId46"/>
    <p:sldId id="1261" r:id="rId47"/>
    <p:sldId id="1281" r:id="rId48"/>
    <p:sldId id="1262" r:id="rId49"/>
    <p:sldId id="1263" r:id="rId50"/>
    <p:sldId id="1264" r:id="rId51"/>
    <p:sldId id="1265" r:id="rId52"/>
    <p:sldId id="1267" r:id="rId53"/>
    <p:sldId id="1268" r:id="rId54"/>
    <p:sldId id="1269" r:id="rId55"/>
    <p:sldId id="1271" r:id="rId56"/>
    <p:sldId id="1273" r:id="rId57"/>
    <p:sldId id="1266" r:id="rId58"/>
    <p:sldId id="1283" r:id="rId59"/>
    <p:sldId id="1275" r:id="rId60"/>
    <p:sldId id="1276" r:id="rId61"/>
    <p:sldId id="1277" r:id="rId62"/>
    <p:sldId id="1270" r:id="rId63"/>
    <p:sldId id="1229" r:id="rId64"/>
    <p:sldId id="1280" r:id="rId65"/>
  </p:sldIdLst>
  <p:sldSz cx="12192000" cy="6858000"/>
  <p:notesSz cx="7099300" cy="10234613"/>
  <p:custShowLst>
    <p:custShow name="Custom Show 1" id="0">
      <p:sldLst/>
    </p:custShow>
  </p:custShow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58613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172261"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758391"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2344522"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930652" algn="l" defTabSz="1172261"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3516782" algn="l" defTabSz="1172261"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4102913" algn="l" defTabSz="1172261"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4689043" algn="l" defTabSz="1172261"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3CB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451"/>
    <p:restoredTop sz="88454"/>
  </p:normalViewPr>
  <p:slideViewPr>
    <p:cSldViewPr>
      <p:cViewPr varScale="1">
        <p:scale>
          <a:sx n="149" d="100"/>
          <a:sy n="149" d="100"/>
        </p:scale>
        <p:origin x="576" y="17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7" d="100"/>
          <a:sy n="67" d="100"/>
        </p:scale>
        <p:origin x="-2784" y="-114"/>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3EEB7E-342C-4D44-8425-C98E9D60EF2B}"/>
              </a:ext>
            </a:extLst>
          </p:cNvPr>
          <p:cNvSpPr>
            <a:spLocks noGrp="1"/>
          </p:cNvSpPr>
          <p:nvPr>
            <p:ph type="hdr" sz="quarter"/>
          </p:nvPr>
        </p:nvSpPr>
        <p:spPr>
          <a:xfrm>
            <a:off x="0" y="0"/>
            <a:ext cx="3076575" cy="511175"/>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Arial" charset="0"/>
              </a:defRPr>
            </a:lvl1pPr>
          </a:lstStyle>
          <a:p>
            <a:pPr>
              <a:defRPr/>
            </a:pPr>
            <a:endParaRPr lang="en-GB" dirty="0"/>
          </a:p>
        </p:txBody>
      </p:sp>
      <p:sp>
        <p:nvSpPr>
          <p:cNvPr id="3" name="Date Placeholder 2">
            <a:extLst>
              <a:ext uri="{FF2B5EF4-FFF2-40B4-BE49-F238E27FC236}">
                <a16:creationId xmlns:a16="http://schemas.microsoft.com/office/drawing/2014/main" id="{9A43D0DD-932A-5741-880E-160F8E56A889}"/>
              </a:ext>
            </a:extLst>
          </p:cNvPr>
          <p:cNvSpPr>
            <a:spLocks noGrp="1"/>
          </p:cNvSpPr>
          <p:nvPr>
            <p:ph type="dt" sz="quarter" idx="1"/>
          </p:nvPr>
        </p:nvSpPr>
        <p:spPr>
          <a:xfrm>
            <a:off x="4021138" y="0"/>
            <a:ext cx="3076575" cy="511175"/>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C1C3F073-AC64-0F45-9937-4D0EE9B5E984}" type="datetimeFigureOut">
              <a:rPr lang="en-GB" altLang="en-US"/>
              <a:pPr>
                <a:defRPr/>
              </a:pPr>
              <a:t>29/12/2025</a:t>
            </a:fld>
            <a:endParaRPr lang="en-GB" altLang="en-US" dirty="0"/>
          </a:p>
        </p:txBody>
      </p:sp>
      <p:sp>
        <p:nvSpPr>
          <p:cNvPr id="4" name="Footer Placeholder 3">
            <a:extLst>
              <a:ext uri="{FF2B5EF4-FFF2-40B4-BE49-F238E27FC236}">
                <a16:creationId xmlns:a16="http://schemas.microsoft.com/office/drawing/2014/main" id="{8A873E12-75FF-1948-A0BC-C4BC40ED2AEF}"/>
              </a:ext>
            </a:extLst>
          </p:cNvPr>
          <p:cNvSpPr>
            <a:spLocks noGrp="1"/>
          </p:cNvSpPr>
          <p:nvPr>
            <p:ph type="ftr" sz="quarter" idx="2"/>
          </p:nvPr>
        </p:nvSpPr>
        <p:spPr>
          <a:xfrm>
            <a:off x="0" y="9721850"/>
            <a:ext cx="3076575" cy="511175"/>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Arial" charset="0"/>
              </a:defRPr>
            </a:lvl1pPr>
          </a:lstStyle>
          <a:p>
            <a:pPr>
              <a:defRPr/>
            </a:pPr>
            <a:endParaRPr lang="en-GB" dirty="0"/>
          </a:p>
        </p:txBody>
      </p:sp>
      <p:sp>
        <p:nvSpPr>
          <p:cNvPr id="5" name="Slide Number Placeholder 4">
            <a:extLst>
              <a:ext uri="{FF2B5EF4-FFF2-40B4-BE49-F238E27FC236}">
                <a16:creationId xmlns:a16="http://schemas.microsoft.com/office/drawing/2014/main" id="{A174CBEF-A2D1-1F49-8374-059301F11E29}"/>
              </a:ext>
            </a:extLst>
          </p:cNvPr>
          <p:cNvSpPr>
            <a:spLocks noGrp="1"/>
          </p:cNvSpPr>
          <p:nvPr>
            <p:ph type="sldNum" sz="quarter" idx="3"/>
          </p:nvPr>
        </p:nvSpPr>
        <p:spPr>
          <a:xfrm>
            <a:off x="4021138" y="9721850"/>
            <a:ext cx="3076575" cy="51117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2DDEE506-C1C1-F54C-BD40-4038D1DAC300}" type="slidenum">
              <a:rPr lang="en-GB" altLang="en-US"/>
              <a:pPr/>
              <a:t>‹#›</a:t>
            </a:fld>
            <a:endParaRPr lang="en-GB" altLang="en-US" dirty="0"/>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D6C4E84-BDFC-C845-8F71-4073A1793A60}"/>
              </a:ext>
            </a:extLst>
          </p:cNvPr>
          <p:cNvSpPr>
            <a:spLocks noGrp="1"/>
          </p:cNvSpPr>
          <p:nvPr>
            <p:ph type="hdr" sz="quarter"/>
          </p:nvPr>
        </p:nvSpPr>
        <p:spPr>
          <a:xfrm>
            <a:off x="0" y="0"/>
            <a:ext cx="3076575" cy="511175"/>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Arial" charset="0"/>
              </a:defRPr>
            </a:lvl1pPr>
          </a:lstStyle>
          <a:p>
            <a:pPr>
              <a:defRPr/>
            </a:pPr>
            <a:endParaRPr lang="en-GB" dirty="0"/>
          </a:p>
        </p:txBody>
      </p:sp>
      <p:sp>
        <p:nvSpPr>
          <p:cNvPr id="3" name="Date Placeholder 2">
            <a:extLst>
              <a:ext uri="{FF2B5EF4-FFF2-40B4-BE49-F238E27FC236}">
                <a16:creationId xmlns:a16="http://schemas.microsoft.com/office/drawing/2014/main" id="{20CA4964-B399-484A-8577-D0634ABA68EC}"/>
              </a:ext>
            </a:extLst>
          </p:cNvPr>
          <p:cNvSpPr>
            <a:spLocks noGrp="1"/>
          </p:cNvSpPr>
          <p:nvPr>
            <p:ph type="dt" idx="1"/>
          </p:nvPr>
        </p:nvSpPr>
        <p:spPr>
          <a:xfrm>
            <a:off x="4021138" y="0"/>
            <a:ext cx="3076575" cy="511175"/>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8232F774-E9B5-3D45-8CA4-AA6FA7471BBC}" type="datetimeFigureOut">
              <a:rPr lang="en-GB" altLang="en-US"/>
              <a:pPr>
                <a:defRPr/>
              </a:pPr>
              <a:t>29/12/2025</a:t>
            </a:fld>
            <a:endParaRPr lang="en-GB" altLang="en-US" dirty="0"/>
          </a:p>
        </p:txBody>
      </p:sp>
      <p:sp>
        <p:nvSpPr>
          <p:cNvPr id="4" name="Slide Image Placeholder 3">
            <a:extLst>
              <a:ext uri="{FF2B5EF4-FFF2-40B4-BE49-F238E27FC236}">
                <a16:creationId xmlns:a16="http://schemas.microsoft.com/office/drawing/2014/main" id="{FB514B9D-D61E-4F4B-9546-FEC972D4D34A}"/>
              </a:ext>
            </a:extLst>
          </p:cNvPr>
          <p:cNvSpPr>
            <a:spLocks noGrp="1" noRot="1" noChangeAspect="1"/>
          </p:cNvSpPr>
          <p:nvPr>
            <p:ph type="sldImg" idx="2"/>
          </p:nvPr>
        </p:nvSpPr>
        <p:spPr>
          <a:xfrm>
            <a:off x="138113" y="768350"/>
            <a:ext cx="6823075" cy="3838575"/>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a:extLst>
              <a:ext uri="{FF2B5EF4-FFF2-40B4-BE49-F238E27FC236}">
                <a16:creationId xmlns:a16="http://schemas.microsoft.com/office/drawing/2014/main" id="{63A3D1E0-B275-2942-BD74-B78E50E55750}"/>
              </a:ext>
            </a:extLst>
          </p:cNvPr>
          <p:cNvSpPr>
            <a:spLocks noGrp="1"/>
          </p:cNvSpPr>
          <p:nvPr>
            <p:ph type="body" sz="quarter" idx="3"/>
          </p:nvPr>
        </p:nvSpPr>
        <p:spPr>
          <a:xfrm>
            <a:off x="709613" y="4862513"/>
            <a:ext cx="5680075" cy="460375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0C77B21E-BA26-5844-B79E-C0C486E03839}"/>
              </a:ext>
            </a:extLst>
          </p:cNvPr>
          <p:cNvSpPr>
            <a:spLocks noGrp="1"/>
          </p:cNvSpPr>
          <p:nvPr>
            <p:ph type="ftr" sz="quarter" idx="4"/>
          </p:nvPr>
        </p:nvSpPr>
        <p:spPr>
          <a:xfrm>
            <a:off x="0" y="9721850"/>
            <a:ext cx="3076575" cy="511175"/>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Arial" charset="0"/>
              </a:defRPr>
            </a:lvl1pPr>
          </a:lstStyle>
          <a:p>
            <a:pPr>
              <a:defRPr/>
            </a:pPr>
            <a:endParaRPr lang="en-GB" dirty="0"/>
          </a:p>
        </p:txBody>
      </p:sp>
      <p:sp>
        <p:nvSpPr>
          <p:cNvPr id="7" name="Slide Number Placeholder 6">
            <a:extLst>
              <a:ext uri="{FF2B5EF4-FFF2-40B4-BE49-F238E27FC236}">
                <a16:creationId xmlns:a16="http://schemas.microsoft.com/office/drawing/2014/main" id="{9866462E-DFBE-F243-A709-392C7B2F87A7}"/>
              </a:ext>
            </a:extLst>
          </p:cNvPr>
          <p:cNvSpPr>
            <a:spLocks noGrp="1"/>
          </p:cNvSpPr>
          <p:nvPr>
            <p:ph type="sldNum" sz="quarter" idx="5"/>
          </p:nvPr>
        </p:nvSpPr>
        <p:spPr>
          <a:xfrm>
            <a:off x="4021138" y="9721850"/>
            <a:ext cx="3076575" cy="51117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59214167-E1A5-3945-8E06-82ED2D3A03C3}" type="slidenum">
              <a:rPr lang="en-GB" altLang="en-US"/>
              <a:pPr/>
              <a:t>‹#›</a:t>
            </a:fld>
            <a:endParaRPr lang="en-GB"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538" kern="1200">
        <a:solidFill>
          <a:schemeClr val="tx1"/>
        </a:solidFill>
        <a:latin typeface="+mn-lt"/>
        <a:ea typeface="ＭＳ Ｐゴシック" charset="0"/>
        <a:cs typeface="+mn-cs"/>
      </a:defRPr>
    </a:lvl1pPr>
    <a:lvl2pPr marL="586130" algn="l" rtl="0" eaLnBrk="0" fontAlgn="base" hangingPunct="0">
      <a:spcBef>
        <a:spcPct val="30000"/>
      </a:spcBef>
      <a:spcAft>
        <a:spcPct val="0"/>
      </a:spcAft>
      <a:defRPr sz="1538" kern="1200">
        <a:solidFill>
          <a:schemeClr val="tx1"/>
        </a:solidFill>
        <a:latin typeface="+mn-lt"/>
        <a:ea typeface="ＭＳ Ｐゴシック" charset="0"/>
        <a:cs typeface="+mn-cs"/>
      </a:defRPr>
    </a:lvl2pPr>
    <a:lvl3pPr marL="1172261" algn="l" rtl="0" eaLnBrk="0" fontAlgn="base" hangingPunct="0">
      <a:spcBef>
        <a:spcPct val="30000"/>
      </a:spcBef>
      <a:spcAft>
        <a:spcPct val="0"/>
      </a:spcAft>
      <a:defRPr sz="1538" kern="1200">
        <a:solidFill>
          <a:schemeClr val="tx1"/>
        </a:solidFill>
        <a:latin typeface="+mn-lt"/>
        <a:ea typeface="ＭＳ Ｐゴシック" charset="0"/>
        <a:cs typeface="+mn-cs"/>
      </a:defRPr>
    </a:lvl3pPr>
    <a:lvl4pPr marL="1758391" algn="l" rtl="0" eaLnBrk="0" fontAlgn="base" hangingPunct="0">
      <a:spcBef>
        <a:spcPct val="30000"/>
      </a:spcBef>
      <a:spcAft>
        <a:spcPct val="0"/>
      </a:spcAft>
      <a:defRPr sz="1538" kern="1200">
        <a:solidFill>
          <a:schemeClr val="tx1"/>
        </a:solidFill>
        <a:latin typeface="+mn-lt"/>
        <a:ea typeface="ＭＳ Ｐゴシック" charset="0"/>
        <a:cs typeface="+mn-cs"/>
      </a:defRPr>
    </a:lvl4pPr>
    <a:lvl5pPr marL="2344522" algn="l" rtl="0" eaLnBrk="0" fontAlgn="base" hangingPunct="0">
      <a:spcBef>
        <a:spcPct val="30000"/>
      </a:spcBef>
      <a:spcAft>
        <a:spcPct val="0"/>
      </a:spcAft>
      <a:defRPr sz="1538" kern="1200">
        <a:solidFill>
          <a:schemeClr val="tx1"/>
        </a:solidFill>
        <a:latin typeface="+mn-lt"/>
        <a:ea typeface="ＭＳ Ｐゴシック" charset="0"/>
        <a:cs typeface="+mn-cs"/>
      </a:defRPr>
    </a:lvl5pPr>
    <a:lvl6pPr marL="2930652" algn="l" defTabSz="1172261" rtl="0" eaLnBrk="1" latinLnBrk="0" hangingPunct="1">
      <a:defRPr sz="1538" kern="1200">
        <a:solidFill>
          <a:schemeClr val="tx1"/>
        </a:solidFill>
        <a:latin typeface="+mn-lt"/>
        <a:ea typeface="+mn-ea"/>
        <a:cs typeface="+mn-cs"/>
      </a:defRPr>
    </a:lvl6pPr>
    <a:lvl7pPr marL="3516782" algn="l" defTabSz="1172261" rtl="0" eaLnBrk="1" latinLnBrk="0" hangingPunct="1">
      <a:defRPr sz="1538" kern="1200">
        <a:solidFill>
          <a:schemeClr val="tx1"/>
        </a:solidFill>
        <a:latin typeface="+mn-lt"/>
        <a:ea typeface="+mn-ea"/>
        <a:cs typeface="+mn-cs"/>
      </a:defRPr>
    </a:lvl7pPr>
    <a:lvl8pPr marL="4102913" algn="l" defTabSz="1172261" rtl="0" eaLnBrk="1" latinLnBrk="0" hangingPunct="1">
      <a:defRPr sz="1538" kern="1200">
        <a:solidFill>
          <a:schemeClr val="tx1"/>
        </a:solidFill>
        <a:latin typeface="+mn-lt"/>
        <a:ea typeface="+mn-ea"/>
        <a:cs typeface="+mn-cs"/>
      </a:defRPr>
    </a:lvl8pPr>
    <a:lvl9pPr marL="4689043" algn="l" defTabSz="1172261" rtl="0" eaLnBrk="1" latinLnBrk="0" hangingPunct="1">
      <a:defRPr sz="15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a:extLst>
              <a:ext uri="{FF2B5EF4-FFF2-40B4-BE49-F238E27FC236}">
                <a16:creationId xmlns:a16="http://schemas.microsoft.com/office/drawing/2014/main" id="{EA98A093-E190-1643-8621-BBE2A9C510CB}"/>
              </a:ext>
            </a:extLst>
          </p:cNvPr>
          <p:cNvSpPr>
            <a:spLocks noGrp="1" noRot="1" noChangeAspect="1" noTextEdit="1"/>
          </p:cNvSpPr>
          <p:nvPr>
            <p:ph type="sldImg"/>
          </p:nvPr>
        </p:nvSpPr>
        <p:spPr bwMode="auto">
          <a:xfrm>
            <a:off x="138113" y="768350"/>
            <a:ext cx="6823075" cy="38385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Notes Placeholder 2">
            <a:extLst>
              <a:ext uri="{FF2B5EF4-FFF2-40B4-BE49-F238E27FC236}">
                <a16:creationId xmlns:a16="http://schemas.microsoft.com/office/drawing/2014/main" id="{F89A2DD9-251B-444E-A338-898649BE3D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GB" altLang="en-US" dirty="0">
              <a:ea typeface="ＭＳ Ｐゴシック" panose="020B0600070205080204" pitchFamily="34" charset="-128"/>
            </a:endParaRPr>
          </a:p>
        </p:txBody>
      </p:sp>
      <p:sp>
        <p:nvSpPr>
          <p:cNvPr id="17411" name="Slide Number Placeholder 3">
            <a:extLst>
              <a:ext uri="{FF2B5EF4-FFF2-40B4-BE49-F238E27FC236}">
                <a16:creationId xmlns:a16="http://schemas.microsoft.com/office/drawing/2014/main" id="{5997BF2D-BD94-1048-9965-9A6B956FA52A}"/>
              </a:ext>
            </a:extLst>
          </p:cNvPr>
          <p:cNvSpPr txBox="1">
            <a:spLocks noGrp="1"/>
          </p:cNvSpPr>
          <p:nvPr/>
        </p:nvSpPr>
        <p:spPr bwMode="auto">
          <a:xfrm>
            <a:off x="4021138" y="972185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r" eaLnBrk="1" hangingPunct="1"/>
            <a:fld id="{8E0D41DE-6798-4242-A467-5F112D2E08E5}" type="slidenum">
              <a:rPr lang="en-GB" altLang="en-US" sz="1200">
                <a:latin typeface="Calibri" panose="020F0502020204030204" pitchFamily="34" charset="0"/>
              </a:rPr>
              <a:pPr algn="r" eaLnBrk="1" hangingPunct="1"/>
              <a:t>1</a:t>
            </a:fld>
            <a:endParaRPr lang="en-GB" altLang="en-US" sz="1200" dirty="0">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538" b="0" i="0" kern="1200" dirty="0">
                    <a:solidFill>
                      <a:schemeClr val="tx1"/>
                    </a:solidFill>
                    <a:effectLst/>
                    <a:latin typeface="+mn-lt"/>
                    <a:ea typeface="ＭＳ Ｐゴシック" charset="0"/>
                    <a:cs typeface="+mn-cs"/>
                  </a:rPr>
                  <a:t>p(</a:t>
                </a:r>
                <a:r>
                  <a:rPr lang="en-GB" sz="1538" b="0" i="0" kern="1200" dirty="0" err="1">
                    <a:solidFill>
                      <a:schemeClr val="tx1"/>
                    </a:solidFill>
                    <a:effectLst/>
                    <a:latin typeface="+mn-lt"/>
                    <a:ea typeface="ＭＳ Ｐゴシック" charset="0"/>
                    <a:cs typeface="+mn-cs"/>
                  </a:rPr>
                  <a:t>y,x</a:t>
                </a:r>
                <a:r>
                  <a:rPr lang="en-GB" sz="1538" b="0" i="0" kern="1200" dirty="0">
                    <a:solidFill>
                      <a:schemeClr val="tx1"/>
                    </a:solidFill>
                    <a:effectLst/>
                    <a:latin typeface="+mn-lt"/>
                    <a:ea typeface="ＭＳ Ｐゴシック" charset="0"/>
                    <a:cs typeface="+mn-cs"/>
                  </a:rPr>
                  <a:t>): Joint probability of the label </a:t>
                </a:r>
                <a14:m>
                  <m:oMath xmlns:m="http://schemas.openxmlformats.org/officeDocument/2006/math">
                    <m:r>
                      <a:rPr lang="en-GB" sz="1538" i="1" kern="1200">
                        <a:solidFill>
                          <a:schemeClr val="tx1"/>
                        </a:solidFill>
                        <a:latin typeface="+mn-lt"/>
                        <a:ea typeface="ＭＳ Ｐゴシック" charset="0"/>
                        <a:cs typeface="+mn-cs"/>
                      </a:rPr>
                      <m:t>𝑦</m:t>
                    </m:r>
                  </m:oMath>
                </a14:m>
                <a:r>
                  <a:rPr lang="en-GB" sz="1538" b="0" i="0" kern="1200" dirty="0">
                    <a:solidFill>
                      <a:schemeClr val="tx1"/>
                    </a:solidFill>
                    <a:effectLst/>
                    <a:latin typeface="+mn-lt"/>
                    <a:ea typeface="ＭＳ Ｐゴシック" charset="0"/>
                    <a:cs typeface="+mn-cs"/>
                  </a:rPr>
                  <a:t> and all features </a:t>
                </a:r>
                <a14:m>
                  <m:oMath xmlns:m="http://schemas.openxmlformats.org/officeDocument/2006/math">
                    <m:r>
                      <a:rPr lang="en-GB" sz="1538" b="1" kern="1200">
                        <a:solidFill>
                          <a:schemeClr val="tx1"/>
                        </a:solidFill>
                        <a:latin typeface="+mn-lt"/>
                        <a:ea typeface="ＭＳ Ｐゴシック" charset="0"/>
                        <a:cs typeface="+mn-cs"/>
                      </a:rPr>
                      <m:t>𝐱</m:t>
                    </m:r>
                  </m:oMath>
                </a14:m>
                <a:r>
                  <a:rPr lang="en-GB" sz="1538" b="0" i="0" kern="1200" dirty="0">
                    <a:solidFill>
                      <a:schemeClr val="tx1"/>
                    </a:solidFill>
                    <a:effectLst/>
                    <a:latin typeface="+mn-lt"/>
                    <a:ea typeface="ＭＳ Ｐゴシック" charset="0"/>
                    <a:cs typeface="+mn-cs"/>
                  </a:rPr>
                  <a:t>.</a:t>
                </a:r>
                <a14:m>
                  <m:oMath xmlns:m="http://schemas.openxmlformats.org/officeDocument/2006/math">
                    <m:r>
                      <a:rPr lang="en-GB" sz="1538" i="1" kern="1200">
                        <a:solidFill>
                          <a:schemeClr val="tx1"/>
                        </a:solidFill>
                        <a:latin typeface="+mn-lt"/>
                        <a:ea typeface="ＭＳ Ｐゴシック" charset="0"/>
                        <a:cs typeface="+mn-cs"/>
                      </a:rPr>
                      <m:t>𝑝</m:t>
                    </m:r>
                    <m:d>
                      <m:dPr>
                        <m:ctrlPr>
                          <a:rPr lang="ar-AE" sz="1538" i="1" kern="1200">
                            <a:solidFill>
                              <a:schemeClr val="tx1"/>
                            </a:solidFill>
                            <a:latin typeface="+mn-lt"/>
                            <a:ea typeface="ＭＳ Ｐゴシック" charset="0"/>
                            <a:cs typeface="+mn-cs"/>
                          </a:rPr>
                        </m:ctrlPr>
                      </m:dPr>
                      <m:e>
                        <m:r>
                          <a:rPr lang="ar-AE" sz="1538" i="1" kern="1200">
                            <a:solidFill>
                              <a:schemeClr val="tx1"/>
                            </a:solidFill>
                            <a:latin typeface="+mn-lt"/>
                            <a:ea typeface="ＭＳ Ｐゴシック" charset="0"/>
                            <a:cs typeface="+mn-cs"/>
                          </a:rPr>
                          <m:t>𝑦</m:t>
                        </m:r>
                      </m:e>
                    </m:d>
                  </m:oMath>
                </a14:m>
                <a:r>
                  <a:rPr lang="ar-AE" sz="1538" b="0" i="0" kern="1200" dirty="0">
                    <a:solidFill>
                      <a:schemeClr val="tx1"/>
                    </a:solidFill>
                    <a:effectLst/>
                    <a:latin typeface="+mn-lt"/>
                    <a:ea typeface="ＭＳ Ｐゴシック" charset="0"/>
                    <a:cs typeface="+mn-cs"/>
                  </a:rPr>
                  <a:t>: </a:t>
                </a:r>
                <a:r>
                  <a:rPr lang="en-GB" sz="1538" b="0" i="0" kern="1200" dirty="0">
                    <a:solidFill>
                      <a:schemeClr val="tx1"/>
                    </a:solidFill>
                    <a:effectLst/>
                    <a:latin typeface="+mn-lt"/>
                    <a:ea typeface="ＭＳ Ｐゴシック" charset="0"/>
                    <a:cs typeface="+mn-cs"/>
                  </a:rPr>
                  <a:t>Prior probability of the class </a:t>
                </a:r>
                <a14:m>
                  <m:oMath xmlns:m="http://schemas.openxmlformats.org/officeDocument/2006/math">
                    <m:r>
                      <a:rPr lang="en-GB" sz="1538" i="1" kern="1200">
                        <a:solidFill>
                          <a:schemeClr val="tx1"/>
                        </a:solidFill>
                        <a:latin typeface="+mn-lt"/>
                        <a:ea typeface="ＭＳ Ｐゴシック" charset="0"/>
                        <a:cs typeface="+mn-cs"/>
                      </a:rPr>
                      <m:t>𝑦</m:t>
                    </m:r>
                  </m:oMath>
                </a14:m>
                <a:r>
                  <a:rPr lang="en-GB" sz="1538" b="0" i="0" kern="1200" dirty="0">
                    <a:solidFill>
                      <a:schemeClr val="tx1"/>
                    </a:solidFill>
                    <a:effectLst/>
                    <a:latin typeface="+mn-lt"/>
                    <a:ea typeface="ＭＳ Ｐゴシック" charset="0"/>
                    <a:cs typeface="+mn-cs"/>
                  </a:rPr>
                  <a:t>.</a:t>
                </a:r>
                <a14:m>
                  <m:oMath xmlns:m="http://schemas.openxmlformats.org/officeDocument/2006/math">
                    <m:nary>
                      <m:naryPr>
                        <m:chr m:val="∏"/>
                        <m:limLoc m:val="subSup"/>
                        <m:grow m:val="on"/>
                        <m:ctrlPr>
                          <a:rPr lang="ar-AE" sz="1538" kern="1200">
                            <a:solidFill>
                              <a:schemeClr val="tx1"/>
                            </a:solidFill>
                            <a:latin typeface="+mn-lt"/>
                            <a:ea typeface="ＭＳ Ｐゴシック" charset="0"/>
                            <a:cs typeface="+mn-cs"/>
                          </a:rPr>
                        </m:ctrlPr>
                      </m:naryPr>
                      <m:sub>
                        <m:r>
                          <a:rPr lang="ar-AE" sz="1538" i="1" kern="1200">
                            <a:solidFill>
                              <a:schemeClr val="tx1"/>
                            </a:solidFill>
                            <a:latin typeface="+mn-lt"/>
                            <a:ea typeface="ＭＳ Ｐゴシック" charset="0"/>
                            <a:cs typeface="+mn-cs"/>
                          </a:rPr>
                          <m:t>𝑗</m:t>
                        </m:r>
                        <m:r>
                          <a:rPr lang="ar-AE" sz="1538" i="0" kern="1200">
                            <a:solidFill>
                              <a:schemeClr val="tx1"/>
                            </a:solidFill>
                            <a:latin typeface="+mn-lt"/>
                            <a:ea typeface="ＭＳ Ｐゴシック" charset="0"/>
                            <a:cs typeface="+mn-cs"/>
                          </a:rPr>
                          <m:t>=1</m:t>
                        </m:r>
                      </m:sub>
                      <m:sup>
                        <m:r>
                          <a:rPr lang="ar-AE" sz="1538" i="1" kern="1200">
                            <a:solidFill>
                              <a:schemeClr val="tx1"/>
                            </a:solidFill>
                            <a:latin typeface="+mn-lt"/>
                            <a:ea typeface="ＭＳ Ｐゴシック" charset="0"/>
                            <a:cs typeface="+mn-cs"/>
                          </a:rPr>
                          <m:t>𝐷</m:t>
                        </m:r>
                      </m:sup>
                      <m:e>
                        <m:r>
                          <a:rPr lang="ar-AE" sz="1538" i="1" kern="1200">
                            <a:solidFill>
                              <a:schemeClr val="tx1"/>
                            </a:solidFill>
                            <a:latin typeface="+mn-lt"/>
                            <a:ea typeface="ＭＳ Ｐゴシック" charset="0"/>
                            <a:cs typeface="+mn-cs"/>
                          </a:rPr>
                          <m:t>𝑝</m:t>
                        </m:r>
                      </m:e>
                    </m:nary>
                    <m:d>
                      <m:dPr>
                        <m:ctrlPr>
                          <a:rPr lang="ar-AE" sz="1538" i="1" kern="1200">
                            <a:solidFill>
                              <a:schemeClr val="tx1"/>
                            </a:solidFill>
                            <a:latin typeface="+mn-lt"/>
                            <a:ea typeface="ＭＳ Ｐゴシック" charset="0"/>
                            <a:cs typeface="+mn-cs"/>
                          </a:rPr>
                        </m:ctrlPr>
                      </m:dPr>
                      <m:e>
                        <m:sSub>
                          <m:sSubPr>
                            <m:ctrlPr>
                              <a:rPr lang="ar-AE" sz="1538" i="1" kern="1200">
                                <a:solidFill>
                                  <a:schemeClr val="tx1"/>
                                </a:solidFill>
                                <a:latin typeface="+mn-lt"/>
                                <a:ea typeface="ＭＳ Ｐゴシック" charset="0"/>
                                <a:cs typeface="+mn-cs"/>
                              </a:rPr>
                            </m:ctrlPr>
                          </m:sSubPr>
                          <m:e>
                            <m:r>
                              <a:rPr lang="ar-AE" sz="1538" i="1" kern="1200">
                                <a:solidFill>
                                  <a:schemeClr val="tx1"/>
                                </a:solidFill>
                                <a:latin typeface="+mn-lt"/>
                                <a:ea typeface="ＭＳ Ｐゴシック" charset="0"/>
                                <a:cs typeface="+mn-cs"/>
                              </a:rPr>
                              <m:t>𝑥</m:t>
                            </m:r>
                          </m:e>
                          <m:sub>
                            <m:r>
                              <a:rPr lang="ar-AE" sz="1538" i="1" kern="1200">
                                <a:solidFill>
                                  <a:schemeClr val="tx1"/>
                                </a:solidFill>
                                <a:latin typeface="+mn-lt"/>
                                <a:ea typeface="ＭＳ Ｐゴシック" charset="0"/>
                                <a:cs typeface="+mn-cs"/>
                              </a:rPr>
                              <m:t>𝑗</m:t>
                            </m:r>
                          </m:sub>
                        </m:sSub>
                        <m:r>
                          <a:rPr lang="ar-AE" sz="1538" i="0" kern="1200">
                            <a:solidFill>
                              <a:schemeClr val="tx1"/>
                            </a:solidFill>
                            <a:latin typeface="+mn-lt"/>
                            <a:ea typeface="ＭＳ Ｐゴシック" charset="0"/>
                            <a:cs typeface="+mn-cs"/>
                          </a:rPr>
                          <m:t>∣</m:t>
                        </m:r>
                        <m:r>
                          <a:rPr lang="ar-AE" sz="1538" i="1" kern="1200">
                            <a:solidFill>
                              <a:schemeClr val="tx1"/>
                            </a:solidFill>
                            <a:latin typeface="+mn-lt"/>
                            <a:ea typeface="ＭＳ Ｐゴシック" charset="0"/>
                            <a:cs typeface="+mn-cs"/>
                          </a:rPr>
                          <m:t>𝑦</m:t>
                        </m:r>
                      </m:e>
                    </m:d>
                  </m:oMath>
                </a14:m>
                <a:r>
                  <a:rPr lang="ar-AE" sz="1538" b="0" i="0" kern="1200" dirty="0">
                    <a:solidFill>
                      <a:schemeClr val="tx1"/>
                    </a:solidFill>
                    <a:effectLst/>
                    <a:latin typeface="+mn-lt"/>
                    <a:ea typeface="ＭＳ Ｐゴシック" charset="0"/>
                    <a:cs typeface="+mn-cs"/>
                  </a:rPr>
                  <a:t>: </a:t>
                </a:r>
                <a:r>
                  <a:rPr lang="en-GB" sz="1538" b="0" i="0" kern="1200" dirty="0">
                    <a:solidFill>
                      <a:schemeClr val="tx1"/>
                    </a:solidFill>
                    <a:effectLst/>
                    <a:latin typeface="+mn-lt"/>
                    <a:ea typeface="ＭＳ Ｐゴシック" charset="0"/>
                    <a:cs typeface="+mn-cs"/>
                  </a:rPr>
                  <a:t>Product of conditional probabilities of each feature given the class.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538" b="0" i="0" kern="1200" dirty="0">
                  <a:solidFill>
                    <a:schemeClr val="tx1"/>
                  </a:solidFill>
                  <a:effectLst/>
                  <a:latin typeface="+mn-lt"/>
                  <a:ea typeface="ＭＳ Ｐゴシック" charset="0"/>
                  <a:cs typeface="+mn-cs"/>
                </a:endParaRPr>
              </a:p>
            </p:txBody>
          </p:sp>
        </mc:Choice>
        <mc:Fallback>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538" b="0" i="0" kern="1200" dirty="0">
                    <a:solidFill>
                      <a:schemeClr val="tx1"/>
                    </a:solidFill>
                    <a:effectLst/>
                    <a:latin typeface="+mn-lt"/>
                    <a:ea typeface="ＭＳ Ｐゴシック" charset="0"/>
                    <a:cs typeface="+mn-cs"/>
                  </a:rPr>
                  <a:t>p(</a:t>
                </a:r>
                <a:r>
                  <a:rPr lang="en-GB" sz="1538" b="0" i="0" kern="1200" dirty="0" err="1">
                    <a:solidFill>
                      <a:schemeClr val="tx1"/>
                    </a:solidFill>
                    <a:effectLst/>
                    <a:latin typeface="+mn-lt"/>
                    <a:ea typeface="ＭＳ Ｐゴシック" charset="0"/>
                    <a:cs typeface="+mn-cs"/>
                  </a:rPr>
                  <a:t>y,x</a:t>
                </a:r>
                <a:r>
                  <a:rPr lang="en-GB" sz="1538" b="0" i="0" kern="1200" dirty="0">
                    <a:solidFill>
                      <a:schemeClr val="tx1"/>
                    </a:solidFill>
                    <a:effectLst/>
                    <a:latin typeface="+mn-lt"/>
                    <a:ea typeface="ＭＳ Ｐゴシック" charset="0"/>
                    <a:cs typeface="+mn-cs"/>
                  </a:rPr>
                  <a:t>): Joint probability of the label </a:t>
                </a:r>
                <a:r>
                  <a:rPr lang="en-GB" sz="1538" i="0" kern="1200">
                    <a:solidFill>
                      <a:schemeClr val="tx1"/>
                    </a:solidFill>
                    <a:latin typeface="+mn-lt"/>
                    <a:ea typeface="ＭＳ Ｐゴシック" charset="0"/>
                    <a:cs typeface="+mn-cs"/>
                  </a:rPr>
                  <a:t>𝑦</a:t>
                </a:r>
                <a:r>
                  <a:rPr lang="en-GB" sz="1538" b="0" i="0" kern="1200" dirty="0">
                    <a:solidFill>
                      <a:schemeClr val="tx1"/>
                    </a:solidFill>
                    <a:effectLst/>
                    <a:latin typeface="+mn-lt"/>
                    <a:ea typeface="ＭＳ Ｐゴシック" charset="0"/>
                    <a:cs typeface="+mn-cs"/>
                  </a:rPr>
                  <a:t> and all features </a:t>
                </a:r>
                <a:r>
                  <a:rPr lang="en-GB" sz="1538" b="1" i="0" kern="1200">
                    <a:solidFill>
                      <a:schemeClr val="tx1"/>
                    </a:solidFill>
                    <a:latin typeface="+mn-lt"/>
                    <a:ea typeface="ＭＳ Ｐゴシック" charset="0"/>
                    <a:cs typeface="+mn-cs"/>
                  </a:rPr>
                  <a:t>𝐱</a:t>
                </a:r>
                <a:r>
                  <a:rPr lang="en-GB" sz="1538" b="0" i="0" kern="1200" dirty="0">
                    <a:solidFill>
                      <a:schemeClr val="tx1"/>
                    </a:solidFill>
                    <a:effectLst/>
                    <a:latin typeface="+mn-lt"/>
                    <a:ea typeface="ＭＳ Ｐゴシック" charset="0"/>
                    <a:cs typeface="+mn-cs"/>
                  </a:rPr>
                  <a:t>.</a:t>
                </a:r>
                <a:r>
                  <a:rPr lang="en-GB" sz="1538" i="0" kern="1200">
                    <a:solidFill>
                      <a:schemeClr val="tx1"/>
                    </a:solidFill>
                    <a:latin typeface="+mn-lt"/>
                    <a:ea typeface="ＭＳ Ｐゴシック" charset="0"/>
                    <a:cs typeface="+mn-cs"/>
                  </a:rPr>
                  <a:t>𝑝</a:t>
                </a:r>
                <a:r>
                  <a:rPr lang="ar-AE" sz="1538" i="0" kern="1200">
                    <a:solidFill>
                      <a:schemeClr val="tx1"/>
                    </a:solidFill>
                    <a:latin typeface="+mn-lt"/>
                    <a:ea typeface="ＭＳ Ｐゴシック" charset="0"/>
                    <a:cs typeface="+mn-cs"/>
                  </a:rPr>
                  <a:t>(𝑦)</a:t>
                </a:r>
                <a:r>
                  <a:rPr lang="ar-AE" sz="1538" b="0" i="0" kern="1200" dirty="0">
                    <a:solidFill>
                      <a:schemeClr val="tx1"/>
                    </a:solidFill>
                    <a:effectLst/>
                    <a:latin typeface="+mn-lt"/>
                    <a:ea typeface="ＭＳ Ｐゴシック" charset="0"/>
                    <a:cs typeface="+mn-cs"/>
                  </a:rPr>
                  <a:t>: </a:t>
                </a:r>
                <a:r>
                  <a:rPr lang="en-GB" sz="1538" b="0" i="0" kern="1200" dirty="0">
                    <a:solidFill>
                      <a:schemeClr val="tx1"/>
                    </a:solidFill>
                    <a:effectLst/>
                    <a:latin typeface="+mn-lt"/>
                    <a:ea typeface="ＭＳ Ｐゴシック" charset="0"/>
                    <a:cs typeface="+mn-cs"/>
                  </a:rPr>
                  <a:t>Prior probability of the class </a:t>
                </a:r>
                <a:r>
                  <a:rPr lang="en-GB" sz="1538" i="0" kern="1200">
                    <a:solidFill>
                      <a:schemeClr val="tx1"/>
                    </a:solidFill>
                    <a:latin typeface="+mn-lt"/>
                    <a:ea typeface="ＭＳ Ｐゴシック" charset="0"/>
                    <a:cs typeface="+mn-cs"/>
                  </a:rPr>
                  <a:t>𝑦</a:t>
                </a:r>
                <a:r>
                  <a:rPr lang="en-GB" sz="1538" b="0" i="0" kern="1200" dirty="0">
                    <a:solidFill>
                      <a:schemeClr val="tx1"/>
                    </a:solidFill>
                    <a:effectLst/>
                    <a:latin typeface="+mn-lt"/>
                    <a:ea typeface="ＭＳ Ｐゴシック" charset="0"/>
                    <a:cs typeface="+mn-cs"/>
                  </a:rPr>
                  <a:t>.</a:t>
                </a:r>
                <a:r>
                  <a:rPr lang="ar-AE" sz="1538" i="0" kern="1200">
                    <a:solidFill>
                      <a:schemeClr val="tx1"/>
                    </a:solidFill>
                    <a:latin typeface="+mn-lt"/>
                    <a:ea typeface="ＭＳ Ｐゴシック" charset="0"/>
                    <a:cs typeface="+mn-cs"/>
                  </a:rPr>
                  <a:t>∏130_(𝑗=1)^𝐷▒𝑝 (𝑥_𝑗∣𝑦)</a:t>
                </a:r>
                <a:r>
                  <a:rPr lang="ar-AE" sz="1538" b="0" i="0" kern="1200" dirty="0">
                    <a:solidFill>
                      <a:schemeClr val="tx1"/>
                    </a:solidFill>
                    <a:effectLst/>
                    <a:latin typeface="+mn-lt"/>
                    <a:ea typeface="ＭＳ Ｐゴシック" charset="0"/>
                    <a:cs typeface="+mn-cs"/>
                  </a:rPr>
                  <a:t>: </a:t>
                </a:r>
                <a:r>
                  <a:rPr lang="en-GB" sz="1538" b="0" i="0" kern="1200" dirty="0">
                    <a:solidFill>
                      <a:schemeClr val="tx1"/>
                    </a:solidFill>
                    <a:effectLst/>
                    <a:latin typeface="+mn-lt"/>
                    <a:ea typeface="ＭＳ Ｐゴシック" charset="0"/>
                    <a:cs typeface="+mn-cs"/>
                  </a:rPr>
                  <a:t>Product of conditional probabilities of each feature given the class.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538" b="0" i="0" kern="1200" dirty="0">
                  <a:solidFill>
                    <a:schemeClr val="tx1"/>
                  </a:solidFill>
                  <a:effectLst/>
                  <a:latin typeface="+mn-lt"/>
                  <a:ea typeface="ＭＳ Ｐゴシック" charset="0"/>
                  <a:cs typeface="+mn-cs"/>
                </a:endParaRPr>
              </a:p>
            </p:txBody>
          </p:sp>
        </mc:Fallback>
      </mc:AlternateContent>
      <p:sp>
        <p:nvSpPr>
          <p:cNvPr id="4" name="Slide Number Placeholder 3"/>
          <p:cNvSpPr>
            <a:spLocks noGrp="1"/>
          </p:cNvSpPr>
          <p:nvPr>
            <p:ph type="sldNum" sz="quarter" idx="5"/>
          </p:nvPr>
        </p:nvSpPr>
        <p:spPr/>
        <p:txBody>
          <a:bodyPr/>
          <a:lstStyle/>
          <a:p>
            <a:fld id="{59214167-E1A5-3945-8E06-82ED2D3A03C3}" type="slidenum">
              <a:rPr lang="en-GB" altLang="en-US" smtClean="0"/>
              <a:pPr/>
              <a:t>11</a:t>
            </a:fld>
            <a:endParaRPr lang="en-GB" altLang="en-US" dirty="0"/>
          </a:p>
        </p:txBody>
      </p:sp>
    </p:spTree>
    <p:extLst>
      <p:ext uri="{BB962C8B-B14F-4D97-AF65-F5344CB8AC3E}">
        <p14:creationId xmlns:p14="http://schemas.microsoft.com/office/powerpoint/2010/main" val="3912018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538" b="0" i="0" kern="1200" dirty="0">
                    <a:solidFill>
                      <a:schemeClr val="tx1"/>
                    </a:solidFill>
                    <a:effectLst/>
                    <a:latin typeface="+mn-lt"/>
                    <a:ea typeface="ＭＳ Ｐゴシック" charset="0"/>
                    <a:cs typeface="+mn-cs"/>
                  </a:rPr>
                  <a:t>p(y): Prior probability of the class </a:t>
                </a:r>
                <a14:m>
                  <m:oMath xmlns:m="http://schemas.openxmlformats.org/officeDocument/2006/math">
                    <m:r>
                      <a:rPr lang="en-GB" sz="1538" i="1" kern="1200">
                        <a:solidFill>
                          <a:schemeClr val="tx1"/>
                        </a:solidFill>
                        <a:latin typeface="+mn-lt"/>
                        <a:ea typeface="ＭＳ Ｐゴシック" charset="0"/>
                        <a:cs typeface="+mn-cs"/>
                      </a:rPr>
                      <m:t>𝑦</m:t>
                    </m:r>
                  </m:oMath>
                </a14:m>
                <a:r>
                  <a:rPr lang="en-GB" sz="1538" b="0" i="0" kern="1200" dirty="0">
                    <a:solidFill>
                      <a:schemeClr val="tx1"/>
                    </a:solidFill>
                    <a:effectLst/>
                    <a:latin typeface="+mn-lt"/>
                    <a:ea typeface="ＭＳ Ｐゴシック" charset="0"/>
                    <a:cs typeface="+mn-cs"/>
                  </a:rPr>
                  <a:t>.</a:t>
                </a:r>
              </a:p>
              <a:p>
                <a:endParaRPr lang="en-GB" dirty="0"/>
              </a:p>
            </p:txBody>
          </p:sp>
        </mc:Choice>
        <mc:Fallback>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538" b="0" i="0" kern="1200" dirty="0">
                    <a:solidFill>
                      <a:schemeClr val="tx1"/>
                    </a:solidFill>
                    <a:effectLst/>
                    <a:latin typeface="+mn-lt"/>
                    <a:ea typeface="ＭＳ Ｐゴシック" charset="0"/>
                    <a:cs typeface="+mn-cs"/>
                  </a:rPr>
                  <a:t>p(y): Prior probability of the class </a:t>
                </a:r>
                <a:r>
                  <a:rPr lang="en-GB" sz="1538" i="0" kern="1200">
                    <a:solidFill>
                      <a:schemeClr val="tx1"/>
                    </a:solidFill>
                    <a:latin typeface="+mn-lt"/>
                    <a:ea typeface="ＭＳ Ｐゴシック" charset="0"/>
                    <a:cs typeface="+mn-cs"/>
                  </a:rPr>
                  <a:t>𝑦</a:t>
                </a:r>
                <a:r>
                  <a:rPr lang="en-GB" sz="1538" b="0" i="0" kern="1200" dirty="0">
                    <a:solidFill>
                      <a:schemeClr val="tx1"/>
                    </a:solidFill>
                    <a:effectLst/>
                    <a:latin typeface="+mn-lt"/>
                    <a:ea typeface="ＭＳ Ｐゴシック" charset="0"/>
                    <a:cs typeface="+mn-cs"/>
                  </a:rPr>
                  <a:t>.</a:t>
                </a:r>
              </a:p>
              <a:p>
                <a:endParaRPr lang="en-GB" dirty="0"/>
              </a:p>
            </p:txBody>
          </p:sp>
        </mc:Fallback>
      </mc:AlternateContent>
      <p:sp>
        <p:nvSpPr>
          <p:cNvPr id="4" name="Slide Number Placeholder 3"/>
          <p:cNvSpPr>
            <a:spLocks noGrp="1"/>
          </p:cNvSpPr>
          <p:nvPr>
            <p:ph type="sldNum" sz="quarter" idx="5"/>
          </p:nvPr>
        </p:nvSpPr>
        <p:spPr/>
        <p:txBody>
          <a:bodyPr/>
          <a:lstStyle/>
          <a:p>
            <a:fld id="{59214167-E1A5-3945-8E06-82ED2D3A03C3}" type="slidenum">
              <a:rPr lang="en-GB" altLang="en-US" smtClean="0"/>
              <a:pPr/>
              <a:t>12</a:t>
            </a:fld>
            <a:endParaRPr lang="en-GB" altLang="en-US" dirty="0"/>
          </a:p>
        </p:txBody>
      </p:sp>
    </p:spTree>
    <p:extLst>
      <p:ext uri="{BB962C8B-B14F-4D97-AF65-F5344CB8AC3E}">
        <p14:creationId xmlns:p14="http://schemas.microsoft.com/office/powerpoint/2010/main" val="2071956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9214167-E1A5-3945-8E06-82ED2D3A03C3}" type="slidenum">
              <a:rPr lang="en-GB" altLang="en-US" smtClean="0"/>
              <a:pPr/>
              <a:t>29</a:t>
            </a:fld>
            <a:endParaRPr lang="en-GB" altLang="en-US" dirty="0"/>
          </a:p>
        </p:txBody>
      </p:sp>
    </p:spTree>
    <p:extLst>
      <p:ext uri="{BB962C8B-B14F-4D97-AF65-F5344CB8AC3E}">
        <p14:creationId xmlns:p14="http://schemas.microsoft.com/office/powerpoint/2010/main" val="3512254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9214167-E1A5-3945-8E06-82ED2D3A03C3}" type="slidenum">
              <a:rPr lang="en-GB" altLang="en-US" smtClean="0"/>
              <a:pPr/>
              <a:t>58</a:t>
            </a:fld>
            <a:endParaRPr lang="en-GB" altLang="en-US" dirty="0"/>
          </a:p>
        </p:txBody>
      </p:sp>
    </p:spTree>
    <p:extLst>
      <p:ext uri="{BB962C8B-B14F-4D97-AF65-F5344CB8AC3E}">
        <p14:creationId xmlns:p14="http://schemas.microsoft.com/office/powerpoint/2010/main" val="2970864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7"/>
            <a:ext cx="10363200" cy="1470025"/>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182" indent="0" algn="ctr">
              <a:buNone/>
              <a:defRPr/>
            </a:lvl2pPr>
            <a:lvl3pPr marL="914364" indent="0" algn="ctr">
              <a:buNone/>
              <a:defRPr/>
            </a:lvl3pPr>
            <a:lvl4pPr marL="1371545" indent="0" algn="ctr">
              <a:buNone/>
              <a:defRPr/>
            </a:lvl4pPr>
            <a:lvl5pPr marL="1828727" indent="0" algn="ctr">
              <a:buNone/>
              <a:defRPr/>
            </a:lvl5pPr>
            <a:lvl6pPr marL="2285909" indent="0" algn="ctr">
              <a:buNone/>
              <a:defRPr/>
            </a:lvl6pPr>
            <a:lvl7pPr marL="2743091" indent="0" algn="ctr">
              <a:buNone/>
              <a:defRPr/>
            </a:lvl7pPr>
            <a:lvl8pPr marL="3200272" indent="0" algn="ctr">
              <a:buNone/>
              <a:defRPr/>
            </a:lvl8pPr>
            <a:lvl9pPr marL="3657454" indent="0" algn="ctr">
              <a:buNone/>
              <a:defRPr/>
            </a:lvl9pPr>
          </a:lstStyle>
          <a:p>
            <a:r>
              <a:rPr lang="en-US"/>
              <a:t>Click to edit Master subtitle style</a:t>
            </a:r>
            <a:endParaRPr lang="en-GB"/>
          </a:p>
        </p:txBody>
      </p:sp>
      <p:sp>
        <p:nvSpPr>
          <p:cNvPr id="4" name="Rectangle 4">
            <a:extLst>
              <a:ext uri="{FF2B5EF4-FFF2-40B4-BE49-F238E27FC236}">
                <a16:creationId xmlns:a16="http://schemas.microsoft.com/office/drawing/2014/main" id="{7D904B62-305C-9C42-89D2-6119E8D3FBC9}"/>
              </a:ext>
            </a:extLst>
          </p:cNvPr>
          <p:cNvSpPr>
            <a:spLocks noGrp="1" noChangeArrowheads="1"/>
          </p:cNvSpPr>
          <p:nvPr>
            <p:ph type="dt" sz="half" idx="10"/>
          </p:nvPr>
        </p:nvSpPr>
        <p:spPr>
          <a:ln/>
        </p:spPr>
        <p:txBody>
          <a:bodyPr/>
          <a:lstStyle>
            <a:lvl1pPr>
              <a:defRPr/>
            </a:lvl1pPr>
          </a:lstStyle>
          <a:p>
            <a:pPr>
              <a:defRPr/>
            </a:pPr>
            <a:fld id="{5E86D6CB-748E-2A4D-9235-ACA1CC8B3124}" type="datetime1">
              <a:rPr lang="en-GB" altLang="en-US"/>
              <a:pPr>
                <a:defRPr/>
              </a:pPr>
              <a:t>29/12/2025</a:t>
            </a:fld>
            <a:endParaRPr lang="en-GB" altLang="en-US" dirty="0"/>
          </a:p>
        </p:txBody>
      </p:sp>
      <p:sp>
        <p:nvSpPr>
          <p:cNvPr id="5" name="Rectangle 5">
            <a:extLst>
              <a:ext uri="{FF2B5EF4-FFF2-40B4-BE49-F238E27FC236}">
                <a16:creationId xmlns:a16="http://schemas.microsoft.com/office/drawing/2014/main" id="{A20A5CDC-63CE-2149-BB64-1D172ABCAE45}"/>
              </a:ext>
            </a:extLst>
          </p:cNvPr>
          <p:cNvSpPr>
            <a:spLocks noGrp="1" noChangeArrowheads="1"/>
          </p:cNvSpPr>
          <p:nvPr>
            <p:ph type="ftr" sz="quarter" idx="11"/>
          </p:nvPr>
        </p:nvSpPr>
        <p:spPr>
          <a:ln/>
        </p:spPr>
        <p:txBody>
          <a:bodyPr/>
          <a:lstStyle>
            <a:lvl1pPr>
              <a:defRPr/>
            </a:lvl1pPr>
          </a:lstStyle>
          <a:p>
            <a:pPr>
              <a:defRPr/>
            </a:pPr>
            <a:endParaRPr lang="en-GB" dirty="0"/>
          </a:p>
        </p:txBody>
      </p:sp>
      <p:sp>
        <p:nvSpPr>
          <p:cNvPr id="6" name="Rectangle 6">
            <a:extLst>
              <a:ext uri="{FF2B5EF4-FFF2-40B4-BE49-F238E27FC236}">
                <a16:creationId xmlns:a16="http://schemas.microsoft.com/office/drawing/2014/main" id="{456E990A-4372-3143-8C6B-05BF7CBDF335}"/>
              </a:ext>
            </a:extLst>
          </p:cNvPr>
          <p:cNvSpPr>
            <a:spLocks noGrp="1" noChangeArrowheads="1"/>
          </p:cNvSpPr>
          <p:nvPr>
            <p:ph type="sldNum" sz="quarter" idx="12"/>
          </p:nvPr>
        </p:nvSpPr>
        <p:spPr>
          <a:ln/>
        </p:spPr>
        <p:txBody>
          <a:bodyPr/>
          <a:lstStyle>
            <a:lvl1pPr>
              <a:defRPr/>
            </a:lvl1pPr>
          </a:lstStyle>
          <a:p>
            <a:fld id="{EA06C18F-E135-A341-9ACE-C10EE9C0B8A2}" type="slidenum">
              <a:rPr lang="en-GB" altLang="en-US"/>
              <a:pPr/>
              <a:t>‹#›</a:t>
            </a:fld>
            <a:endParaRPr lang="en-GB" altLang="en-US" dirty="0"/>
          </a:p>
        </p:txBody>
      </p:sp>
    </p:spTree>
    <p:extLst>
      <p:ext uri="{BB962C8B-B14F-4D97-AF65-F5344CB8AC3E}">
        <p14:creationId xmlns:p14="http://schemas.microsoft.com/office/powerpoint/2010/main" val="698640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Gill Sans MT" panose="020B0502020104020203" pitchFamily="34" charset="77"/>
              </a:defRPr>
            </a:lvl1pPr>
          </a:lstStyle>
          <a:p>
            <a:r>
              <a:rPr lang="en-US"/>
              <a:t>Click to edit Master title style</a:t>
            </a:r>
            <a:endParaRPr lang="en-GB"/>
          </a:p>
        </p:txBody>
      </p:sp>
      <p:sp>
        <p:nvSpPr>
          <p:cNvPr id="3" name="Content Placeholder 2"/>
          <p:cNvSpPr>
            <a:spLocks noGrp="1"/>
          </p:cNvSpPr>
          <p:nvPr>
            <p:ph idx="1"/>
          </p:nvPr>
        </p:nvSpPr>
        <p:spPr/>
        <p:txBody>
          <a:bodyPr/>
          <a:lstStyle>
            <a:lvl1pPr>
              <a:spcAft>
                <a:spcPts val="720"/>
              </a:spcAft>
              <a:defRPr>
                <a:latin typeface="Gill Sans MT" panose="020B0502020104020203" pitchFamily="34" charset="77"/>
              </a:defRPr>
            </a:lvl1pPr>
            <a:lvl2pPr>
              <a:spcAft>
                <a:spcPts val="720"/>
              </a:spcAft>
              <a:defRPr>
                <a:latin typeface="Gill Sans MT" panose="020B0502020104020203" pitchFamily="34" charset="77"/>
              </a:defRPr>
            </a:lvl2pPr>
            <a:lvl3pPr>
              <a:spcAft>
                <a:spcPts val="720"/>
              </a:spcAft>
              <a:defRPr>
                <a:latin typeface="Gill Sans MT" panose="020B0502020104020203" pitchFamily="34" charset="77"/>
              </a:defRPr>
            </a:lvl3pPr>
            <a:lvl4pPr>
              <a:spcAft>
                <a:spcPts val="720"/>
              </a:spcAft>
              <a:defRPr>
                <a:latin typeface="Gill Sans MT" panose="020B0502020104020203" pitchFamily="34" charset="77"/>
              </a:defRPr>
            </a:lvl4pPr>
            <a:lvl5pPr>
              <a:spcAft>
                <a:spcPts val="720"/>
              </a:spcAft>
              <a:defRPr>
                <a:latin typeface="Gill Sans MT" panose="020B0502020104020203" pitchFamily="34" charset="77"/>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Rectangle 4">
            <a:extLst>
              <a:ext uri="{FF2B5EF4-FFF2-40B4-BE49-F238E27FC236}">
                <a16:creationId xmlns:a16="http://schemas.microsoft.com/office/drawing/2014/main" id="{9F80C212-5C02-0841-968F-9F42CEC69851}"/>
              </a:ext>
            </a:extLst>
          </p:cNvPr>
          <p:cNvSpPr>
            <a:spLocks noGrp="1" noChangeArrowheads="1"/>
          </p:cNvSpPr>
          <p:nvPr>
            <p:ph type="dt" sz="half" idx="10"/>
          </p:nvPr>
        </p:nvSpPr>
        <p:spPr>
          <a:ln/>
        </p:spPr>
        <p:txBody>
          <a:bodyPr/>
          <a:lstStyle>
            <a:lvl1pPr>
              <a:defRPr/>
            </a:lvl1pPr>
          </a:lstStyle>
          <a:p>
            <a:pPr>
              <a:defRPr/>
            </a:pPr>
            <a:fld id="{D9BFEE09-3372-E049-AB13-389BF2DB6A64}" type="datetime1">
              <a:rPr lang="en-GB" altLang="en-US"/>
              <a:pPr>
                <a:defRPr/>
              </a:pPr>
              <a:t>29/12/2025</a:t>
            </a:fld>
            <a:endParaRPr lang="en-GB" altLang="en-US" dirty="0"/>
          </a:p>
        </p:txBody>
      </p:sp>
      <p:sp>
        <p:nvSpPr>
          <p:cNvPr id="5" name="Rectangle 5">
            <a:extLst>
              <a:ext uri="{FF2B5EF4-FFF2-40B4-BE49-F238E27FC236}">
                <a16:creationId xmlns:a16="http://schemas.microsoft.com/office/drawing/2014/main" id="{6E5D9107-6114-9943-80E2-AE83171C7863}"/>
              </a:ext>
            </a:extLst>
          </p:cNvPr>
          <p:cNvSpPr>
            <a:spLocks noGrp="1" noChangeArrowheads="1"/>
          </p:cNvSpPr>
          <p:nvPr>
            <p:ph type="ftr" sz="quarter" idx="11"/>
          </p:nvPr>
        </p:nvSpPr>
        <p:spPr>
          <a:ln/>
        </p:spPr>
        <p:txBody>
          <a:bodyPr/>
          <a:lstStyle>
            <a:lvl1pPr>
              <a:defRPr/>
            </a:lvl1pPr>
          </a:lstStyle>
          <a:p>
            <a:pPr>
              <a:defRPr/>
            </a:pPr>
            <a:endParaRPr lang="en-GB" dirty="0"/>
          </a:p>
        </p:txBody>
      </p:sp>
      <p:sp>
        <p:nvSpPr>
          <p:cNvPr id="6" name="Rectangle 6">
            <a:extLst>
              <a:ext uri="{FF2B5EF4-FFF2-40B4-BE49-F238E27FC236}">
                <a16:creationId xmlns:a16="http://schemas.microsoft.com/office/drawing/2014/main" id="{307A0751-7085-4346-AA45-3E148D7EEA8C}"/>
              </a:ext>
            </a:extLst>
          </p:cNvPr>
          <p:cNvSpPr>
            <a:spLocks noGrp="1" noChangeArrowheads="1"/>
          </p:cNvSpPr>
          <p:nvPr>
            <p:ph type="sldNum" sz="quarter" idx="12"/>
          </p:nvPr>
        </p:nvSpPr>
        <p:spPr>
          <a:ln/>
        </p:spPr>
        <p:txBody>
          <a:bodyPr/>
          <a:lstStyle>
            <a:lvl1pPr>
              <a:defRPr/>
            </a:lvl1pPr>
          </a:lstStyle>
          <a:p>
            <a:fld id="{44E22EE9-B8A0-0641-9265-052CFE9B95A7}" type="slidenum">
              <a:rPr lang="en-GB" altLang="en-US"/>
              <a:pPr/>
              <a:t>‹#›</a:t>
            </a:fld>
            <a:endParaRPr lang="en-GB" altLang="en-US" dirty="0"/>
          </a:p>
        </p:txBody>
      </p:sp>
    </p:spTree>
    <p:extLst>
      <p:ext uri="{BB962C8B-B14F-4D97-AF65-F5344CB8AC3E}">
        <p14:creationId xmlns:p14="http://schemas.microsoft.com/office/powerpoint/2010/main" val="1449780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6"/>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182" indent="0">
              <a:buNone/>
              <a:defRPr sz="1800"/>
            </a:lvl2pPr>
            <a:lvl3pPr marL="914364" indent="0">
              <a:buNone/>
              <a:defRPr sz="1600"/>
            </a:lvl3pPr>
            <a:lvl4pPr marL="1371545" indent="0">
              <a:buNone/>
              <a:defRPr sz="1400"/>
            </a:lvl4pPr>
            <a:lvl5pPr marL="1828727" indent="0">
              <a:buNone/>
              <a:defRPr sz="1400"/>
            </a:lvl5pPr>
            <a:lvl6pPr marL="2285909" indent="0">
              <a:buNone/>
              <a:defRPr sz="1400"/>
            </a:lvl6pPr>
            <a:lvl7pPr marL="2743091" indent="0">
              <a:buNone/>
              <a:defRPr sz="1400"/>
            </a:lvl7pPr>
            <a:lvl8pPr marL="3200272" indent="0">
              <a:buNone/>
              <a:defRPr sz="1400"/>
            </a:lvl8pPr>
            <a:lvl9pPr marL="3657454"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0993CF81-ACE4-4544-B7C6-4B3AA9A98B33}"/>
              </a:ext>
            </a:extLst>
          </p:cNvPr>
          <p:cNvSpPr>
            <a:spLocks noGrp="1" noChangeArrowheads="1"/>
          </p:cNvSpPr>
          <p:nvPr>
            <p:ph type="dt" sz="half" idx="10"/>
          </p:nvPr>
        </p:nvSpPr>
        <p:spPr>
          <a:ln/>
        </p:spPr>
        <p:txBody>
          <a:bodyPr/>
          <a:lstStyle>
            <a:lvl1pPr>
              <a:defRPr/>
            </a:lvl1pPr>
          </a:lstStyle>
          <a:p>
            <a:pPr>
              <a:defRPr/>
            </a:pPr>
            <a:fld id="{09B9050B-8877-4640-B6D9-2E87E66B219C}" type="datetime1">
              <a:rPr lang="en-GB" altLang="en-US"/>
              <a:pPr>
                <a:defRPr/>
              </a:pPr>
              <a:t>29/12/2025</a:t>
            </a:fld>
            <a:endParaRPr lang="en-GB" altLang="en-US" dirty="0"/>
          </a:p>
        </p:txBody>
      </p:sp>
      <p:sp>
        <p:nvSpPr>
          <p:cNvPr id="5" name="Rectangle 5">
            <a:extLst>
              <a:ext uri="{FF2B5EF4-FFF2-40B4-BE49-F238E27FC236}">
                <a16:creationId xmlns:a16="http://schemas.microsoft.com/office/drawing/2014/main" id="{CB4DB7D0-696F-9241-AE9B-CE074CBD2FD2}"/>
              </a:ext>
            </a:extLst>
          </p:cNvPr>
          <p:cNvSpPr>
            <a:spLocks noGrp="1" noChangeArrowheads="1"/>
          </p:cNvSpPr>
          <p:nvPr>
            <p:ph type="ftr" sz="quarter" idx="11"/>
          </p:nvPr>
        </p:nvSpPr>
        <p:spPr>
          <a:ln/>
        </p:spPr>
        <p:txBody>
          <a:bodyPr/>
          <a:lstStyle>
            <a:lvl1pPr>
              <a:defRPr/>
            </a:lvl1pPr>
          </a:lstStyle>
          <a:p>
            <a:pPr>
              <a:defRPr/>
            </a:pPr>
            <a:endParaRPr lang="en-GB" dirty="0"/>
          </a:p>
        </p:txBody>
      </p:sp>
      <p:sp>
        <p:nvSpPr>
          <p:cNvPr id="6" name="Rectangle 6">
            <a:extLst>
              <a:ext uri="{FF2B5EF4-FFF2-40B4-BE49-F238E27FC236}">
                <a16:creationId xmlns:a16="http://schemas.microsoft.com/office/drawing/2014/main" id="{DC354506-7C5F-6747-9655-00931CDCE0E6}"/>
              </a:ext>
            </a:extLst>
          </p:cNvPr>
          <p:cNvSpPr>
            <a:spLocks noGrp="1" noChangeArrowheads="1"/>
          </p:cNvSpPr>
          <p:nvPr>
            <p:ph type="sldNum" sz="quarter" idx="12"/>
          </p:nvPr>
        </p:nvSpPr>
        <p:spPr>
          <a:ln/>
        </p:spPr>
        <p:txBody>
          <a:bodyPr/>
          <a:lstStyle>
            <a:lvl1pPr>
              <a:defRPr/>
            </a:lvl1pPr>
          </a:lstStyle>
          <a:p>
            <a:fld id="{9834D1D5-66F3-7D4D-9A3F-F24FEF0D885E}" type="slidenum">
              <a:rPr lang="en-GB" altLang="en-US"/>
              <a:pPr/>
              <a:t>‹#›</a:t>
            </a:fld>
            <a:endParaRPr lang="en-GB" altLang="en-US" dirty="0"/>
          </a:p>
        </p:txBody>
      </p:sp>
    </p:spTree>
    <p:extLst>
      <p:ext uri="{BB962C8B-B14F-4D97-AF65-F5344CB8AC3E}">
        <p14:creationId xmlns:p14="http://schemas.microsoft.com/office/powerpoint/2010/main" val="86552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09600" y="1268414"/>
            <a:ext cx="53848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97600" y="1268414"/>
            <a:ext cx="5384800" cy="4968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a:extLst>
              <a:ext uri="{FF2B5EF4-FFF2-40B4-BE49-F238E27FC236}">
                <a16:creationId xmlns:a16="http://schemas.microsoft.com/office/drawing/2014/main" id="{F44D70F9-4211-0143-A00A-74FD549C381F}"/>
              </a:ext>
            </a:extLst>
          </p:cNvPr>
          <p:cNvSpPr>
            <a:spLocks noGrp="1" noChangeArrowheads="1"/>
          </p:cNvSpPr>
          <p:nvPr>
            <p:ph type="dt" sz="half" idx="10"/>
          </p:nvPr>
        </p:nvSpPr>
        <p:spPr>
          <a:ln/>
        </p:spPr>
        <p:txBody>
          <a:bodyPr/>
          <a:lstStyle>
            <a:lvl1pPr>
              <a:defRPr/>
            </a:lvl1pPr>
          </a:lstStyle>
          <a:p>
            <a:pPr>
              <a:defRPr/>
            </a:pPr>
            <a:fld id="{B3FC2FB3-EE14-7E49-98D2-13C02D70E5BC}" type="datetime1">
              <a:rPr lang="en-GB" altLang="en-US"/>
              <a:pPr>
                <a:defRPr/>
              </a:pPr>
              <a:t>29/12/2025</a:t>
            </a:fld>
            <a:endParaRPr lang="en-GB" altLang="en-US" dirty="0"/>
          </a:p>
        </p:txBody>
      </p:sp>
      <p:sp>
        <p:nvSpPr>
          <p:cNvPr id="6" name="Rectangle 5">
            <a:extLst>
              <a:ext uri="{FF2B5EF4-FFF2-40B4-BE49-F238E27FC236}">
                <a16:creationId xmlns:a16="http://schemas.microsoft.com/office/drawing/2014/main" id="{6CEBDA81-9371-4B44-AAB5-58DD18297259}"/>
              </a:ext>
            </a:extLst>
          </p:cNvPr>
          <p:cNvSpPr>
            <a:spLocks noGrp="1" noChangeArrowheads="1"/>
          </p:cNvSpPr>
          <p:nvPr>
            <p:ph type="ftr" sz="quarter" idx="11"/>
          </p:nvPr>
        </p:nvSpPr>
        <p:spPr>
          <a:ln/>
        </p:spPr>
        <p:txBody>
          <a:bodyPr/>
          <a:lstStyle>
            <a:lvl1pPr>
              <a:defRPr/>
            </a:lvl1pPr>
          </a:lstStyle>
          <a:p>
            <a:pPr>
              <a:defRPr/>
            </a:pPr>
            <a:endParaRPr lang="en-GB" dirty="0"/>
          </a:p>
        </p:txBody>
      </p:sp>
      <p:sp>
        <p:nvSpPr>
          <p:cNvPr id="7" name="Rectangle 6">
            <a:extLst>
              <a:ext uri="{FF2B5EF4-FFF2-40B4-BE49-F238E27FC236}">
                <a16:creationId xmlns:a16="http://schemas.microsoft.com/office/drawing/2014/main" id="{56FC44E8-8B94-2140-AAC1-D1DB3CA612FB}"/>
              </a:ext>
            </a:extLst>
          </p:cNvPr>
          <p:cNvSpPr>
            <a:spLocks noGrp="1" noChangeArrowheads="1"/>
          </p:cNvSpPr>
          <p:nvPr>
            <p:ph type="sldNum" sz="quarter" idx="12"/>
          </p:nvPr>
        </p:nvSpPr>
        <p:spPr>
          <a:ln/>
        </p:spPr>
        <p:txBody>
          <a:bodyPr/>
          <a:lstStyle>
            <a:lvl1pPr>
              <a:defRPr/>
            </a:lvl1pPr>
          </a:lstStyle>
          <a:p>
            <a:fld id="{05B77588-0990-C44C-8474-E51C03A2EE1F}" type="slidenum">
              <a:rPr lang="en-GB" altLang="en-US"/>
              <a:pPr/>
              <a:t>‹#›</a:t>
            </a:fld>
            <a:endParaRPr lang="en-GB" altLang="en-US" dirty="0"/>
          </a:p>
        </p:txBody>
      </p:sp>
    </p:spTree>
    <p:extLst>
      <p:ext uri="{BB962C8B-B14F-4D97-AF65-F5344CB8AC3E}">
        <p14:creationId xmlns:p14="http://schemas.microsoft.com/office/powerpoint/2010/main" val="2773087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09600" y="1535114"/>
            <a:ext cx="5386917" cy="639762"/>
          </a:xfrm>
        </p:spPr>
        <p:txBody>
          <a:bodyPr anchor="b"/>
          <a:lstStyle>
            <a:lvl1pPr marL="0" indent="0">
              <a:buNone/>
              <a:defRPr sz="2400" b="1"/>
            </a:lvl1pPr>
            <a:lvl2pPr marL="457182" indent="0">
              <a:buNone/>
              <a:defRPr sz="2000" b="1"/>
            </a:lvl2pPr>
            <a:lvl3pPr marL="914364" indent="0">
              <a:buNone/>
              <a:defRPr sz="1800" b="1"/>
            </a:lvl3pPr>
            <a:lvl4pPr marL="1371545" indent="0">
              <a:buNone/>
              <a:defRPr sz="1600" b="1"/>
            </a:lvl4pPr>
            <a:lvl5pPr marL="1828727" indent="0">
              <a:buNone/>
              <a:defRPr sz="1600" b="1"/>
            </a:lvl5pPr>
            <a:lvl6pPr marL="2285909" indent="0">
              <a:buNone/>
              <a:defRPr sz="1600" b="1"/>
            </a:lvl6pPr>
            <a:lvl7pPr marL="2743091"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93369" y="1535114"/>
            <a:ext cx="5389033" cy="639762"/>
          </a:xfrm>
        </p:spPr>
        <p:txBody>
          <a:bodyPr anchor="b"/>
          <a:lstStyle>
            <a:lvl1pPr marL="0" indent="0">
              <a:buNone/>
              <a:defRPr sz="2400" b="1"/>
            </a:lvl1pPr>
            <a:lvl2pPr marL="457182" indent="0">
              <a:buNone/>
              <a:defRPr sz="2000" b="1"/>
            </a:lvl2pPr>
            <a:lvl3pPr marL="914364" indent="0">
              <a:buNone/>
              <a:defRPr sz="1800" b="1"/>
            </a:lvl3pPr>
            <a:lvl4pPr marL="1371545" indent="0">
              <a:buNone/>
              <a:defRPr sz="1600" b="1"/>
            </a:lvl4pPr>
            <a:lvl5pPr marL="1828727" indent="0">
              <a:buNone/>
              <a:defRPr sz="1600" b="1"/>
            </a:lvl5pPr>
            <a:lvl6pPr marL="2285909" indent="0">
              <a:buNone/>
              <a:defRPr sz="1600" b="1"/>
            </a:lvl6pPr>
            <a:lvl7pPr marL="2743091"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a:extLst>
              <a:ext uri="{FF2B5EF4-FFF2-40B4-BE49-F238E27FC236}">
                <a16:creationId xmlns:a16="http://schemas.microsoft.com/office/drawing/2014/main" id="{30AE9B1B-D176-FE4F-A689-147073DF995A}"/>
              </a:ext>
            </a:extLst>
          </p:cNvPr>
          <p:cNvSpPr>
            <a:spLocks noGrp="1" noChangeArrowheads="1"/>
          </p:cNvSpPr>
          <p:nvPr>
            <p:ph type="dt" sz="half" idx="10"/>
          </p:nvPr>
        </p:nvSpPr>
        <p:spPr>
          <a:ln/>
        </p:spPr>
        <p:txBody>
          <a:bodyPr/>
          <a:lstStyle>
            <a:lvl1pPr>
              <a:defRPr/>
            </a:lvl1pPr>
          </a:lstStyle>
          <a:p>
            <a:pPr>
              <a:defRPr/>
            </a:pPr>
            <a:fld id="{E51637A3-19CF-D949-812B-5D1B21CC9C08}" type="datetime1">
              <a:rPr lang="en-GB" altLang="en-US"/>
              <a:pPr>
                <a:defRPr/>
              </a:pPr>
              <a:t>29/12/2025</a:t>
            </a:fld>
            <a:endParaRPr lang="en-GB" altLang="en-US" dirty="0"/>
          </a:p>
        </p:txBody>
      </p:sp>
      <p:sp>
        <p:nvSpPr>
          <p:cNvPr id="8" name="Rectangle 5">
            <a:extLst>
              <a:ext uri="{FF2B5EF4-FFF2-40B4-BE49-F238E27FC236}">
                <a16:creationId xmlns:a16="http://schemas.microsoft.com/office/drawing/2014/main" id="{EC5752A3-E971-CA43-ABFA-B24AC9FB3C02}"/>
              </a:ext>
            </a:extLst>
          </p:cNvPr>
          <p:cNvSpPr>
            <a:spLocks noGrp="1" noChangeArrowheads="1"/>
          </p:cNvSpPr>
          <p:nvPr>
            <p:ph type="ftr" sz="quarter" idx="11"/>
          </p:nvPr>
        </p:nvSpPr>
        <p:spPr>
          <a:ln/>
        </p:spPr>
        <p:txBody>
          <a:bodyPr/>
          <a:lstStyle>
            <a:lvl1pPr>
              <a:defRPr/>
            </a:lvl1pPr>
          </a:lstStyle>
          <a:p>
            <a:pPr>
              <a:defRPr/>
            </a:pPr>
            <a:endParaRPr lang="en-GB" dirty="0"/>
          </a:p>
        </p:txBody>
      </p:sp>
      <p:sp>
        <p:nvSpPr>
          <p:cNvPr id="9" name="Rectangle 6">
            <a:extLst>
              <a:ext uri="{FF2B5EF4-FFF2-40B4-BE49-F238E27FC236}">
                <a16:creationId xmlns:a16="http://schemas.microsoft.com/office/drawing/2014/main" id="{64C13404-7FCF-6A45-9196-8A19666B3F67}"/>
              </a:ext>
            </a:extLst>
          </p:cNvPr>
          <p:cNvSpPr>
            <a:spLocks noGrp="1" noChangeArrowheads="1"/>
          </p:cNvSpPr>
          <p:nvPr>
            <p:ph type="sldNum" sz="quarter" idx="12"/>
          </p:nvPr>
        </p:nvSpPr>
        <p:spPr>
          <a:ln/>
        </p:spPr>
        <p:txBody>
          <a:bodyPr/>
          <a:lstStyle>
            <a:lvl1pPr>
              <a:defRPr/>
            </a:lvl1pPr>
          </a:lstStyle>
          <a:p>
            <a:fld id="{DCA72DD2-BA3F-8543-B2C7-E0B55D5E1680}" type="slidenum">
              <a:rPr lang="en-GB" altLang="en-US"/>
              <a:pPr/>
              <a:t>‹#›</a:t>
            </a:fld>
            <a:endParaRPr lang="en-GB" altLang="en-US" dirty="0"/>
          </a:p>
        </p:txBody>
      </p:sp>
    </p:spTree>
    <p:extLst>
      <p:ext uri="{BB962C8B-B14F-4D97-AF65-F5344CB8AC3E}">
        <p14:creationId xmlns:p14="http://schemas.microsoft.com/office/powerpoint/2010/main" val="10597735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2BD602C5-7899-464F-A639-12459D4BCF9F}"/>
              </a:ext>
            </a:extLst>
          </p:cNvPr>
          <p:cNvSpPr>
            <a:spLocks noGrp="1" noChangeArrowheads="1"/>
          </p:cNvSpPr>
          <p:nvPr>
            <p:ph type="dt" sz="half" idx="10"/>
          </p:nvPr>
        </p:nvSpPr>
        <p:spPr>
          <a:ln/>
        </p:spPr>
        <p:txBody>
          <a:bodyPr/>
          <a:lstStyle>
            <a:lvl1pPr>
              <a:defRPr/>
            </a:lvl1pPr>
          </a:lstStyle>
          <a:p>
            <a:pPr>
              <a:defRPr/>
            </a:pPr>
            <a:fld id="{96112A1F-3D8B-B042-B58F-D24C94D3FC8B}" type="datetime1">
              <a:rPr lang="en-GB" altLang="en-US"/>
              <a:pPr>
                <a:defRPr/>
              </a:pPr>
              <a:t>29/12/2025</a:t>
            </a:fld>
            <a:endParaRPr lang="en-GB" altLang="en-US" dirty="0"/>
          </a:p>
        </p:txBody>
      </p:sp>
      <p:sp>
        <p:nvSpPr>
          <p:cNvPr id="4" name="Rectangle 5">
            <a:extLst>
              <a:ext uri="{FF2B5EF4-FFF2-40B4-BE49-F238E27FC236}">
                <a16:creationId xmlns:a16="http://schemas.microsoft.com/office/drawing/2014/main" id="{D5159869-5AEA-194C-AD5D-4668FA066ACF}"/>
              </a:ext>
            </a:extLst>
          </p:cNvPr>
          <p:cNvSpPr>
            <a:spLocks noGrp="1" noChangeArrowheads="1"/>
          </p:cNvSpPr>
          <p:nvPr>
            <p:ph type="ftr" sz="quarter" idx="11"/>
          </p:nvPr>
        </p:nvSpPr>
        <p:spPr>
          <a:ln/>
        </p:spPr>
        <p:txBody>
          <a:bodyPr/>
          <a:lstStyle>
            <a:lvl1pPr>
              <a:defRPr/>
            </a:lvl1pPr>
          </a:lstStyle>
          <a:p>
            <a:pPr>
              <a:defRPr/>
            </a:pPr>
            <a:endParaRPr lang="en-GB" dirty="0"/>
          </a:p>
        </p:txBody>
      </p:sp>
      <p:sp>
        <p:nvSpPr>
          <p:cNvPr id="5" name="Rectangle 6">
            <a:extLst>
              <a:ext uri="{FF2B5EF4-FFF2-40B4-BE49-F238E27FC236}">
                <a16:creationId xmlns:a16="http://schemas.microsoft.com/office/drawing/2014/main" id="{69D21F11-F0BF-FB4C-B982-2D648656D057}"/>
              </a:ext>
            </a:extLst>
          </p:cNvPr>
          <p:cNvSpPr>
            <a:spLocks noGrp="1" noChangeArrowheads="1"/>
          </p:cNvSpPr>
          <p:nvPr>
            <p:ph type="sldNum" sz="quarter" idx="12"/>
          </p:nvPr>
        </p:nvSpPr>
        <p:spPr>
          <a:ln/>
        </p:spPr>
        <p:txBody>
          <a:bodyPr/>
          <a:lstStyle>
            <a:lvl1pPr>
              <a:defRPr/>
            </a:lvl1pPr>
          </a:lstStyle>
          <a:p>
            <a:fld id="{BB98F552-A29D-2D4E-8192-F20670493719}" type="slidenum">
              <a:rPr lang="en-GB" altLang="en-US"/>
              <a:pPr/>
              <a:t>‹#›</a:t>
            </a:fld>
            <a:endParaRPr lang="en-GB" altLang="en-US" dirty="0"/>
          </a:p>
        </p:txBody>
      </p:sp>
    </p:spTree>
    <p:extLst>
      <p:ext uri="{BB962C8B-B14F-4D97-AF65-F5344CB8AC3E}">
        <p14:creationId xmlns:p14="http://schemas.microsoft.com/office/powerpoint/2010/main" val="904500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0FB7CE7D-9A6B-C74C-B7CE-C9B74D6FED50}"/>
              </a:ext>
            </a:extLst>
          </p:cNvPr>
          <p:cNvSpPr>
            <a:spLocks noGrp="1" noChangeArrowheads="1"/>
          </p:cNvSpPr>
          <p:nvPr>
            <p:ph type="dt" sz="half" idx="10"/>
          </p:nvPr>
        </p:nvSpPr>
        <p:spPr>
          <a:ln/>
        </p:spPr>
        <p:txBody>
          <a:bodyPr/>
          <a:lstStyle>
            <a:lvl1pPr>
              <a:defRPr/>
            </a:lvl1pPr>
          </a:lstStyle>
          <a:p>
            <a:pPr>
              <a:defRPr/>
            </a:pPr>
            <a:fld id="{5031F30A-C80F-BD4E-A710-DF42755B1458}" type="datetime1">
              <a:rPr lang="en-GB" altLang="en-US"/>
              <a:pPr>
                <a:defRPr/>
              </a:pPr>
              <a:t>29/12/2025</a:t>
            </a:fld>
            <a:endParaRPr lang="en-GB" altLang="en-US" dirty="0"/>
          </a:p>
        </p:txBody>
      </p:sp>
      <p:sp>
        <p:nvSpPr>
          <p:cNvPr id="3" name="Rectangle 5">
            <a:extLst>
              <a:ext uri="{FF2B5EF4-FFF2-40B4-BE49-F238E27FC236}">
                <a16:creationId xmlns:a16="http://schemas.microsoft.com/office/drawing/2014/main" id="{860F0C16-2F9F-4E49-8ABE-41DC8E1D63E1}"/>
              </a:ext>
            </a:extLst>
          </p:cNvPr>
          <p:cNvSpPr>
            <a:spLocks noGrp="1" noChangeArrowheads="1"/>
          </p:cNvSpPr>
          <p:nvPr>
            <p:ph type="ftr" sz="quarter" idx="11"/>
          </p:nvPr>
        </p:nvSpPr>
        <p:spPr>
          <a:ln/>
        </p:spPr>
        <p:txBody>
          <a:bodyPr/>
          <a:lstStyle>
            <a:lvl1pPr>
              <a:defRPr/>
            </a:lvl1pPr>
          </a:lstStyle>
          <a:p>
            <a:pPr>
              <a:defRPr/>
            </a:pPr>
            <a:endParaRPr lang="en-GB" dirty="0"/>
          </a:p>
        </p:txBody>
      </p:sp>
      <p:sp>
        <p:nvSpPr>
          <p:cNvPr id="4" name="Rectangle 6">
            <a:extLst>
              <a:ext uri="{FF2B5EF4-FFF2-40B4-BE49-F238E27FC236}">
                <a16:creationId xmlns:a16="http://schemas.microsoft.com/office/drawing/2014/main" id="{BA8C51AD-F4CE-DB4B-B82C-25C7F802388A}"/>
              </a:ext>
            </a:extLst>
          </p:cNvPr>
          <p:cNvSpPr>
            <a:spLocks noGrp="1" noChangeArrowheads="1"/>
          </p:cNvSpPr>
          <p:nvPr>
            <p:ph type="sldNum" sz="quarter" idx="12"/>
          </p:nvPr>
        </p:nvSpPr>
        <p:spPr>
          <a:ln/>
        </p:spPr>
        <p:txBody>
          <a:bodyPr/>
          <a:lstStyle>
            <a:lvl1pPr>
              <a:defRPr/>
            </a:lvl1pPr>
          </a:lstStyle>
          <a:p>
            <a:fld id="{894E80F9-0E08-3C4F-9F14-79BF2B78232D}" type="slidenum">
              <a:rPr lang="en-GB" altLang="en-US"/>
              <a:pPr/>
              <a:t>‹#›</a:t>
            </a:fld>
            <a:endParaRPr lang="en-GB" altLang="en-US" dirty="0"/>
          </a:p>
        </p:txBody>
      </p:sp>
    </p:spTree>
    <p:extLst>
      <p:ext uri="{BB962C8B-B14F-4D97-AF65-F5344CB8AC3E}">
        <p14:creationId xmlns:p14="http://schemas.microsoft.com/office/powerpoint/2010/main" val="3666885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2" indent="0">
              <a:buNone/>
              <a:defRPr sz="2800"/>
            </a:lvl2pPr>
            <a:lvl3pPr marL="914364" indent="0">
              <a:buNone/>
              <a:defRPr sz="2400"/>
            </a:lvl3pPr>
            <a:lvl4pPr marL="1371545" indent="0">
              <a:buNone/>
              <a:defRPr sz="2000"/>
            </a:lvl4pPr>
            <a:lvl5pPr marL="1828727" indent="0">
              <a:buNone/>
              <a:defRPr sz="2000"/>
            </a:lvl5pPr>
            <a:lvl6pPr marL="2285909" indent="0">
              <a:buNone/>
              <a:defRPr sz="2000"/>
            </a:lvl6pPr>
            <a:lvl7pPr marL="2743091" indent="0">
              <a:buNone/>
              <a:defRPr sz="2000"/>
            </a:lvl7pPr>
            <a:lvl8pPr marL="3200272" indent="0">
              <a:buNone/>
              <a:defRPr sz="2000"/>
            </a:lvl8pPr>
            <a:lvl9pPr marL="3657454" indent="0">
              <a:buNone/>
              <a:defRPr sz="2000"/>
            </a:lvl9pPr>
          </a:lstStyle>
          <a:p>
            <a:pPr lvl="0"/>
            <a:endParaRPr lang="en-GB"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2" indent="0">
              <a:buNone/>
              <a:defRPr sz="1200"/>
            </a:lvl2pPr>
            <a:lvl3pPr marL="914364" indent="0">
              <a:buNone/>
              <a:defRPr sz="1000"/>
            </a:lvl3pPr>
            <a:lvl4pPr marL="1371545" indent="0">
              <a:buNone/>
              <a:defRPr sz="900"/>
            </a:lvl4pPr>
            <a:lvl5pPr marL="1828727" indent="0">
              <a:buNone/>
              <a:defRPr sz="900"/>
            </a:lvl5pPr>
            <a:lvl6pPr marL="2285909" indent="0">
              <a:buNone/>
              <a:defRPr sz="900"/>
            </a:lvl6pPr>
            <a:lvl7pPr marL="2743091" indent="0">
              <a:buNone/>
              <a:defRPr sz="900"/>
            </a:lvl7pPr>
            <a:lvl8pPr marL="3200272" indent="0">
              <a:buNone/>
              <a:defRPr sz="900"/>
            </a:lvl8pPr>
            <a:lvl9pPr marL="3657454"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BBEE74E-6597-2542-BEAC-6EE46E2B6C8B}"/>
              </a:ext>
            </a:extLst>
          </p:cNvPr>
          <p:cNvSpPr>
            <a:spLocks noGrp="1" noChangeArrowheads="1"/>
          </p:cNvSpPr>
          <p:nvPr>
            <p:ph type="dt" sz="half" idx="10"/>
          </p:nvPr>
        </p:nvSpPr>
        <p:spPr>
          <a:ln/>
        </p:spPr>
        <p:txBody>
          <a:bodyPr/>
          <a:lstStyle>
            <a:lvl1pPr>
              <a:defRPr/>
            </a:lvl1pPr>
          </a:lstStyle>
          <a:p>
            <a:pPr>
              <a:defRPr/>
            </a:pPr>
            <a:fld id="{602AAE65-CBF6-3340-A33F-493A066C018D}" type="datetime1">
              <a:rPr lang="en-GB" altLang="en-US"/>
              <a:pPr>
                <a:defRPr/>
              </a:pPr>
              <a:t>29/12/2025</a:t>
            </a:fld>
            <a:endParaRPr lang="en-GB" altLang="en-US" dirty="0"/>
          </a:p>
        </p:txBody>
      </p:sp>
      <p:sp>
        <p:nvSpPr>
          <p:cNvPr id="6" name="Rectangle 5">
            <a:extLst>
              <a:ext uri="{FF2B5EF4-FFF2-40B4-BE49-F238E27FC236}">
                <a16:creationId xmlns:a16="http://schemas.microsoft.com/office/drawing/2014/main" id="{7B073538-0A29-944C-9950-62FB5FD02D96}"/>
              </a:ext>
            </a:extLst>
          </p:cNvPr>
          <p:cNvSpPr>
            <a:spLocks noGrp="1" noChangeArrowheads="1"/>
          </p:cNvSpPr>
          <p:nvPr>
            <p:ph type="ftr" sz="quarter" idx="11"/>
          </p:nvPr>
        </p:nvSpPr>
        <p:spPr>
          <a:ln/>
        </p:spPr>
        <p:txBody>
          <a:bodyPr/>
          <a:lstStyle>
            <a:lvl1pPr>
              <a:defRPr/>
            </a:lvl1pPr>
          </a:lstStyle>
          <a:p>
            <a:pPr>
              <a:defRPr/>
            </a:pPr>
            <a:endParaRPr lang="en-GB" dirty="0"/>
          </a:p>
        </p:txBody>
      </p:sp>
      <p:sp>
        <p:nvSpPr>
          <p:cNvPr id="7" name="Rectangle 6">
            <a:extLst>
              <a:ext uri="{FF2B5EF4-FFF2-40B4-BE49-F238E27FC236}">
                <a16:creationId xmlns:a16="http://schemas.microsoft.com/office/drawing/2014/main" id="{1B10C969-E888-BA47-A043-DA41A67CBE61}"/>
              </a:ext>
            </a:extLst>
          </p:cNvPr>
          <p:cNvSpPr>
            <a:spLocks noGrp="1" noChangeArrowheads="1"/>
          </p:cNvSpPr>
          <p:nvPr>
            <p:ph type="sldNum" sz="quarter" idx="12"/>
          </p:nvPr>
        </p:nvSpPr>
        <p:spPr>
          <a:ln/>
        </p:spPr>
        <p:txBody>
          <a:bodyPr/>
          <a:lstStyle>
            <a:lvl1pPr>
              <a:defRPr/>
            </a:lvl1pPr>
          </a:lstStyle>
          <a:p>
            <a:fld id="{49AAAEAD-034E-5D49-9732-F6556D5202DC}" type="slidenum">
              <a:rPr lang="en-GB" altLang="en-US"/>
              <a:pPr/>
              <a:t>‹#›</a:t>
            </a:fld>
            <a:endParaRPr lang="en-GB" altLang="en-US" dirty="0"/>
          </a:p>
        </p:txBody>
      </p:sp>
    </p:spTree>
    <p:extLst>
      <p:ext uri="{BB962C8B-B14F-4D97-AF65-F5344CB8AC3E}">
        <p14:creationId xmlns:p14="http://schemas.microsoft.com/office/powerpoint/2010/main" val="26930524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https://cdn-assets-eu.frontify.com/s3/frontify-enterprise-files-eu/eyJwYXRoIjoiaW1wZXJpYWwtY29sbGVnZS1sb25kb25cL2ZpbGVcL1YyMTZWb1JEVnpjTFJSTGlnSmlVLmVwcyJ9:imperial-college-london:L_hshkpeN472j5rziG7SuEf_HBwuQtPm1Gc5ixkNMYc?width=516" TargetMode="Externa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6967DE2-EE65-284E-9E01-04B61B3966C0}"/>
              </a:ext>
            </a:extLst>
          </p:cNvPr>
          <p:cNvSpPr>
            <a:spLocks noGrp="1" noChangeArrowheads="1"/>
          </p:cNvSpPr>
          <p:nvPr>
            <p:ph type="title"/>
          </p:nvPr>
        </p:nvSpPr>
        <p:spPr bwMode="auto">
          <a:xfrm>
            <a:off x="609600" y="-26987"/>
            <a:ext cx="10972800" cy="1143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FD155C9C-B87E-EC41-A98B-C31C30EBE6DF}"/>
              </a:ext>
            </a:extLst>
          </p:cNvPr>
          <p:cNvSpPr>
            <a:spLocks noGrp="1" noChangeArrowheads="1"/>
          </p:cNvSpPr>
          <p:nvPr>
            <p:ph type="body" idx="1"/>
          </p:nvPr>
        </p:nvSpPr>
        <p:spPr bwMode="auto">
          <a:xfrm>
            <a:off x="609600" y="1268414"/>
            <a:ext cx="10972800"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28" name="Rectangle 4">
            <a:extLst>
              <a:ext uri="{FF2B5EF4-FFF2-40B4-BE49-F238E27FC236}">
                <a16:creationId xmlns:a16="http://schemas.microsoft.com/office/drawing/2014/main" id="{A9046EFE-2A25-E94A-B1D6-640DBF11E24A}"/>
              </a:ext>
            </a:extLst>
          </p:cNvPr>
          <p:cNvSpPr>
            <a:spLocks noGrp="1" noChangeArrowheads="1"/>
          </p:cNvSpPr>
          <p:nvPr>
            <p:ph type="dt" sz="half" idx="2"/>
          </p:nvPr>
        </p:nvSpPr>
        <p:spPr bwMode="auto">
          <a:xfrm>
            <a:off x="609600" y="6381751"/>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smtClean="0">
                <a:latin typeface="Gill Sans MT" panose="020B0502020104020203" pitchFamily="34" charset="77"/>
                <a:ea typeface="ＭＳ Ｐゴシック" charset="-128"/>
              </a:defRPr>
            </a:lvl1pPr>
          </a:lstStyle>
          <a:p>
            <a:pPr>
              <a:defRPr/>
            </a:pPr>
            <a:fld id="{AD94234F-0D0A-E947-8D54-AB6E4080FFC3}" type="datetime1">
              <a:rPr lang="en-GB" altLang="en-US"/>
              <a:pPr>
                <a:defRPr/>
              </a:pPr>
              <a:t>29/12/2025</a:t>
            </a:fld>
            <a:endParaRPr lang="en-GB" altLang="en-US" dirty="0"/>
          </a:p>
        </p:txBody>
      </p:sp>
      <p:sp>
        <p:nvSpPr>
          <p:cNvPr id="1029" name="Rectangle 5">
            <a:extLst>
              <a:ext uri="{FF2B5EF4-FFF2-40B4-BE49-F238E27FC236}">
                <a16:creationId xmlns:a16="http://schemas.microsoft.com/office/drawing/2014/main" id="{152AA15D-0E37-9A4D-800B-5EAD365A4BCE}"/>
              </a:ext>
            </a:extLst>
          </p:cNvPr>
          <p:cNvSpPr>
            <a:spLocks noGrp="1" noChangeArrowheads="1"/>
          </p:cNvSpPr>
          <p:nvPr>
            <p:ph type="ftr" sz="quarter" idx="3"/>
          </p:nvPr>
        </p:nvSpPr>
        <p:spPr bwMode="auto">
          <a:xfrm>
            <a:off x="4165600" y="6381751"/>
            <a:ext cx="3860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Gill Sans MT" panose="020B0502020104020203" pitchFamily="34" charset="77"/>
                <a:ea typeface="ＭＳ Ｐゴシック" charset="0"/>
              </a:defRPr>
            </a:lvl1pPr>
          </a:lstStyle>
          <a:p>
            <a:pPr>
              <a:defRPr/>
            </a:pPr>
            <a:endParaRPr lang="en-GB" dirty="0"/>
          </a:p>
        </p:txBody>
      </p:sp>
      <p:sp>
        <p:nvSpPr>
          <p:cNvPr id="1030" name="Rectangle 6">
            <a:extLst>
              <a:ext uri="{FF2B5EF4-FFF2-40B4-BE49-F238E27FC236}">
                <a16:creationId xmlns:a16="http://schemas.microsoft.com/office/drawing/2014/main" id="{C116671B-B7F5-A640-A03B-2CB79D5B87F6}"/>
              </a:ext>
            </a:extLst>
          </p:cNvPr>
          <p:cNvSpPr>
            <a:spLocks noGrp="1" noChangeArrowheads="1"/>
          </p:cNvSpPr>
          <p:nvPr>
            <p:ph type="sldNum" sz="quarter" idx="4"/>
          </p:nvPr>
        </p:nvSpPr>
        <p:spPr bwMode="auto">
          <a:xfrm>
            <a:off x="8737600" y="6381751"/>
            <a:ext cx="2844800" cy="339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atin typeface="Gill Sans MT" panose="020B0502020104020203" pitchFamily="34" charset="77"/>
              </a:defRPr>
            </a:lvl1pPr>
          </a:lstStyle>
          <a:p>
            <a:fld id="{07E9AECC-8061-DA49-97AE-2E5615142E93}" type="slidenum">
              <a:rPr lang="en-GB" altLang="en-US"/>
              <a:pPr/>
              <a:t>‹#›</a:t>
            </a:fld>
            <a:endParaRPr lang="en-GB" altLang="en-US" dirty="0"/>
          </a:p>
        </p:txBody>
      </p:sp>
      <p:pic>
        <p:nvPicPr>
          <p:cNvPr id="2" name="Picture 1" descr="Logo PMS Blue">
            <a:extLst>
              <a:ext uri="{FF2B5EF4-FFF2-40B4-BE49-F238E27FC236}">
                <a16:creationId xmlns:a16="http://schemas.microsoft.com/office/drawing/2014/main" id="{FCD34009-A60C-A4E5-1F51-42534646FEB8}"/>
              </a:ext>
            </a:extLst>
          </p:cNvPr>
          <p:cNvPicPr>
            <a:picLocks noChangeAspect="1" noChangeArrowheads="1"/>
          </p:cNvPicPr>
          <p:nvPr userDrawn="1"/>
        </p:nvPicPr>
        <p:blipFill>
          <a:blip r:embed="rId10" r:link="rId11">
            <a:extLst>
              <a:ext uri="{28A0092B-C50C-407E-A947-70E740481C1C}">
                <a14:useLocalDpi xmlns:a14="http://schemas.microsoft.com/office/drawing/2010/main" val="0"/>
              </a:ext>
            </a:extLst>
          </a:blip>
          <a:srcRect/>
          <a:stretch>
            <a:fillRect/>
          </a:stretch>
        </p:blipFill>
        <p:spPr bwMode="auto">
          <a:xfrm>
            <a:off x="9840416" y="286433"/>
            <a:ext cx="2082304" cy="20464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9" r:id="rId8"/>
  </p:sldLayoutIdLst>
  <p:hf hdr="0" ftr="0" dt="0"/>
  <p:txStyles>
    <p:titleStyle>
      <a:lvl1pPr algn="l" rtl="0" eaLnBrk="0" fontAlgn="base" hangingPunct="0">
        <a:spcBef>
          <a:spcPct val="0"/>
        </a:spcBef>
        <a:spcAft>
          <a:spcPct val="0"/>
        </a:spcAft>
        <a:defRPr sz="2800">
          <a:solidFill>
            <a:srgbClr val="003D7D"/>
          </a:solidFill>
          <a:latin typeface="Gill Sans MT" panose="020B0502020104020203" pitchFamily="34" charset="77"/>
          <a:ea typeface="ＭＳ Ｐゴシック" charset="0"/>
          <a:cs typeface="+mj-cs"/>
        </a:defRPr>
      </a:lvl1pPr>
      <a:lvl2pPr algn="l" rtl="0" eaLnBrk="0" fontAlgn="base" hangingPunct="0">
        <a:spcBef>
          <a:spcPct val="0"/>
        </a:spcBef>
        <a:spcAft>
          <a:spcPct val="0"/>
        </a:spcAft>
        <a:defRPr sz="2800">
          <a:solidFill>
            <a:srgbClr val="003D7D"/>
          </a:solidFill>
          <a:latin typeface="Gill Sans MT" panose="020B0502020104020203" pitchFamily="34" charset="77"/>
          <a:ea typeface="ＭＳ Ｐゴシック" charset="0"/>
          <a:cs typeface="Arial" charset="0"/>
        </a:defRPr>
      </a:lvl2pPr>
      <a:lvl3pPr algn="l" rtl="0" eaLnBrk="0" fontAlgn="base" hangingPunct="0">
        <a:spcBef>
          <a:spcPct val="0"/>
        </a:spcBef>
        <a:spcAft>
          <a:spcPct val="0"/>
        </a:spcAft>
        <a:defRPr sz="2800">
          <a:solidFill>
            <a:srgbClr val="003D7D"/>
          </a:solidFill>
          <a:latin typeface="Gill Sans MT" panose="020B0502020104020203" pitchFamily="34" charset="77"/>
          <a:ea typeface="ＭＳ Ｐゴシック" charset="0"/>
          <a:cs typeface="Arial" charset="0"/>
        </a:defRPr>
      </a:lvl3pPr>
      <a:lvl4pPr algn="l" rtl="0" eaLnBrk="0" fontAlgn="base" hangingPunct="0">
        <a:spcBef>
          <a:spcPct val="0"/>
        </a:spcBef>
        <a:spcAft>
          <a:spcPct val="0"/>
        </a:spcAft>
        <a:defRPr sz="2800">
          <a:solidFill>
            <a:srgbClr val="003D7D"/>
          </a:solidFill>
          <a:latin typeface="Gill Sans MT" panose="020B0502020104020203" pitchFamily="34" charset="77"/>
          <a:ea typeface="ＭＳ Ｐゴシック" charset="0"/>
          <a:cs typeface="Arial" charset="0"/>
        </a:defRPr>
      </a:lvl4pPr>
      <a:lvl5pPr algn="l" rtl="0" eaLnBrk="0" fontAlgn="base" hangingPunct="0">
        <a:spcBef>
          <a:spcPct val="0"/>
        </a:spcBef>
        <a:spcAft>
          <a:spcPct val="0"/>
        </a:spcAft>
        <a:defRPr sz="2800">
          <a:solidFill>
            <a:srgbClr val="003D7D"/>
          </a:solidFill>
          <a:latin typeface="Gill Sans MT" panose="020B0502020104020203" pitchFamily="34" charset="77"/>
          <a:ea typeface="ＭＳ Ｐゴシック" charset="0"/>
          <a:cs typeface="Arial" charset="0"/>
        </a:defRPr>
      </a:lvl5pPr>
      <a:lvl6pPr marL="457182" algn="l" rtl="0" eaLnBrk="0" fontAlgn="base" hangingPunct="0">
        <a:spcBef>
          <a:spcPct val="0"/>
        </a:spcBef>
        <a:spcAft>
          <a:spcPct val="0"/>
        </a:spcAft>
        <a:defRPr sz="2800">
          <a:solidFill>
            <a:srgbClr val="003D7D"/>
          </a:solidFill>
          <a:latin typeface="Verdana" pitchFamily="34" charset="0"/>
          <a:cs typeface="Arial" charset="0"/>
        </a:defRPr>
      </a:lvl6pPr>
      <a:lvl7pPr marL="914364" algn="l" rtl="0" eaLnBrk="0" fontAlgn="base" hangingPunct="0">
        <a:spcBef>
          <a:spcPct val="0"/>
        </a:spcBef>
        <a:spcAft>
          <a:spcPct val="0"/>
        </a:spcAft>
        <a:defRPr sz="2800">
          <a:solidFill>
            <a:srgbClr val="003D7D"/>
          </a:solidFill>
          <a:latin typeface="Verdana" pitchFamily="34" charset="0"/>
          <a:cs typeface="Arial" charset="0"/>
        </a:defRPr>
      </a:lvl7pPr>
      <a:lvl8pPr marL="1371545" algn="l" rtl="0" eaLnBrk="0" fontAlgn="base" hangingPunct="0">
        <a:spcBef>
          <a:spcPct val="0"/>
        </a:spcBef>
        <a:spcAft>
          <a:spcPct val="0"/>
        </a:spcAft>
        <a:defRPr sz="2800">
          <a:solidFill>
            <a:srgbClr val="003D7D"/>
          </a:solidFill>
          <a:latin typeface="Verdana" pitchFamily="34" charset="0"/>
          <a:cs typeface="Arial" charset="0"/>
        </a:defRPr>
      </a:lvl8pPr>
      <a:lvl9pPr marL="1828727" algn="l" rtl="0" eaLnBrk="0" fontAlgn="base" hangingPunct="0">
        <a:spcBef>
          <a:spcPct val="0"/>
        </a:spcBef>
        <a:spcAft>
          <a:spcPct val="0"/>
        </a:spcAft>
        <a:defRPr sz="2800">
          <a:solidFill>
            <a:srgbClr val="003D7D"/>
          </a:solidFill>
          <a:latin typeface="Verdana" pitchFamily="34" charset="0"/>
          <a:cs typeface="Arial" charset="0"/>
        </a:defRPr>
      </a:lvl9pPr>
    </p:titleStyle>
    <p:bodyStyle>
      <a:lvl1pPr marL="342887" indent="-342887" algn="l" rtl="0" eaLnBrk="0" fontAlgn="base" hangingPunct="0">
        <a:spcBef>
          <a:spcPct val="20000"/>
        </a:spcBef>
        <a:spcAft>
          <a:spcPct val="0"/>
        </a:spcAft>
        <a:buFont typeface="Verdana" panose="020B0604030504040204" pitchFamily="34" charset="0"/>
        <a:buChar char="−"/>
        <a:defRPr sz="2400">
          <a:solidFill>
            <a:schemeClr val="tx1"/>
          </a:solidFill>
          <a:latin typeface="Gill Sans MT" panose="020B0502020104020203" pitchFamily="34" charset="77"/>
          <a:ea typeface="ＭＳ Ｐゴシック" charset="0"/>
          <a:cs typeface="+mn-cs"/>
        </a:defRPr>
      </a:lvl1pPr>
      <a:lvl2pPr marL="742920" indent="-285738" algn="l" rtl="0" eaLnBrk="0" fontAlgn="base" hangingPunct="0">
        <a:spcBef>
          <a:spcPct val="20000"/>
        </a:spcBef>
        <a:spcAft>
          <a:spcPct val="0"/>
        </a:spcAft>
        <a:buFont typeface="Verdana" panose="020B0604030504040204" pitchFamily="34" charset="0"/>
        <a:buChar char="−"/>
        <a:defRPr sz="2000">
          <a:solidFill>
            <a:schemeClr val="tx1"/>
          </a:solidFill>
          <a:latin typeface="Gill Sans MT" panose="020B0502020104020203" pitchFamily="34" charset="77"/>
          <a:ea typeface="Arial" charset="0"/>
          <a:cs typeface="+mn-cs"/>
        </a:defRPr>
      </a:lvl2pPr>
      <a:lvl3pPr marL="1142954" indent="-228590" algn="l" rtl="0" eaLnBrk="0" fontAlgn="base" hangingPunct="0">
        <a:spcBef>
          <a:spcPct val="20000"/>
        </a:spcBef>
        <a:spcAft>
          <a:spcPct val="0"/>
        </a:spcAft>
        <a:buFont typeface="Verdana" panose="020B0604030504040204" pitchFamily="34" charset="0"/>
        <a:buChar char="−"/>
        <a:defRPr>
          <a:solidFill>
            <a:schemeClr val="tx1"/>
          </a:solidFill>
          <a:latin typeface="Gill Sans MT" panose="020B0502020104020203" pitchFamily="34" charset="77"/>
          <a:ea typeface="Arial" charset="0"/>
          <a:cs typeface="+mn-cs"/>
        </a:defRPr>
      </a:lvl3pPr>
      <a:lvl4pPr marL="1600136" indent="-228590" algn="l" rtl="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charset="0"/>
          <a:cs typeface="+mn-cs"/>
        </a:defRPr>
      </a:lvl4pPr>
      <a:lvl5pPr marL="2057317" indent="-228590" algn="l" rtl="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charset="0"/>
          <a:cs typeface="+mn-cs"/>
        </a:defRPr>
      </a:lvl5pPr>
      <a:lvl6pPr marL="2514499" indent="-228590" algn="l" rtl="0" eaLnBrk="0" fontAlgn="base" hangingPunct="0">
        <a:spcBef>
          <a:spcPct val="20000"/>
        </a:spcBef>
        <a:spcAft>
          <a:spcPct val="0"/>
        </a:spcAft>
        <a:buFont typeface="Verdana" pitchFamily="34" charset="0"/>
        <a:buChar char="−"/>
        <a:defRPr sz="1600">
          <a:solidFill>
            <a:schemeClr val="tx1"/>
          </a:solidFill>
          <a:latin typeface="+mn-lt"/>
          <a:cs typeface="+mn-cs"/>
        </a:defRPr>
      </a:lvl6pPr>
      <a:lvl7pPr marL="2971681" indent="-228590" algn="l" rtl="0" eaLnBrk="0" fontAlgn="base" hangingPunct="0">
        <a:spcBef>
          <a:spcPct val="20000"/>
        </a:spcBef>
        <a:spcAft>
          <a:spcPct val="0"/>
        </a:spcAft>
        <a:buFont typeface="Verdana" pitchFamily="34" charset="0"/>
        <a:buChar char="−"/>
        <a:defRPr sz="1600">
          <a:solidFill>
            <a:schemeClr val="tx1"/>
          </a:solidFill>
          <a:latin typeface="+mn-lt"/>
          <a:cs typeface="+mn-cs"/>
        </a:defRPr>
      </a:lvl7pPr>
      <a:lvl8pPr marL="3428863" indent="-228590" algn="l" rtl="0" eaLnBrk="0" fontAlgn="base" hangingPunct="0">
        <a:spcBef>
          <a:spcPct val="20000"/>
        </a:spcBef>
        <a:spcAft>
          <a:spcPct val="0"/>
        </a:spcAft>
        <a:buFont typeface="Verdana" pitchFamily="34" charset="0"/>
        <a:buChar char="−"/>
        <a:defRPr sz="1600">
          <a:solidFill>
            <a:schemeClr val="tx1"/>
          </a:solidFill>
          <a:latin typeface="+mn-lt"/>
          <a:cs typeface="+mn-cs"/>
        </a:defRPr>
      </a:lvl8pPr>
      <a:lvl9pPr marL="3886044" indent="-228590" algn="l" rtl="0" eaLnBrk="0" fontAlgn="base" hangingPunct="0">
        <a:spcBef>
          <a:spcPct val="20000"/>
        </a:spcBef>
        <a:spcAft>
          <a:spcPct val="0"/>
        </a:spcAft>
        <a:buFont typeface="Verdana" pitchFamily="34" charset="0"/>
        <a:buChar char="−"/>
        <a:defRPr sz="1600">
          <a:solidFill>
            <a:schemeClr val="tx1"/>
          </a:solidFill>
          <a:latin typeface="+mn-lt"/>
          <a:cs typeface="+mn-cs"/>
        </a:defRPr>
      </a:lvl9pPr>
    </p:bodyStyle>
    <p:otherStyle>
      <a:defPPr>
        <a:defRPr lang="en-US"/>
      </a:defPPr>
      <a:lvl1pPr marL="0" algn="l" defTabSz="914364" rtl="0" eaLnBrk="1" latinLnBrk="0" hangingPunct="1">
        <a:defRPr sz="1800" kern="1200">
          <a:solidFill>
            <a:schemeClr val="tx1"/>
          </a:solidFill>
          <a:latin typeface="+mn-lt"/>
          <a:ea typeface="+mn-ea"/>
          <a:cs typeface="+mn-cs"/>
        </a:defRPr>
      </a:lvl1pPr>
      <a:lvl2pPr marL="457182" algn="l" defTabSz="914364" rtl="0" eaLnBrk="1" latinLnBrk="0" hangingPunct="1">
        <a:defRPr sz="1800" kern="1200">
          <a:solidFill>
            <a:schemeClr val="tx1"/>
          </a:solidFill>
          <a:latin typeface="+mn-lt"/>
          <a:ea typeface="+mn-ea"/>
          <a:cs typeface="+mn-cs"/>
        </a:defRPr>
      </a:lvl2pPr>
      <a:lvl3pPr marL="914364" algn="l" defTabSz="914364" rtl="0" eaLnBrk="1" latinLnBrk="0" hangingPunct="1">
        <a:defRPr sz="1800" kern="1200">
          <a:solidFill>
            <a:schemeClr val="tx1"/>
          </a:solidFill>
          <a:latin typeface="+mn-lt"/>
          <a:ea typeface="+mn-ea"/>
          <a:cs typeface="+mn-cs"/>
        </a:defRPr>
      </a:lvl3pPr>
      <a:lvl4pPr marL="1371545" algn="l" defTabSz="914364" rtl="0" eaLnBrk="1" latinLnBrk="0" hangingPunct="1">
        <a:defRPr sz="1800" kern="1200">
          <a:solidFill>
            <a:schemeClr val="tx1"/>
          </a:solidFill>
          <a:latin typeface="+mn-lt"/>
          <a:ea typeface="+mn-ea"/>
          <a:cs typeface="+mn-cs"/>
        </a:defRPr>
      </a:lvl4pPr>
      <a:lvl5pPr marL="1828727" algn="l" defTabSz="914364" rtl="0" eaLnBrk="1" latinLnBrk="0" hangingPunct="1">
        <a:defRPr sz="1800" kern="1200">
          <a:solidFill>
            <a:schemeClr val="tx1"/>
          </a:solidFill>
          <a:latin typeface="+mn-lt"/>
          <a:ea typeface="+mn-ea"/>
          <a:cs typeface="+mn-cs"/>
        </a:defRPr>
      </a:lvl5pPr>
      <a:lvl6pPr marL="2285909" algn="l" defTabSz="914364" rtl="0" eaLnBrk="1" latinLnBrk="0" hangingPunct="1">
        <a:defRPr sz="1800" kern="1200">
          <a:solidFill>
            <a:schemeClr val="tx1"/>
          </a:solidFill>
          <a:latin typeface="+mn-lt"/>
          <a:ea typeface="+mn-ea"/>
          <a:cs typeface="+mn-cs"/>
        </a:defRPr>
      </a:lvl6pPr>
      <a:lvl7pPr marL="2743091" algn="l" defTabSz="914364" rtl="0" eaLnBrk="1" latinLnBrk="0" hangingPunct="1">
        <a:defRPr sz="1800" kern="1200">
          <a:solidFill>
            <a:schemeClr val="tx1"/>
          </a:solidFill>
          <a:latin typeface="+mn-lt"/>
          <a:ea typeface="+mn-ea"/>
          <a:cs typeface="+mn-cs"/>
        </a:defRPr>
      </a:lvl7pPr>
      <a:lvl8pPr marL="3200272" algn="l" defTabSz="914364" rtl="0" eaLnBrk="1" latinLnBrk="0" hangingPunct="1">
        <a:defRPr sz="1800" kern="1200">
          <a:solidFill>
            <a:schemeClr val="tx1"/>
          </a:solidFill>
          <a:latin typeface="+mn-lt"/>
          <a:ea typeface="+mn-ea"/>
          <a:cs typeface="+mn-cs"/>
        </a:defRPr>
      </a:lvl8pPr>
      <a:lvl9pPr marL="3657454" algn="l" defTabSz="91436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https://scikit-learn.org/stable/modules/generated/sklearn.naive_bayes.GaussianNB.html#sklearn.naive_bayes.GaussianNB"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scikit-learn.org/stable/modules/generated/sklearn.naive_bayes.MultinomialNB.html#sklearn.naive_bayes.MultinomialNB"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35.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8">
            <a:extLst>
              <a:ext uri="{FF2B5EF4-FFF2-40B4-BE49-F238E27FC236}">
                <a16:creationId xmlns:a16="http://schemas.microsoft.com/office/drawing/2014/main" id="{668D6855-F81A-A24F-918B-A2C47560C262}"/>
              </a:ext>
            </a:extLst>
          </p:cNvPr>
          <p:cNvSpPr>
            <a:spLocks noChangeArrowheads="1"/>
          </p:cNvSpPr>
          <p:nvPr/>
        </p:nvSpPr>
        <p:spPr bwMode="auto">
          <a:xfrm>
            <a:off x="9912351" y="6237288"/>
            <a:ext cx="358775" cy="4333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Verdana" panose="020B0604030504040204" pitchFamily="34" charset="0"/>
              <a:buChar char="−"/>
              <a:defRPr sz="2400">
                <a:solidFill>
                  <a:schemeClr val="tx1"/>
                </a:solidFill>
                <a:latin typeface="Gill Sans MT" panose="020B0502020104020203" pitchFamily="34" charset="77"/>
                <a:ea typeface="ＭＳ Ｐゴシック" panose="020B0600070205080204" pitchFamily="34" charset="-128"/>
                <a:cs typeface="Arial" panose="020B0604020202020204" pitchFamily="34" charset="0"/>
              </a:defRPr>
            </a:lvl1pPr>
            <a:lvl2pPr marL="742950" indent="-285750">
              <a:spcBef>
                <a:spcPct val="20000"/>
              </a:spcBef>
              <a:buFont typeface="Verdana" panose="020B0604030504040204" pitchFamily="34" charset="0"/>
              <a:buChar char="−"/>
              <a:defRPr sz="2000">
                <a:solidFill>
                  <a:schemeClr val="tx1"/>
                </a:solidFill>
                <a:latin typeface="Gill Sans MT" panose="020B0502020104020203" pitchFamily="34" charset="77"/>
                <a:ea typeface="Arial" panose="020B0604020202020204" pitchFamily="34" charset="0"/>
                <a:cs typeface="Arial" panose="020B0604020202020204" pitchFamily="34" charset="0"/>
              </a:defRPr>
            </a:lvl2pPr>
            <a:lvl3pPr marL="1143000" indent="-228600">
              <a:spcBef>
                <a:spcPct val="20000"/>
              </a:spcBef>
              <a:buFont typeface="Verdana" panose="020B0604030504040204" pitchFamily="34" charset="0"/>
              <a:buChar char="−"/>
              <a:defRPr>
                <a:solidFill>
                  <a:schemeClr val="tx1"/>
                </a:solidFill>
                <a:latin typeface="Gill Sans MT" panose="020B0502020104020203" pitchFamily="34" charset="77"/>
                <a:ea typeface="Arial" panose="020B0604020202020204" pitchFamily="34" charset="0"/>
                <a:cs typeface="Arial" panose="020B0604020202020204" pitchFamily="34" charset="0"/>
              </a:defRPr>
            </a:lvl3pPr>
            <a:lvl4pPr marL="1600200" indent="-228600">
              <a:spcBef>
                <a:spcPct val="20000"/>
              </a:spcBef>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4pPr>
            <a:lvl5pPr marL="2057400" indent="-228600">
              <a:spcBef>
                <a:spcPct val="20000"/>
              </a:spcBef>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9pPr>
          </a:lstStyle>
          <a:p>
            <a:pPr eaLnBrk="1" hangingPunct="1">
              <a:spcBef>
                <a:spcPct val="0"/>
              </a:spcBef>
              <a:buFontTx/>
              <a:buNone/>
            </a:pPr>
            <a:endParaRPr lang="en-GB" altLang="en-US" sz="1800" dirty="0"/>
          </a:p>
        </p:txBody>
      </p:sp>
      <p:sp>
        <p:nvSpPr>
          <p:cNvPr id="4" name="Rectangle 3">
            <a:extLst>
              <a:ext uri="{FF2B5EF4-FFF2-40B4-BE49-F238E27FC236}">
                <a16:creationId xmlns:a16="http://schemas.microsoft.com/office/drawing/2014/main" id="{5E18BEC9-A3BB-7FCC-2484-4024CA13A7BA}"/>
              </a:ext>
            </a:extLst>
          </p:cNvPr>
          <p:cNvSpPr/>
          <p:nvPr/>
        </p:nvSpPr>
        <p:spPr>
          <a:xfrm>
            <a:off x="10661972" y="6289428"/>
            <a:ext cx="490746" cy="4320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 Box 2">
            <a:extLst>
              <a:ext uri="{FF2B5EF4-FFF2-40B4-BE49-F238E27FC236}">
                <a16:creationId xmlns:a16="http://schemas.microsoft.com/office/drawing/2014/main" id="{B77063AF-76E9-3AF9-34E4-41C5C4772C6F}"/>
              </a:ext>
            </a:extLst>
          </p:cNvPr>
          <p:cNvSpPr txBox="1">
            <a:spLocks noChangeArrowheads="1"/>
          </p:cNvSpPr>
          <p:nvPr/>
        </p:nvSpPr>
        <p:spPr bwMode="auto">
          <a:xfrm>
            <a:off x="983432" y="1844824"/>
            <a:ext cx="8064896"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Verdana" panose="020B0604030504040204" pitchFamily="34" charset="0"/>
              <a:buChar char="−"/>
              <a:defRPr sz="2400">
                <a:solidFill>
                  <a:schemeClr val="tx1"/>
                </a:solidFill>
                <a:latin typeface="Gill Sans MT" panose="020B0502020104020203" pitchFamily="34" charset="77"/>
                <a:ea typeface="ＭＳ Ｐゴシック" panose="020B0600070205080204" pitchFamily="34" charset="-128"/>
                <a:cs typeface="Arial" panose="020B0604020202020204" pitchFamily="34" charset="0"/>
              </a:defRPr>
            </a:lvl1pPr>
            <a:lvl2pPr marL="742950" indent="-285750">
              <a:spcBef>
                <a:spcPct val="20000"/>
              </a:spcBef>
              <a:buFont typeface="Verdana" panose="020B0604030504040204" pitchFamily="34" charset="0"/>
              <a:buChar char="−"/>
              <a:defRPr sz="2000">
                <a:solidFill>
                  <a:schemeClr val="tx1"/>
                </a:solidFill>
                <a:latin typeface="Gill Sans MT" panose="020B0502020104020203" pitchFamily="34" charset="77"/>
                <a:ea typeface="Arial" panose="020B0604020202020204" pitchFamily="34" charset="0"/>
                <a:cs typeface="Arial" panose="020B0604020202020204" pitchFamily="34" charset="0"/>
              </a:defRPr>
            </a:lvl2pPr>
            <a:lvl3pPr marL="1143000" indent="-228600">
              <a:spcBef>
                <a:spcPct val="20000"/>
              </a:spcBef>
              <a:buFont typeface="Verdana" panose="020B0604030504040204" pitchFamily="34" charset="0"/>
              <a:buChar char="−"/>
              <a:defRPr>
                <a:solidFill>
                  <a:schemeClr val="tx1"/>
                </a:solidFill>
                <a:latin typeface="Gill Sans MT" panose="020B0502020104020203" pitchFamily="34" charset="77"/>
                <a:ea typeface="Arial" panose="020B0604020202020204" pitchFamily="34" charset="0"/>
                <a:cs typeface="Arial" panose="020B0604020202020204" pitchFamily="34" charset="0"/>
              </a:defRPr>
            </a:lvl3pPr>
            <a:lvl4pPr marL="1600200" indent="-228600">
              <a:spcBef>
                <a:spcPct val="20000"/>
              </a:spcBef>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4pPr>
            <a:lvl5pPr marL="2057400" indent="-228600">
              <a:spcBef>
                <a:spcPct val="20000"/>
              </a:spcBef>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9pPr>
          </a:lstStyle>
          <a:p>
            <a:pPr eaLnBrk="1" hangingPunct="1">
              <a:spcBef>
                <a:spcPct val="0"/>
              </a:spcBef>
              <a:buFontTx/>
              <a:buNone/>
            </a:pPr>
            <a:r>
              <a:rPr lang="en-GB" sz="3600" dirty="0">
                <a:solidFill>
                  <a:srgbClr val="003D7D"/>
                </a:solidFill>
              </a:rPr>
              <a:t>Bayesian Models</a:t>
            </a:r>
          </a:p>
          <a:p>
            <a:pPr eaLnBrk="1" hangingPunct="1">
              <a:spcBef>
                <a:spcPct val="0"/>
              </a:spcBef>
              <a:buNone/>
            </a:pPr>
            <a:endParaRPr lang="en-GB" sz="3200" dirty="0">
              <a:solidFill>
                <a:srgbClr val="7030A0"/>
              </a:solidFill>
            </a:endParaRPr>
          </a:p>
        </p:txBody>
      </p:sp>
      <p:sp>
        <p:nvSpPr>
          <p:cNvPr id="6" name="Text Box 4">
            <a:extLst>
              <a:ext uri="{FF2B5EF4-FFF2-40B4-BE49-F238E27FC236}">
                <a16:creationId xmlns:a16="http://schemas.microsoft.com/office/drawing/2014/main" id="{F0025882-42B7-AD2A-F237-63D25BDEFD62}"/>
              </a:ext>
            </a:extLst>
          </p:cNvPr>
          <p:cNvSpPr txBox="1">
            <a:spLocks noChangeArrowheads="1"/>
          </p:cNvSpPr>
          <p:nvPr/>
        </p:nvSpPr>
        <p:spPr bwMode="auto">
          <a:xfrm>
            <a:off x="983432" y="4293096"/>
            <a:ext cx="9145016"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Verdana" panose="020B0604030504040204" pitchFamily="34" charset="0"/>
              <a:buChar char="−"/>
              <a:defRPr sz="2400">
                <a:solidFill>
                  <a:schemeClr val="tx1"/>
                </a:solidFill>
                <a:latin typeface="Gill Sans MT" panose="020B0502020104020203" pitchFamily="34" charset="77"/>
                <a:ea typeface="ＭＳ Ｐゴシック" panose="020B0600070205080204" pitchFamily="34" charset="-128"/>
                <a:cs typeface="Arial" panose="020B0604020202020204" pitchFamily="34" charset="0"/>
              </a:defRPr>
            </a:lvl1pPr>
            <a:lvl2pPr marL="742950" indent="-285750">
              <a:spcBef>
                <a:spcPct val="20000"/>
              </a:spcBef>
              <a:buFont typeface="Verdana" panose="020B0604030504040204" pitchFamily="34" charset="0"/>
              <a:buChar char="−"/>
              <a:defRPr sz="2000">
                <a:solidFill>
                  <a:schemeClr val="tx1"/>
                </a:solidFill>
                <a:latin typeface="Gill Sans MT" panose="020B0502020104020203" pitchFamily="34" charset="77"/>
                <a:ea typeface="Arial" panose="020B0604020202020204" pitchFamily="34" charset="0"/>
                <a:cs typeface="Arial" panose="020B0604020202020204" pitchFamily="34" charset="0"/>
              </a:defRPr>
            </a:lvl2pPr>
            <a:lvl3pPr marL="1143000" indent="-228600">
              <a:spcBef>
                <a:spcPct val="20000"/>
              </a:spcBef>
              <a:buFont typeface="Verdana" panose="020B0604030504040204" pitchFamily="34" charset="0"/>
              <a:buChar char="−"/>
              <a:defRPr>
                <a:solidFill>
                  <a:schemeClr val="tx1"/>
                </a:solidFill>
                <a:latin typeface="Gill Sans MT" panose="020B0502020104020203" pitchFamily="34" charset="77"/>
                <a:ea typeface="Arial" panose="020B0604020202020204" pitchFamily="34" charset="0"/>
                <a:cs typeface="Arial" panose="020B0604020202020204" pitchFamily="34" charset="0"/>
              </a:defRPr>
            </a:lvl3pPr>
            <a:lvl4pPr marL="1600200" indent="-228600">
              <a:spcBef>
                <a:spcPct val="20000"/>
              </a:spcBef>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4pPr>
            <a:lvl5pPr marL="2057400" indent="-228600">
              <a:spcBef>
                <a:spcPct val="20000"/>
              </a:spcBef>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Verdana" panose="020B0604030504040204" pitchFamily="34" charset="0"/>
              <a:buChar char="−"/>
              <a:defRPr sz="1600">
                <a:solidFill>
                  <a:schemeClr val="tx1"/>
                </a:solidFill>
                <a:latin typeface="Gill Sans MT" panose="020B0502020104020203" pitchFamily="34" charset="77"/>
                <a:ea typeface="Arial" panose="020B0604020202020204" pitchFamily="34" charset="0"/>
                <a:cs typeface="Arial" panose="020B0604020202020204" pitchFamily="34" charset="0"/>
              </a:defRPr>
            </a:lvl9pPr>
          </a:lstStyle>
          <a:p>
            <a:pPr eaLnBrk="1" hangingPunct="1">
              <a:spcBef>
                <a:spcPct val="50000"/>
              </a:spcBef>
              <a:buFontTx/>
              <a:buNone/>
            </a:pPr>
            <a:r>
              <a:rPr lang="en-GB" sz="1600" noProof="0" dirty="0">
                <a:solidFill>
                  <a:srgbClr val="003D7D"/>
                </a:solidFill>
                <a:ea typeface="Helvetica Neue" panose="02000503000000020004" pitchFamily="2" charset="0"/>
                <a:cs typeface="Helvetica Neue" panose="02000503000000020004" pitchFamily="2" charset="0"/>
              </a:rPr>
              <a:t>Payam Barnaghi</a:t>
            </a:r>
          </a:p>
          <a:p>
            <a:pPr eaLnBrk="1" hangingPunct="1">
              <a:spcBef>
                <a:spcPct val="50000"/>
              </a:spcBef>
              <a:buFontTx/>
              <a:buNone/>
            </a:pPr>
            <a:r>
              <a:rPr lang="en-GB" sz="1600" noProof="0" dirty="0">
                <a:solidFill>
                  <a:srgbClr val="003D7D"/>
                </a:solidFill>
                <a:ea typeface="Helvetica Neue" panose="02000503000000020004" pitchFamily="2" charset="0"/>
                <a:cs typeface="Helvetica Neue" panose="02000503000000020004" pitchFamily="2" charset="0"/>
              </a:rPr>
              <a:t>Department of Brain Sciences &amp;</a:t>
            </a:r>
          </a:p>
          <a:p>
            <a:pPr eaLnBrk="1" hangingPunct="1">
              <a:spcBef>
                <a:spcPct val="50000"/>
              </a:spcBef>
              <a:buFontTx/>
              <a:buNone/>
            </a:pPr>
            <a:r>
              <a:rPr lang="en-GB" sz="1600" noProof="0" dirty="0">
                <a:solidFill>
                  <a:srgbClr val="003D7D"/>
                </a:solidFill>
                <a:ea typeface="Helvetica Neue" panose="02000503000000020004" pitchFamily="2" charset="0"/>
                <a:cs typeface="Helvetica Neue" panose="02000503000000020004" pitchFamily="2" charset="0"/>
              </a:rPr>
              <a:t>School of Convergence Science (Human and Artificial Intelligence)</a:t>
            </a:r>
          </a:p>
          <a:p>
            <a:pPr eaLnBrk="1" hangingPunct="1">
              <a:spcBef>
                <a:spcPct val="50000"/>
              </a:spcBef>
              <a:buFontTx/>
              <a:buNone/>
            </a:pPr>
            <a:r>
              <a:rPr lang="en-GB" sz="1600" noProof="0" dirty="0">
                <a:solidFill>
                  <a:srgbClr val="003D7D"/>
                </a:solidFill>
                <a:ea typeface="Helvetica Neue" panose="02000503000000020004" pitchFamily="2" charset="0"/>
                <a:cs typeface="Helvetica Neue" panose="02000503000000020004" pitchFamily="2" charset="0"/>
              </a:rPr>
              <a:t>Imperial College London  </a:t>
            </a:r>
          </a:p>
          <a:p>
            <a:pPr eaLnBrk="1" hangingPunct="1">
              <a:spcBef>
                <a:spcPct val="50000"/>
              </a:spcBef>
              <a:buFontTx/>
              <a:buNone/>
            </a:pPr>
            <a:r>
              <a:rPr lang="en-GB" sz="1600" noProof="0" dirty="0">
                <a:solidFill>
                  <a:srgbClr val="003D7D"/>
                </a:solidFill>
              </a:rPr>
              <a:t>January 2026</a:t>
            </a:r>
          </a:p>
        </p:txBody>
      </p:sp>
      <p:pic>
        <p:nvPicPr>
          <p:cNvPr id="7" name="Picture 6" descr="A blue and black logo&#10;&#10;AI-generated content may be incorrect.">
            <a:extLst>
              <a:ext uri="{FF2B5EF4-FFF2-40B4-BE49-F238E27FC236}">
                <a16:creationId xmlns:a16="http://schemas.microsoft.com/office/drawing/2014/main" id="{1DE2FA66-D59A-5595-ADEF-1B4318119906}"/>
              </a:ext>
            </a:extLst>
          </p:cNvPr>
          <p:cNvPicPr>
            <a:picLocks noChangeAspect="1"/>
          </p:cNvPicPr>
          <p:nvPr/>
        </p:nvPicPr>
        <p:blipFill>
          <a:blip r:embed="rId3">
            <a:extLst>
              <a:ext uri="{28A0092B-C50C-407E-A947-70E740481C1C}">
                <a14:useLocalDpi xmlns:a14="http://schemas.microsoft.com/office/drawing/2010/main" val="0"/>
              </a:ext>
            </a:extLst>
          </a:blip>
          <a:srcRect t="24768" b="26367"/>
          <a:stretch>
            <a:fillRect/>
          </a:stretch>
        </p:blipFill>
        <p:spPr>
          <a:xfrm>
            <a:off x="9961196" y="5767618"/>
            <a:ext cx="1922326" cy="9393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F372B-6191-94D8-B14D-AB5551C95328}"/>
              </a:ext>
            </a:extLst>
          </p:cNvPr>
          <p:cNvSpPr>
            <a:spLocks noGrp="1"/>
          </p:cNvSpPr>
          <p:nvPr>
            <p:ph type="title"/>
          </p:nvPr>
        </p:nvSpPr>
        <p:spPr/>
        <p:txBody>
          <a:bodyPr/>
          <a:lstStyle/>
          <a:p>
            <a:r>
              <a:rPr lang="en-GB" dirty="0">
                <a:effectLst/>
              </a:rPr>
              <a:t>Probability of a union of two events</a:t>
            </a:r>
            <a:endParaRPr lang="en-US" dirty="0"/>
          </a:p>
        </p:txBody>
      </p:sp>
      <p:sp>
        <p:nvSpPr>
          <p:cNvPr id="3" name="Content Placeholder 2">
            <a:extLst>
              <a:ext uri="{FF2B5EF4-FFF2-40B4-BE49-F238E27FC236}">
                <a16:creationId xmlns:a16="http://schemas.microsoft.com/office/drawing/2014/main" id="{A0666C9C-5938-83E9-C57F-0646A9327D63}"/>
              </a:ext>
            </a:extLst>
          </p:cNvPr>
          <p:cNvSpPr>
            <a:spLocks noGrp="1"/>
          </p:cNvSpPr>
          <p:nvPr>
            <p:ph idx="1"/>
          </p:nvPr>
        </p:nvSpPr>
        <p:spPr/>
        <p:txBody>
          <a:bodyPr/>
          <a:lstStyle/>
          <a:p>
            <a:r>
              <a:rPr lang="en-GB" dirty="0">
                <a:effectLst/>
              </a:rPr>
              <a:t>Given two events, A and B, we define the probability of A or B as follows:</a:t>
            </a:r>
          </a:p>
          <a:p>
            <a:endParaRPr lang="en-US" dirty="0"/>
          </a:p>
        </p:txBody>
      </p:sp>
      <p:sp>
        <p:nvSpPr>
          <p:cNvPr id="4" name="Slide Number Placeholder 3">
            <a:extLst>
              <a:ext uri="{FF2B5EF4-FFF2-40B4-BE49-F238E27FC236}">
                <a16:creationId xmlns:a16="http://schemas.microsoft.com/office/drawing/2014/main" id="{ED2F8274-2018-1402-D3D4-6A27A6C89433}"/>
              </a:ext>
            </a:extLst>
          </p:cNvPr>
          <p:cNvSpPr>
            <a:spLocks noGrp="1"/>
          </p:cNvSpPr>
          <p:nvPr>
            <p:ph type="sldNum" sz="quarter" idx="12"/>
          </p:nvPr>
        </p:nvSpPr>
        <p:spPr/>
        <p:txBody>
          <a:bodyPr/>
          <a:lstStyle/>
          <a:p>
            <a:fld id="{44E22EE9-B8A0-0641-9265-052CFE9B95A7}" type="slidenum">
              <a:rPr lang="en-GB" altLang="en-US" smtClean="0"/>
              <a:pPr/>
              <a:t>2</a:t>
            </a:fld>
            <a:endParaRPr lang="en-GB" altLang="en-US" dirty="0"/>
          </a:p>
        </p:txBody>
      </p:sp>
      <p:pic>
        <p:nvPicPr>
          <p:cNvPr id="6" name="Picture 5" descr="Text&#10;&#10;Description automatically generated">
            <a:extLst>
              <a:ext uri="{FF2B5EF4-FFF2-40B4-BE49-F238E27FC236}">
                <a16:creationId xmlns:a16="http://schemas.microsoft.com/office/drawing/2014/main" id="{ED9E1550-AE1C-C7B2-972F-C53BCDDBC7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6940" y="2849880"/>
            <a:ext cx="7818120" cy="1158240"/>
          </a:xfrm>
          <a:prstGeom prst="rect">
            <a:avLst/>
          </a:prstGeom>
        </p:spPr>
      </p:pic>
      <p:sp>
        <p:nvSpPr>
          <p:cNvPr id="5" name="Oval 4">
            <a:extLst>
              <a:ext uri="{FF2B5EF4-FFF2-40B4-BE49-F238E27FC236}">
                <a16:creationId xmlns:a16="http://schemas.microsoft.com/office/drawing/2014/main" id="{326049B6-9DC0-1D5E-2A3F-51612736ECC3}"/>
              </a:ext>
            </a:extLst>
          </p:cNvPr>
          <p:cNvSpPr/>
          <p:nvPr/>
        </p:nvSpPr>
        <p:spPr>
          <a:xfrm>
            <a:off x="1775520" y="4725144"/>
            <a:ext cx="1489591" cy="1425734"/>
          </a:xfrm>
          <a:prstGeom prst="ellipse">
            <a:avLst/>
          </a:prstGeom>
          <a:solidFill>
            <a:srgbClr val="FF0000">
              <a:alpha val="5990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p>
        </p:txBody>
      </p:sp>
      <p:sp>
        <p:nvSpPr>
          <p:cNvPr id="7" name="Oval 6">
            <a:extLst>
              <a:ext uri="{FF2B5EF4-FFF2-40B4-BE49-F238E27FC236}">
                <a16:creationId xmlns:a16="http://schemas.microsoft.com/office/drawing/2014/main" id="{D63A8F0C-2D08-E09D-1DD5-8CCC838B376B}"/>
              </a:ext>
            </a:extLst>
          </p:cNvPr>
          <p:cNvSpPr/>
          <p:nvPr/>
        </p:nvSpPr>
        <p:spPr>
          <a:xfrm>
            <a:off x="3417303" y="4725144"/>
            <a:ext cx="1489591" cy="1425734"/>
          </a:xfrm>
          <a:prstGeom prst="ellipse">
            <a:avLst/>
          </a:prstGeom>
          <a:solidFill>
            <a:srgbClr val="0070C0">
              <a:alpha val="5990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p>
        </p:txBody>
      </p:sp>
      <p:sp>
        <p:nvSpPr>
          <p:cNvPr id="8" name="Oval 7">
            <a:extLst>
              <a:ext uri="{FF2B5EF4-FFF2-40B4-BE49-F238E27FC236}">
                <a16:creationId xmlns:a16="http://schemas.microsoft.com/office/drawing/2014/main" id="{9AC5CEEF-D910-68CA-710A-53F4BB6F8FEB}"/>
              </a:ext>
            </a:extLst>
          </p:cNvPr>
          <p:cNvSpPr/>
          <p:nvPr/>
        </p:nvSpPr>
        <p:spPr>
          <a:xfrm>
            <a:off x="6528048" y="4725144"/>
            <a:ext cx="1489591" cy="1425734"/>
          </a:xfrm>
          <a:prstGeom prst="ellipse">
            <a:avLst/>
          </a:prstGeom>
          <a:solidFill>
            <a:srgbClr val="FF0000">
              <a:alpha val="5871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p>
        </p:txBody>
      </p:sp>
      <p:sp>
        <p:nvSpPr>
          <p:cNvPr id="9" name="Oval 8">
            <a:extLst>
              <a:ext uri="{FF2B5EF4-FFF2-40B4-BE49-F238E27FC236}">
                <a16:creationId xmlns:a16="http://schemas.microsoft.com/office/drawing/2014/main" id="{B7C59F63-C4D1-92E6-9B3A-A4FF8DC8E14A}"/>
              </a:ext>
            </a:extLst>
          </p:cNvPr>
          <p:cNvSpPr/>
          <p:nvPr/>
        </p:nvSpPr>
        <p:spPr>
          <a:xfrm>
            <a:off x="7651373" y="4700393"/>
            <a:ext cx="1489591" cy="1425734"/>
          </a:xfrm>
          <a:prstGeom prst="ellipse">
            <a:avLst/>
          </a:prstGeom>
          <a:solidFill>
            <a:srgbClr val="0070C0">
              <a:alpha val="5871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p>
        </p:txBody>
      </p:sp>
    </p:spTree>
    <p:extLst>
      <p:ext uri="{BB962C8B-B14F-4D97-AF65-F5344CB8AC3E}">
        <p14:creationId xmlns:p14="http://schemas.microsoft.com/office/powerpoint/2010/main" val="3517504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3A662-CAAD-AE02-C809-E6C125C0B167}"/>
              </a:ext>
            </a:extLst>
          </p:cNvPr>
          <p:cNvSpPr>
            <a:spLocks noGrp="1"/>
          </p:cNvSpPr>
          <p:nvPr>
            <p:ph type="title"/>
          </p:nvPr>
        </p:nvSpPr>
        <p:spPr/>
        <p:txBody>
          <a:bodyPr/>
          <a:lstStyle/>
          <a:p>
            <a:r>
              <a:rPr lang="en-GB" dirty="0">
                <a:effectLst/>
              </a:rPr>
              <a:t>Conditional probability</a:t>
            </a:r>
            <a:endParaRPr lang="en-US" dirty="0"/>
          </a:p>
        </p:txBody>
      </p:sp>
      <p:sp>
        <p:nvSpPr>
          <p:cNvPr id="3" name="Content Placeholder 2">
            <a:extLst>
              <a:ext uri="{FF2B5EF4-FFF2-40B4-BE49-F238E27FC236}">
                <a16:creationId xmlns:a16="http://schemas.microsoft.com/office/drawing/2014/main" id="{5B0F77EB-8808-E4AA-5EAD-B71FC9D0677C}"/>
              </a:ext>
            </a:extLst>
          </p:cNvPr>
          <p:cNvSpPr>
            <a:spLocks noGrp="1"/>
          </p:cNvSpPr>
          <p:nvPr>
            <p:ph idx="1"/>
          </p:nvPr>
        </p:nvSpPr>
        <p:spPr/>
        <p:txBody>
          <a:bodyPr/>
          <a:lstStyle/>
          <a:p>
            <a:r>
              <a:rPr lang="en-GB" dirty="0">
                <a:effectLst/>
              </a:rPr>
              <a:t>We define the conditional probability of event A, given that event B is true, as follows:</a:t>
            </a:r>
          </a:p>
          <a:p>
            <a:endParaRPr lang="en-US" dirty="0"/>
          </a:p>
        </p:txBody>
      </p:sp>
      <p:sp>
        <p:nvSpPr>
          <p:cNvPr id="4" name="Slide Number Placeholder 3">
            <a:extLst>
              <a:ext uri="{FF2B5EF4-FFF2-40B4-BE49-F238E27FC236}">
                <a16:creationId xmlns:a16="http://schemas.microsoft.com/office/drawing/2014/main" id="{577785AF-D66D-86B8-B220-3DCC04712599}"/>
              </a:ext>
            </a:extLst>
          </p:cNvPr>
          <p:cNvSpPr>
            <a:spLocks noGrp="1"/>
          </p:cNvSpPr>
          <p:nvPr>
            <p:ph type="sldNum" sz="quarter" idx="12"/>
          </p:nvPr>
        </p:nvSpPr>
        <p:spPr/>
        <p:txBody>
          <a:bodyPr/>
          <a:lstStyle/>
          <a:p>
            <a:fld id="{44E22EE9-B8A0-0641-9265-052CFE9B95A7}" type="slidenum">
              <a:rPr lang="en-GB" altLang="en-US" smtClean="0"/>
              <a:pPr/>
              <a:t>3</a:t>
            </a:fld>
            <a:endParaRPr lang="en-GB" altLang="en-US" dirty="0"/>
          </a:p>
        </p:txBody>
      </p:sp>
      <p:pic>
        <p:nvPicPr>
          <p:cNvPr id="6" name="Picture 5" descr="Text, whiteboard&#10;&#10;Description automatically generated">
            <a:extLst>
              <a:ext uri="{FF2B5EF4-FFF2-40B4-BE49-F238E27FC236}">
                <a16:creationId xmlns:a16="http://schemas.microsoft.com/office/drawing/2014/main" id="{A91DFCFB-4FB2-ED96-78ED-69A631397E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8074" y="2258040"/>
            <a:ext cx="5596122" cy="1427976"/>
          </a:xfrm>
          <a:prstGeom prst="rect">
            <a:avLst/>
          </a:prstGeom>
        </p:spPr>
      </p:pic>
      <p:sp>
        <p:nvSpPr>
          <p:cNvPr id="5" name="Oval 4">
            <a:extLst>
              <a:ext uri="{FF2B5EF4-FFF2-40B4-BE49-F238E27FC236}">
                <a16:creationId xmlns:a16="http://schemas.microsoft.com/office/drawing/2014/main" id="{21BDA4E5-1348-9B2D-CE5A-84CA682EDDE1}"/>
              </a:ext>
            </a:extLst>
          </p:cNvPr>
          <p:cNvSpPr/>
          <p:nvPr/>
        </p:nvSpPr>
        <p:spPr>
          <a:xfrm>
            <a:off x="4454218" y="3863167"/>
            <a:ext cx="1489591" cy="1425734"/>
          </a:xfrm>
          <a:prstGeom prst="ellipse">
            <a:avLst/>
          </a:prstGeom>
          <a:solidFill>
            <a:srgbClr val="FF0000">
              <a:alpha val="214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a:t>
            </a:r>
          </a:p>
        </p:txBody>
      </p:sp>
      <p:sp>
        <p:nvSpPr>
          <p:cNvPr id="7" name="Oval 6">
            <a:extLst>
              <a:ext uri="{FF2B5EF4-FFF2-40B4-BE49-F238E27FC236}">
                <a16:creationId xmlns:a16="http://schemas.microsoft.com/office/drawing/2014/main" id="{97D53D84-EC46-A4CE-2BA9-E3B34F240D35}"/>
              </a:ext>
            </a:extLst>
          </p:cNvPr>
          <p:cNvSpPr/>
          <p:nvPr/>
        </p:nvSpPr>
        <p:spPr>
          <a:xfrm>
            <a:off x="5577543" y="3838416"/>
            <a:ext cx="1489591" cy="1425734"/>
          </a:xfrm>
          <a:prstGeom prst="ellipse">
            <a:avLst/>
          </a:prstGeom>
          <a:solidFill>
            <a:srgbClr val="0070C0">
              <a:alpha val="214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a:t>
            </a:r>
          </a:p>
        </p:txBody>
      </p:sp>
      <p:cxnSp>
        <p:nvCxnSpPr>
          <p:cNvPr id="9" name="Straight Arrow Connector 8">
            <a:extLst>
              <a:ext uri="{FF2B5EF4-FFF2-40B4-BE49-F238E27FC236}">
                <a16:creationId xmlns:a16="http://schemas.microsoft.com/office/drawing/2014/main" id="{F7920E94-B952-0568-C076-D06278DFB0F4}"/>
              </a:ext>
            </a:extLst>
          </p:cNvPr>
          <p:cNvCxnSpPr>
            <a:cxnSpLocks/>
          </p:cNvCxnSpPr>
          <p:nvPr/>
        </p:nvCxnSpPr>
        <p:spPr>
          <a:xfrm>
            <a:off x="5750362" y="4553361"/>
            <a:ext cx="2160240" cy="8631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E1EB6F0-F56B-8142-737F-2213F32DDC23}"/>
              </a:ext>
            </a:extLst>
          </p:cNvPr>
          <p:cNvSpPr txBox="1"/>
          <p:nvPr/>
        </p:nvSpPr>
        <p:spPr>
          <a:xfrm>
            <a:off x="7825542" y="5347351"/>
            <a:ext cx="902811" cy="369332"/>
          </a:xfrm>
          <a:prstGeom prst="rect">
            <a:avLst/>
          </a:prstGeom>
          <a:noFill/>
        </p:spPr>
        <p:txBody>
          <a:bodyPr wrap="none" rtlCol="0">
            <a:spAutoFit/>
          </a:bodyPr>
          <a:lstStyle/>
          <a:p>
            <a:r>
              <a:rPr lang="en-GB" dirty="0"/>
              <a:t>p(A,B) </a:t>
            </a:r>
          </a:p>
        </p:txBody>
      </p:sp>
    </p:spTree>
    <p:extLst>
      <p:ext uri="{BB962C8B-B14F-4D97-AF65-F5344CB8AC3E}">
        <p14:creationId xmlns:p14="http://schemas.microsoft.com/office/powerpoint/2010/main" val="1411734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7A235-2B39-F770-1149-AF82306A9FBA}"/>
              </a:ext>
            </a:extLst>
          </p:cNvPr>
          <p:cNvSpPr>
            <a:spLocks noGrp="1"/>
          </p:cNvSpPr>
          <p:nvPr>
            <p:ph type="title"/>
          </p:nvPr>
        </p:nvSpPr>
        <p:spPr/>
        <p:txBody>
          <a:bodyPr/>
          <a:lstStyle/>
          <a:p>
            <a:r>
              <a:rPr lang="en-GB" dirty="0"/>
              <a:t>The Bayes rule </a:t>
            </a:r>
          </a:p>
        </p:txBody>
      </p:sp>
      <p:sp>
        <p:nvSpPr>
          <p:cNvPr id="3" name="Slide Number Placeholder 2">
            <a:extLst>
              <a:ext uri="{FF2B5EF4-FFF2-40B4-BE49-F238E27FC236}">
                <a16:creationId xmlns:a16="http://schemas.microsoft.com/office/drawing/2014/main" id="{42E490CA-BFBA-FC2E-491D-2FBAF857B18F}"/>
              </a:ext>
            </a:extLst>
          </p:cNvPr>
          <p:cNvSpPr>
            <a:spLocks noGrp="1"/>
          </p:cNvSpPr>
          <p:nvPr>
            <p:ph type="sldNum" sz="quarter" idx="12"/>
          </p:nvPr>
        </p:nvSpPr>
        <p:spPr/>
        <p:txBody>
          <a:bodyPr/>
          <a:lstStyle/>
          <a:p>
            <a:fld id="{BB98F552-A29D-2D4E-8192-F20670493719}" type="slidenum">
              <a:rPr lang="en-GB" altLang="en-US" smtClean="0"/>
              <a:pPr/>
              <a:t>4</a:t>
            </a:fld>
            <a:endParaRPr lang="en-GB" alt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80C198F-9DC4-239A-2C29-19695128A52B}"/>
                  </a:ext>
                </a:extLst>
              </p:cNvPr>
              <p:cNvSpPr txBox="1"/>
              <p:nvPr/>
            </p:nvSpPr>
            <p:spPr>
              <a:xfrm>
                <a:off x="3257248" y="2478495"/>
                <a:ext cx="5152500" cy="13440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3840" i="1">
                          <a:latin typeface="Cambria Math" panose="02040503050406030204" pitchFamily="18" charset="0"/>
                        </a:rPr>
                        <m:t>𝑝</m:t>
                      </m:r>
                      <m:d>
                        <m:dPr>
                          <m:ctrlPr>
                            <a:rPr lang="en-GB" sz="3840" i="1">
                              <a:latin typeface="Cambria Math" panose="02040503050406030204" pitchFamily="18" charset="0"/>
                            </a:rPr>
                          </m:ctrlPr>
                        </m:dPr>
                        <m:e>
                          <m:r>
                            <a:rPr lang="en-GB" sz="3840" i="1">
                              <a:latin typeface="Cambria Math" panose="02040503050406030204" pitchFamily="18" charset="0"/>
                            </a:rPr>
                            <m:t>𝐴</m:t>
                          </m:r>
                        </m:e>
                        <m:e>
                          <m:r>
                            <a:rPr lang="en-GB" sz="3840" i="1">
                              <a:latin typeface="Cambria Math" panose="02040503050406030204" pitchFamily="18" charset="0"/>
                            </a:rPr>
                            <m:t>𝐵</m:t>
                          </m:r>
                        </m:e>
                      </m:d>
                      <m:r>
                        <a:rPr lang="el-GR" sz="3840" i="1">
                          <a:latin typeface="Cambria Math" panose="02040503050406030204" pitchFamily="18" charset="0"/>
                        </a:rPr>
                        <m:t>=</m:t>
                      </m:r>
                      <m:f>
                        <m:fPr>
                          <m:ctrlPr>
                            <a:rPr lang="el-GR" sz="3840" i="1">
                              <a:latin typeface="Cambria Math" panose="02040503050406030204" pitchFamily="18" charset="0"/>
                            </a:rPr>
                          </m:ctrlPr>
                        </m:fPr>
                        <m:num>
                          <m:r>
                            <a:rPr lang="en-GB" sz="3840" i="1">
                              <a:latin typeface="Cambria Math" panose="02040503050406030204" pitchFamily="18" charset="0"/>
                            </a:rPr>
                            <m:t>𝑝</m:t>
                          </m:r>
                          <m:d>
                            <m:dPr>
                              <m:ctrlPr>
                                <a:rPr lang="en-GB" sz="3840" i="1">
                                  <a:latin typeface="Cambria Math" panose="02040503050406030204" pitchFamily="18" charset="0"/>
                                </a:rPr>
                              </m:ctrlPr>
                            </m:dPr>
                            <m:e>
                              <m:r>
                                <a:rPr lang="en-GB" sz="3840" i="1">
                                  <a:latin typeface="Cambria Math" panose="02040503050406030204" pitchFamily="18" charset="0"/>
                                </a:rPr>
                                <m:t>𝐵</m:t>
                              </m:r>
                            </m:e>
                            <m:e>
                              <m:r>
                                <a:rPr lang="en-GB" sz="3840" i="1">
                                  <a:latin typeface="Cambria Math" panose="02040503050406030204" pitchFamily="18" charset="0"/>
                                </a:rPr>
                                <m:t>𝐴</m:t>
                              </m:r>
                            </m:e>
                          </m:d>
                          <m:r>
                            <a:rPr lang="en-GB" sz="3840" i="1">
                              <a:latin typeface="Cambria Math" panose="02040503050406030204" pitchFamily="18" charset="0"/>
                            </a:rPr>
                            <m:t>. </m:t>
                          </m:r>
                          <m:r>
                            <a:rPr lang="en-GB" sz="3840" i="1">
                              <a:latin typeface="Cambria Math" panose="02040503050406030204" pitchFamily="18" charset="0"/>
                            </a:rPr>
                            <m:t>𝑝</m:t>
                          </m:r>
                          <m:r>
                            <a:rPr lang="en-GB" sz="3840" i="1">
                              <a:latin typeface="Cambria Math" panose="02040503050406030204" pitchFamily="18" charset="0"/>
                            </a:rPr>
                            <m:t>(</m:t>
                          </m:r>
                          <m:r>
                            <a:rPr lang="en-GB" sz="3840" i="1">
                              <a:latin typeface="Cambria Math" panose="02040503050406030204" pitchFamily="18" charset="0"/>
                            </a:rPr>
                            <m:t>𝐴</m:t>
                          </m:r>
                          <m:r>
                            <a:rPr lang="en-GB" sz="3840" i="1">
                              <a:latin typeface="Cambria Math" panose="02040503050406030204" pitchFamily="18" charset="0"/>
                            </a:rPr>
                            <m:t>)</m:t>
                          </m:r>
                        </m:num>
                        <m:den>
                          <m:r>
                            <a:rPr lang="en-GB" sz="3840" i="1">
                              <a:latin typeface="Cambria Math" panose="02040503050406030204" pitchFamily="18" charset="0"/>
                            </a:rPr>
                            <m:t>𝑝</m:t>
                          </m:r>
                          <m:r>
                            <a:rPr lang="en-GB" sz="3840" i="1">
                              <a:latin typeface="Cambria Math" panose="02040503050406030204" pitchFamily="18" charset="0"/>
                            </a:rPr>
                            <m:t>(</m:t>
                          </m:r>
                          <m:r>
                            <a:rPr lang="en-GB" sz="3840" i="1">
                              <a:latin typeface="Cambria Math" panose="02040503050406030204" pitchFamily="18" charset="0"/>
                            </a:rPr>
                            <m:t>𝐵</m:t>
                          </m:r>
                          <m:r>
                            <a:rPr lang="en-GB" sz="3840" i="1">
                              <a:latin typeface="Cambria Math" panose="02040503050406030204" pitchFamily="18" charset="0"/>
                            </a:rPr>
                            <m:t>)</m:t>
                          </m:r>
                        </m:den>
                      </m:f>
                    </m:oMath>
                  </m:oMathPara>
                </a14:m>
                <a:endParaRPr lang="en-GB" dirty="0"/>
              </a:p>
            </p:txBody>
          </p:sp>
        </mc:Choice>
        <mc:Fallback xmlns="">
          <p:sp>
            <p:nvSpPr>
              <p:cNvPr id="4" name="TextBox 3">
                <a:extLst>
                  <a:ext uri="{FF2B5EF4-FFF2-40B4-BE49-F238E27FC236}">
                    <a16:creationId xmlns:a16="http://schemas.microsoft.com/office/drawing/2014/main" id="{380C198F-9DC4-239A-2C29-19695128A52B}"/>
                  </a:ext>
                </a:extLst>
              </p:cNvPr>
              <p:cNvSpPr txBox="1">
                <a:spLocks noRot="1" noChangeAspect="1" noMove="1" noResize="1" noEditPoints="1" noAdjustHandles="1" noChangeArrowheads="1" noChangeShapeType="1" noTextEdit="1"/>
              </p:cNvSpPr>
              <p:nvPr/>
            </p:nvSpPr>
            <p:spPr>
              <a:xfrm>
                <a:off x="3257248" y="2478495"/>
                <a:ext cx="5152500" cy="1344086"/>
              </a:xfrm>
              <a:prstGeom prst="rect">
                <a:avLst/>
              </a:prstGeom>
              <a:blipFill>
                <a:blip r:embed="rId2"/>
                <a:stretch>
                  <a:fillRect r="-737" b="-13208"/>
                </a:stretch>
              </a:blipFill>
            </p:spPr>
            <p:txBody>
              <a:bodyPr/>
              <a:lstStyle/>
              <a:p>
                <a:r>
                  <a:rPr lang="en-GB">
                    <a:noFill/>
                  </a:rPr>
                  <a:t> </a:t>
                </a:r>
              </a:p>
            </p:txBody>
          </p:sp>
        </mc:Fallback>
      </mc:AlternateContent>
      <p:sp>
        <p:nvSpPr>
          <p:cNvPr id="5" name="Rounded Rectangular Callout 4">
            <a:extLst>
              <a:ext uri="{FF2B5EF4-FFF2-40B4-BE49-F238E27FC236}">
                <a16:creationId xmlns:a16="http://schemas.microsoft.com/office/drawing/2014/main" id="{12B4F7C0-EB28-D84E-139A-989B8656F1D6}"/>
              </a:ext>
            </a:extLst>
          </p:cNvPr>
          <p:cNvSpPr/>
          <p:nvPr/>
        </p:nvSpPr>
        <p:spPr>
          <a:xfrm>
            <a:off x="1689110" y="1739600"/>
            <a:ext cx="1568137" cy="735178"/>
          </a:xfrm>
          <a:prstGeom prst="wedgeRoundRectCallout">
            <a:avLst>
              <a:gd name="adj1" fmla="val 68608"/>
              <a:gd name="adj2" fmla="val 107623"/>
              <a:gd name="adj3" fmla="val 16667"/>
            </a:avLst>
          </a:prstGeom>
          <a:solidFill>
            <a:srgbClr val="FFC000">
              <a:alpha val="29125"/>
            </a:srgb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Gill Sans MT" panose="020B0502020104020203" pitchFamily="34" charset="77"/>
              </a:rPr>
              <a:t>Posterior</a:t>
            </a:r>
          </a:p>
        </p:txBody>
      </p:sp>
      <p:sp>
        <p:nvSpPr>
          <p:cNvPr id="6" name="Rounded Rectangular Callout 5">
            <a:extLst>
              <a:ext uri="{FF2B5EF4-FFF2-40B4-BE49-F238E27FC236}">
                <a16:creationId xmlns:a16="http://schemas.microsoft.com/office/drawing/2014/main" id="{E1585D8D-AB70-4CBE-8ECE-18D798FA99AB}"/>
              </a:ext>
            </a:extLst>
          </p:cNvPr>
          <p:cNvSpPr/>
          <p:nvPr/>
        </p:nvSpPr>
        <p:spPr>
          <a:xfrm>
            <a:off x="4364971" y="1268760"/>
            <a:ext cx="1568137" cy="735178"/>
          </a:xfrm>
          <a:prstGeom prst="wedgeRoundRectCallout">
            <a:avLst>
              <a:gd name="adj1" fmla="val 68608"/>
              <a:gd name="adj2" fmla="val 107623"/>
              <a:gd name="adj3" fmla="val 16667"/>
            </a:avLst>
          </a:prstGeom>
          <a:solidFill>
            <a:srgbClr val="FFC000">
              <a:alpha val="29125"/>
            </a:srgb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Gill Sans MT" panose="020B0502020104020203" pitchFamily="34" charset="77"/>
              </a:rPr>
              <a:t>Likelihood</a:t>
            </a:r>
          </a:p>
        </p:txBody>
      </p:sp>
      <p:sp>
        <p:nvSpPr>
          <p:cNvPr id="7" name="Rounded Rectangular Callout 6">
            <a:extLst>
              <a:ext uri="{FF2B5EF4-FFF2-40B4-BE49-F238E27FC236}">
                <a16:creationId xmlns:a16="http://schemas.microsoft.com/office/drawing/2014/main" id="{3356BD59-FE16-1E16-0EBC-7A52589BA653}"/>
              </a:ext>
            </a:extLst>
          </p:cNvPr>
          <p:cNvSpPr/>
          <p:nvPr/>
        </p:nvSpPr>
        <p:spPr>
          <a:xfrm>
            <a:off x="7737783" y="1268760"/>
            <a:ext cx="1085327" cy="735178"/>
          </a:xfrm>
          <a:prstGeom prst="wedgeRoundRectCallout">
            <a:avLst>
              <a:gd name="adj1" fmla="val -52177"/>
              <a:gd name="adj2" fmla="val 119772"/>
              <a:gd name="adj3" fmla="val 16667"/>
            </a:avLst>
          </a:prstGeom>
          <a:solidFill>
            <a:srgbClr val="FFC000">
              <a:alpha val="29125"/>
            </a:srgb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Gill Sans MT" panose="020B0502020104020203" pitchFamily="34" charset="77"/>
              </a:rPr>
              <a:t>Prior</a:t>
            </a:r>
          </a:p>
        </p:txBody>
      </p:sp>
      <p:sp>
        <p:nvSpPr>
          <p:cNvPr id="8" name="Rounded Rectangular Callout 7">
            <a:extLst>
              <a:ext uri="{FF2B5EF4-FFF2-40B4-BE49-F238E27FC236}">
                <a16:creationId xmlns:a16="http://schemas.microsoft.com/office/drawing/2014/main" id="{DFDDF7B8-018D-D890-D2BF-F31ABC6B9E9C}"/>
              </a:ext>
            </a:extLst>
          </p:cNvPr>
          <p:cNvSpPr/>
          <p:nvPr/>
        </p:nvSpPr>
        <p:spPr>
          <a:xfrm>
            <a:off x="5022511" y="4811554"/>
            <a:ext cx="2146978" cy="759461"/>
          </a:xfrm>
          <a:prstGeom prst="wedgeRoundRectCallout">
            <a:avLst>
              <a:gd name="adj1" fmla="val 38952"/>
              <a:gd name="adj2" fmla="val -163021"/>
              <a:gd name="adj3" fmla="val 16667"/>
            </a:avLst>
          </a:prstGeom>
          <a:solidFill>
            <a:srgbClr val="FFC000">
              <a:alpha val="29125"/>
            </a:srgb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Gill Sans MT" panose="020B0502020104020203" pitchFamily="34" charset="77"/>
              </a:rPr>
              <a:t>Marginalisation</a:t>
            </a:r>
          </a:p>
        </p:txBody>
      </p:sp>
    </p:spTree>
    <p:extLst>
      <p:ext uri="{BB962C8B-B14F-4D97-AF65-F5344CB8AC3E}">
        <p14:creationId xmlns:p14="http://schemas.microsoft.com/office/powerpoint/2010/main" val="3962878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1078A-4DD0-709D-3044-D398A73E861D}"/>
              </a:ext>
            </a:extLst>
          </p:cNvPr>
          <p:cNvSpPr>
            <a:spLocks noGrp="1"/>
          </p:cNvSpPr>
          <p:nvPr>
            <p:ph type="title"/>
          </p:nvPr>
        </p:nvSpPr>
        <p:spPr/>
        <p:txBody>
          <a:bodyPr/>
          <a:lstStyle/>
          <a:p>
            <a:r>
              <a:rPr lang="en-GB" dirty="0">
                <a:effectLst/>
              </a:rPr>
              <a:t>Bayes theorem*</a:t>
            </a:r>
            <a:endParaRPr lang="en-US" dirty="0"/>
          </a:p>
        </p:txBody>
      </p:sp>
      <p:sp>
        <p:nvSpPr>
          <p:cNvPr id="3" name="Content Placeholder 2">
            <a:extLst>
              <a:ext uri="{FF2B5EF4-FFF2-40B4-BE49-F238E27FC236}">
                <a16:creationId xmlns:a16="http://schemas.microsoft.com/office/drawing/2014/main" id="{67617F30-9C78-58FC-ACFA-1C8AF3CF66C9}"/>
              </a:ext>
            </a:extLst>
          </p:cNvPr>
          <p:cNvSpPr>
            <a:spLocks noGrp="1"/>
          </p:cNvSpPr>
          <p:nvPr>
            <p:ph idx="1"/>
          </p:nvPr>
        </p:nvSpPr>
        <p:spPr/>
        <p:txBody>
          <a:bodyPr/>
          <a:lstStyle/>
          <a:p>
            <a:r>
              <a:rPr lang="en-GB" dirty="0">
                <a:effectLst/>
              </a:rPr>
              <a:t>Combining the definition of conditional probability with the product and sum rules yields the Bayes rule, also called the Bayes theorem:</a:t>
            </a:r>
          </a:p>
          <a:p>
            <a:endParaRPr lang="en-US" dirty="0"/>
          </a:p>
        </p:txBody>
      </p:sp>
      <p:sp>
        <p:nvSpPr>
          <p:cNvPr id="4" name="Slide Number Placeholder 3">
            <a:extLst>
              <a:ext uri="{FF2B5EF4-FFF2-40B4-BE49-F238E27FC236}">
                <a16:creationId xmlns:a16="http://schemas.microsoft.com/office/drawing/2014/main" id="{121E4F8C-B5CC-A635-DAA7-D6D242DB201F}"/>
              </a:ext>
            </a:extLst>
          </p:cNvPr>
          <p:cNvSpPr>
            <a:spLocks noGrp="1"/>
          </p:cNvSpPr>
          <p:nvPr>
            <p:ph type="sldNum" sz="quarter" idx="12"/>
          </p:nvPr>
        </p:nvSpPr>
        <p:spPr/>
        <p:txBody>
          <a:bodyPr/>
          <a:lstStyle/>
          <a:p>
            <a:fld id="{44E22EE9-B8A0-0641-9265-052CFE9B95A7}" type="slidenum">
              <a:rPr lang="en-GB" altLang="en-US" smtClean="0"/>
              <a:pPr/>
              <a:t>5</a:t>
            </a:fld>
            <a:endParaRPr lang="en-GB" altLang="en-US" dirty="0"/>
          </a:p>
        </p:txBody>
      </p:sp>
      <p:pic>
        <p:nvPicPr>
          <p:cNvPr id="6" name="Picture 5" descr="Graphical user interface, application, Word&#10;&#10;Description automatically generated">
            <a:extLst>
              <a:ext uri="{FF2B5EF4-FFF2-40B4-BE49-F238E27FC236}">
                <a16:creationId xmlns:a16="http://schemas.microsoft.com/office/drawing/2014/main" id="{9730A853-81C5-4057-2754-3D04FDC2C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1160" y="2865120"/>
            <a:ext cx="8869680" cy="1127760"/>
          </a:xfrm>
          <a:prstGeom prst="rect">
            <a:avLst/>
          </a:prstGeom>
        </p:spPr>
      </p:pic>
    </p:spTree>
    <p:extLst>
      <p:ext uri="{BB962C8B-B14F-4D97-AF65-F5344CB8AC3E}">
        <p14:creationId xmlns:p14="http://schemas.microsoft.com/office/powerpoint/2010/main" val="1687254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BDF4E-8992-D96B-20DF-79B0B0F789B1}"/>
              </a:ext>
            </a:extLst>
          </p:cNvPr>
          <p:cNvSpPr>
            <a:spLocks noGrp="1"/>
          </p:cNvSpPr>
          <p:nvPr>
            <p:ph type="title"/>
          </p:nvPr>
        </p:nvSpPr>
        <p:spPr/>
        <p:txBody>
          <a:bodyPr/>
          <a:lstStyle/>
          <a:p>
            <a:r>
              <a:rPr lang="en-GB" dirty="0"/>
              <a:t>Bayesian Classification</a:t>
            </a:r>
          </a:p>
        </p:txBody>
      </p:sp>
      <p:sp>
        <p:nvSpPr>
          <p:cNvPr id="3" name="Content Placeholder 2">
            <a:extLst>
              <a:ext uri="{FF2B5EF4-FFF2-40B4-BE49-F238E27FC236}">
                <a16:creationId xmlns:a16="http://schemas.microsoft.com/office/drawing/2014/main" id="{83563DA1-1F12-EA61-54EA-2413F59B36AB}"/>
              </a:ext>
            </a:extLst>
          </p:cNvPr>
          <p:cNvSpPr>
            <a:spLocks noGrp="1"/>
          </p:cNvSpPr>
          <p:nvPr>
            <p:ph idx="1"/>
          </p:nvPr>
        </p:nvSpPr>
        <p:spPr/>
        <p:txBody>
          <a:bodyPr/>
          <a:lstStyle/>
          <a:p>
            <a:r>
              <a:rPr lang="en-GB" b="0" i="0" u="none" strike="noStrike" dirty="0">
                <a:solidFill>
                  <a:srgbClr val="000000"/>
                </a:solidFill>
                <a:effectLst/>
              </a:rPr>
              <a:t>Naive Bayes classifiers are built on Bayesian classification methods.</a:t>
            </a:r>
          </a:p>
          <a:p>
            <a:r>
              <a:rPr lang="en-GB" b="0" i="0" u="none" strike="noStrike" dirty="0">
                <a:solidFill>
                  <a:srgbClr val="000000"/>
                </a:solidFill>
                <a:effectLst/>
              </a:rPr>
              <a:t>These rely on </a:t>
            </a:r>
            <a:r>
              <a:rPr lang="en-GB" b="0" i="0" u="none" strike="noStrike" dirty="0" err="1">
                <a:solidFill>
                  <a:srgbClr val="000000"/>
                </a:solidFill>
                <a:effectLst/>
              </a:rPr>
              <a:t>Bayes's</a:t>
            </a:r>
            <a:r>
              <a:rPr lang="en-GB" b="0" i="0" u="none" strike="noStrike" dirty="0">
                <a:solidFill>
                  <a:srgbClr val="000000"/>
                </a:solidFill>
                <a:effectLst/>
              </a:rPr>
              <a:t> theorem, which describes the relationship of conditional probabilities of statistical quantities. </a:t>
            </a:r>
          </a:p>
          <a:p>
            <a:r>
              <a:rPr lang="en-GB" b="0" i="0" u="none" strike="noStrike" dirty="0">
                <a:solidFill>
                  <a:srgbClr val="000000"/>
                </a:solidFill>
                <a:effectLst/>
              </a:rPr>
              <a:t>In Bayesian classification, we are interested in finding the probability of a label given some observed features, which we can write as </a:t>
            </a:r>
            <a:br>
              <a:rPr lang="en-GB" b="0" i="0" u="none" strike="noStrike" dirty="0">
                <a:solidFill>
                  <a:srgbClr val="000000"/>
                </a:solidFill>
                <a:effectLst/>
              </a:rPr>
            </a:br>
            <a:r>
              <a:rPr lang="en-GB" b="0" i="0" u="none" strike="noStrike" dirty="0">
                <a:solidFill>
                  <a:srgbClr val="000000"/>
                </a:solidFill>
                <a:effectLst/>
              </a:rPr>
              <a:t>P( </a:t>
            </a:r>
            <a:r>
              <a:rPr lang="en-GB" i="1" dirty="0">
                <a:solidFill>
                  <a:srgbClr val="000000"/>
                </a:solidFill>
              </a:rPr>
              <a:t>l</a:t>
            </a:r>
            <a:r>
              <a:rPr lang="en-GB" b="0" i="1" u="none" strike="noStrike" dirty="0">
                <a:solidFill>
                  <a:srgbClr val="000000"/>
                </a:solidFill>
                <a:effectLst/>
              </a:rPr>
              <a:t>abel</a:t>
            </a:r>
            <a:r>
              <a:rPr lang="en-GB" b="0" i="0" u="none" strike="noStrike" dirty="0">
                <a:solidFill>
                  <a:srgbClr val="000000"/>
                </a:solidFill>
                <a:effectLst/>
              </a:rPr>
              <a:t> | </a:t>
            </a:r>
            <a:r>
              <a:rPr lang="en-GB" b="0" i="1" u="none" strike="noStrike" dirty="0">
                <a:solidFill>
                  <a:srgbClr val="000000"/>
                </a:solidFill>
                <a:effectLst/>
              </a:rPr>
              <a:t>features</a:t>
            </a:r>
            <a:r>
              <a:rPr lang="en-GB" b="0" i="0" u="none" strike="noStrike" dirty="0">
                <a:solidFill>
                  <a:srgbClr val="000000"/>
                </a:solidFill>
                <a:effectLst/>
              </a:rPr>
              <a:t>). </a:t>
            </a:r>
            <a:endParaRPr lang="en-GB" dirty="0"/>
          </a:p>
        </p:txBody>
      </p:sp>
      <p:sp>
        <p:nvSpPr>
          <p:cNvPr id="4" name="Slide Number Placeholder 3">
            <a:extLst>
              <a:ext uri="{FF2B5EF4-FFF2-40B4-BE49-F238E27FC236}">
                <a16:creationId xmlns:a16="http://schemas.microsoft.com/office/drawing/2014/main" id="{33C0163D-9148-D8CB-AA04-6A8B91074F19}"/>
              </a:ext>
            </a:extLst>
          </p:cNvPr>
          <p:cNvSpPr>
            <a:spLocks noGrp="1"/>
          </p:cNvSpPr>
          <p:nvPr>
            <p:ph type="sldNum" sz="quarter" idx="12"/>
          </p:nvPr>
        </p:nvSpPr>
        <p:spPr/>
        <p:txBody>
          <a:bodyPr/>
          <a:lstStyle/>
          <a:p>
            <a:fld id="{44E22EE9-B8A0-0641-9265-052CFE9B95A7}" type="slidenum">
              <a:rPr lang="en-GB" altLang="en-US" smtClean="0"/>
              <a:pPr/>
              <a:t>6</a:t>
            </a:fld>
            <a:endParaRPr lang="en-GB" altLang="en-US" dirty="0"/>
          </a:p>
        </p:txBody>
      </p:sp>
      <p:sp>
        <p:nvSpPr>
          <p:cNvPr id="6" name="TextBox 5">
            <a:extLst>
              <a:ext uri="{FF2B5EF4-FFF2-40B4-BE49-F238E27FC236}">
                <a16:creationId xmlns:a16="http://schemas.microsoft.com/office/drawing/2014/main" id="{9E34FA80-9F6E-B816-069C-1FCCDD63F196}"/>
              </a:ext>
            </a:extLst>
          </p:cNvPr>
          <p:cNvSpPr txBox="1"/>
          <p:nvPr/>
        </p:nvSpPr>
        <p:spPr>
          <a:xfrm>
            <a:off x="609600" y="6379794"/>
            <a:ext cx="4550296" cy="246221"/>
          </a:xfrm>
          <a:prstGeom prst="rect">
            <a:avLst/>
          </a:prstGeom>
          <a:noFill/>
        </p:spPr>
        <p:txBody>
          <a:bodyPr wrap="square">
            <a:spAutoFit/>
          </a:bodyPr>
          <a:lstStyle/>
          <a:p>
            <a:r>
              <a:rPr lang="en-GB" sz="1000" dirty="0">
                <a:latin typeface="Gill Sans MT" panose="020B0502020104020203" pitchFamily="34" charset="77"/>
              </a:rPr>
              <a:t>Source: Python Data Science Handbook by Jake VanderPlas, </a:t>
            </a:r>
            <a:r>
              <a:rPr lang="en-GB" sz="1000" dirty="0"/>
              <a:t>O'Reilly Media, 2016.</a:t>
            </a:r>
            <a:endParaRPr lang="en-GB" sz="1000" dirty="0">
              <a:latin typeface="Gill Sans MT" panose="020B0502020104020203" pitchFamily="34" charset="77"/>
            </a:endParaRPr>
          </a:p>
        </p:txBody>
      </p:sp>
    </p:spTree>
    <p:extLst>
      <p:ext uri="{BB962C8B-B14F-4D97-AF65-F5344CB8AC3E}">
        <p14:creationId xmlns:p14="http://schemas.microsoft.com/office/powerpoint/2010/main" val="2614086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42F67-0ECD-CAEC-7C29-EB0ECBF96A97}"/>
              </a:ext>
            </a:extLst>
          </p:cNvPr>
          <p:cNvSpPr>
            <a:spLocks noGrp="1"/>
          </p:cNvSpPr>
          <p:nvPr>
            <p:ph type="title"/>
          </p:nvPr>
        </p:nvSpPr>
        <p:spPr/>
        <p:txBody>
          <a:bodyPr/>
          <a:lstStyle/>
          <a:p>
            <a:r>
              <a:rPr lang="en-GB" dirty="0"/>
              <a:t>Naïve Bayes</a:t>
            </a:r>
          </a:p>
        </p:txBody>
      </p:sp>
      <p:sp>
        <p:nvSpPr>
          <p:cNvPr id="3" name="Content Placeholder 2">
            <a:extLst>
              <a:ext uri="{FF2B5EF4-FFF2-40B4-BE49-F238E27FC236}">
                <a16:creationId xmlns:a16="http://schemas.microsoft.com/office/drawing/2014/main" id="{100C4BE5-3170-8925-9854-34110C6E50E2}"/>
              </a:ext>
            </a:extLst>
          </p:cNvPr>
          <p:cNvSpPr>
            <a:spLocks noGrp="1"/>
          </p:cNvSpPr>
          <p:nvPr>
            <p:ph idx="1"/>
          </p:nvPr>
        </p:nvSpPr>
        <p:spPr/>
        <p:txBody>
          <a:bodyPr/>
          <a:lstStyle/>
          <a:p>
            <a:r>
              <a:rPr lang="en-GB" dirty="0"/>
              <a:t>We call it Naïve because it assumes that all the features are independent. In practice, this is not always true, but this assumption allows us to apply the Bayesian theorem: </a:t>
            </a:r>
          </a:p>
        </p:txBody>
      </p:sp>
      <p:sp>
        <p:nvSpPr>
          <p:cNvPr id="4" name="Slide Number Placeholder 3">
            <a:extLst>
              <a:ext uri="{FF2B5EF4-FFF2-40B4-BE49-F238E27FC236}">
                <a16:creationId xmlns:a16="http://schemas.microsoft.com/office/drawing/2014/main" id="{BDA42A72-28A9-9593-ECF1-298F0EEA0607}"/>
              </a:ext>
            </a:extLst>
          </p:cNvPr>
          <p:cNvSpPr>
            <a:spLocks noGrp="1"/>
          </p:cNvSpPr>
          <p:nvPr>
            <p:ph type="sldNum" sz="quarter" idx="12"/>
          </p:nvPr>
        </p:nvSpPr>
        <p:spPr/>
        <p:txBody>
          <a:bodyPr/>
          <a:lstStyle/>
          <a:p>
            <a:fld id="{44E22EE9-B8A0-0641-9265-052CFE9B95A7}" type="slidenum">
              <a:rPr lang="en-GB" altLang="en-US" smtClean="0"/>
              <a:pPr/>
              <a:t>7</a:t>
            </a:fld>
            <a:endParaRPr lang="en-GB" altLang="en-US" dirty="0"/>
          </a:p>
        </p:txBody>
      </p:sp>
      <p:pic>
        <p:nvPicPr>
          <p:cNvPr id="8" name="Picture 7" descr="Text&#10;&#10;Description automatically generated with medium confidence">
            <a:extLst>
              <a:ext uri="{FF2B5EF4-FFF2-40B4-BE49-F238E27FC236}">
                <a16:creationId xmlns:a16="http://schemas.microsoft.com/office/drawing/2014/main" id="{F00E2535-CEF0-A173-7731-DBFDF1F759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0387" y="3083362"/>
            <a:ext cx="6260614" cy="1209437"/>
          </a:xfrm>
          <a:prstGeom prst="rect">
            <a:avLst/>
          </a:prstGeom>
        </p:spPr>
      </p:pic>
    </p:spTree>
    <p:extLst>
      <p:ext uri="{BB962C8B-B14F-4D97-AF65-F5344CB8AC3E}">
        <p14:creationId xmlns:p14="http://schemas.microsoft.com/office/powerpoint/2010/main" val="329058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9F71D-1DD9-C906-3978-7A72E81B0C9A}"/>
              </a:ext>
            </a:extLst>
          </p:cNvPr>
          <p:cNvSpPr>
            <a:spLocks noGrp="1"/>
          </p:cNvSpPr>
          <p:nvPr>
            <p:ph type="title"/>
          </p:nvPr>
        </p:nvSpPr>
        <p:spPr/>
        <p:txBody>
          <a:bodyPr/>
          <a:lstStyle/>
          <a:p>
            <a:r>
              <a:rPr lang="en-GB" dirty="0"/>
              <a:t>Assumptions in Naïve Bayes</a:t>
            </a:r>
          </a:p>
        </p:txBody>
      </p:sp>
      <p:sp>
        <p:nvSpPr>
          <p:cNvPr id="3" name="Content Placeholder 2">
            <a:extLst>
              <a:ext uri="{FF2B5EF4-FFF2-40B4-BE49-F238E27FC236}">
                <a16:creationId xmlns:a16="http://schemas.microsoft.com/office/drawing/2014/main" id="{9FAE29B5-743E-3436-A83A-02F353C0A36A}"/>
              </a:ext>
            </a:extLst>
          </p:cNvPr>
          <p:cNvSpPr>
            <a:spLocks noGrp="1"/>
          </p:cNvSpPr>
          <p:nvPr>
            <p:ph idx="1"/>
          </p:nvPr>
        </p:nvSpPr>
        <p:spPr/>
        <p:txBody>
          <a:bodyPr/>
          <a:lstStyle/>
          <a:p>
            <a:r>
              <a:rPr lang="en-GB" dirty="0"/>
              <a:t>We assume that the features are:</a:t>
            </a:r>
          </a:p>
          <a:p>
            <a:pPr lvl="1"/>
            <a:r>
              <a:rPr lang="en-GB" sz="2400" dirty="0">
                <a:ea typeface="ＭＳ Ｐゴシック" charset="0"/>
              </a:rPr>
              <a:t>Independent, given the outcome</a:t>
            </a:r>
          </a:p>
          <a:p>
            <a:r>
              <a:rPr lang="en-GB" dirty="0"/>
              <a:t>The assumption is not correct in the real world, but the models we can build are often useful in practice (with caution).  </a:t>
            </a:r>
          </a:p>
        </p:txBody>
      </p:sp>
      <p:sp>
        <p:nvSpPr>
          <p:cNvPr id="4" name="Slide Number Placeholder 3">
            <a:extLst>
              <a:ext uri="{FF2B5EF4-FFF2-40B4-BE49-F238E27FC236}">
                <a16:creationId xmlns:a16="http://schemas.microsoft.com/office/drawing/2014/main" id="{7162AE57-AEFD-3E3E-A1A2-5B4A8924B199}"/>
              </a:ext>
            </a:extLst>
          </p:cNvPr>
          <p:cNvSpPr>
            <a:spLocks noGrp="1"/>
          </p:cNvSpPr>
          <p:nvPr>
            <p:ph type="sldNum" sz="quarter" idx="12"/>
          </p:nvPr>
        </p:nvSpPr>
        <p:spPr/>
        <p:txBody>
          <a:bodyPr/>
          <a:lstStyle/>
          <a:p>
            <a:fld id="{44E22EE9-B8A0-0641-9265-052CFE9B95A7}" type="slidenum">
              <a:rPr lang="en-GB" altLang="en-US" smtClean="0"/>
              <a:pPr/>
              <a:t>8</a:t>
            </a:fld>
            <a:endParaRPr lang="en-GB" altLang="en-US" dirty="0"/>
          </a:p>
        </p:txBody>
      </p:sp>
    </p:spTree>
    <p:extLst>
      <p:ext uri="{BB962C8B-B14F-4D97-AF65-F5344CB8AC3E}">
        <p14:creationId xmlns:p14="http://schemas.microsoft.com/office/powerpoint/2010/main" val="2443905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FB63B-1354-FE02-41F4-137E9924B0D7}"/>
              </a:ext>
            </a:extLst>
          </p:cNvPr>
          <p:cNvSpPr>
            <a:spLocks noGrp="1"/>
          </p:cNvSpPr>
          <p:nvPr>
            <p:ph type="title"/>
          </p:nvPr>
        </p:nvSpPr>
        <p:spPr/>
        <p:txBody>
          <a:bodyPr/>
          <a:lstStyle/>
          <a:p>
            <a:r>
              <a:rPr lang="en-GB" dirty="0"/>
              <a:t>Bayes rule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6B1BE1-678E-CBC7-E15F-85B1C9D912B9}"/>
                  </a:ext>
                </a:extLst>
              </p:cNvPr>
              <p:cNvSpPr>
                <a:spLocks noGrp="1"/>
              </p:cNvSpPr>
              <p:nvPr>
                <p:ph idx="1"/>
              </p:nvPr>
            </p:nvSpPr>
            <p:spPr/>
            <p:txBody>
              <a:bodyPr/>
              <a:lstStyle/>
              <a:p>
                <a:pPr marL="0" indent="0" algn="ctr">
                  <a:buNone/>
                </a:pPr>
                <a14:m>
                  <m:oMath xmlns:m="http://schemas.openxmlformats.org/officeDocument/2006/math">
                    <m:r>
                      <a:rPr lang="en-GB" sz="3360" i="1">
                        <a:latin typeface="Cambria Math" panose="02040503050406030204" pitchFamily="18" charset="0"/>
                      </a:rPr>
                      <m:t>𝑃</m:t>
                    </m:r>
                    <m:d>
                      <m:dPr>
                        <m:ctrlPr>
                          <a:rPr lang="en-GB" sz="3360" i="1">
                            <a:latin typeface="Cambria Math" panose="02040503050406030204" pitchFamily="18" charset="0"/>
                          </a:rPr>
                        </m:ctrlPr>
                      </m:dPr>
                      <m:e>
                        <m:r>
                          <a:rPr lang="en-GB" sz="3360" i="1">
                            <a:latin typeface="Cambria Math" panose="02040503050406030204" pitchFamily="18" charset="0"/>
                          </a:rPr>
                          <m:t>𝑦</m:t>
                        </m:r>
                      </m:e>
                      <m:e>
                        <m:r>
                          <a:rPr lang="en-GB" sz="3360" i="1">
                            <a:latin typeface="Cambria Math" panose="02040503050406030204" pitchFamily="18" charset="0"/>
                          </a:rPr>
                          <m:t>𝑋</m:t>
                        </m:r>
                      </m:e>
                    </m:d>
                    <m:r>
                      <a:rPr lang="en-GB" sz="3360" i="1">
                        <a:latin typeface="Cambria Math" panose="02040503050406030204" pitchFamily="18" charset="0"/>
                      </a:rPr>
                      <m:t>= </m:t>
                    </m:r>
                    <m:f>
                      <m:fPr>
                        <m:ctrlPr>
                          <a:rPr lang="en-GB" sz="3360" i="1">
                            <a:latin typeface="Cambria Math" panose="02040503050406030204" pitchFamily="18" charset="0"/>
                          </a:rPr>
                        </m:ctrlPr>
                      </m:fPr>
                      <m:num>
                        <m:r>
                          <a:rPr lang="en-GB" sz="3360" i="1">
                            <a:latin typeface="Cambria Math" panose="02040503050406030204" pitchFamily="18" charset="0"/>
                          </a:rPr>
                          <m:t>𝑃</m:t>
                        </m:r>
                        <m:d>
                          <m:dPr>
                            <m:ctrlPr>
                              <a:rPr lang="en-GB" sz="3360" i="1">
                                <a:latin typeface="Cambria Math" panose="02040503050406030204" pitchFamily="18" charset="0"/>
                              </a:rPr>
                            </m:ctrlPr>
                          </m:dPr>
                          <m:e>
                            <m:r>
                              <a:rPr lang="en-GB" sz="3360" i="1">
                                <a:latin typeface="Cambria Math" panose="02040503050406030204" pitchFamily="18" charset="0"/>
                              </a:rPr>
                              <m:t>𝑋</m:t>
                            </m:r>
                          </m:e>
                          <m:e>
                            <m:r>
                              <a:rPr lang="en-GB" sz="3360" i="1">
                                <a:latin typeface="Cambria Math" panose="02040503050406030204" pitchFamily="18" charset="0"/>
                              </a:rPr>
                              <m:t>𝑦</m:t>
                            </m:r>
                          </m:e>
                        </m:d>
                        <m:r>
                          <a:rPr lang="en-GB" sz="3360" i="1">
                            <a:latin typeface="Cambria Math" panose="02040503050406030204" pitchFamily="18" charset="0"/>
                          </a:rPr>
                          <m:t>.  </m:t>
                        </m:r>
                        <m:r>
                          <a:rPr lang="en-GB" sz="3360" i="1">
                            <a:latin typeface="Cambria Math" panose="02040503050406030204" pitchFamily="18" charset="0"/>
                          </a:rPr>
                          <m:t>𝑃</m:t>
                        </m:r>
                        <m:r>
                          <a:rPr lang="en-GB" sz="3360" i="1">
                            <a:latin typeface="Cambria Math" panose="02040503050406030204" pitchFamily="18" charset="0"/>
                          </a:rPr>
                          <m:t>(</m:t>
                        </m:r>
                        <m:r>
                          <a:rPr lang="en-GB" sz="3360" i="1">
                            <a:latin typeface="Cambria Math" panose="02040503050406030204" pitchFamily="18" charset="0"/>
                          </a:rPr>
                          <m:t>𝑦</m:t>
                        </m:r>
                        <m:r>
                          <a:rPr lang="en-GB" sz="3360" i="1">
                            <a:latin typeface="Cambria Math" panose="02040503050406030204" pitchFamily="18" charset="0"/>
                          </a:rPr>
                          <m:t>)</m:t>
                        </m:r>
                      </m:num>
                      <m:den>
                        <m:r>
                          <a:rPr lang="en-GB" sz="3360" i="1">
                            <a:latin typeface="Cambria Math" panose="02040503050406030204" pitchFamily="18" charset="0"/>
                          </a:rPr>
                          <m:t>𝑃</m:t>
                        </m:r>
                        <m:r>
                          <a:rPr lang="en-GB" sz="3360" i="1">
                            <a:latin typeface="Cambria Math" panose="02040503050406030204" pitchFamily="18" charset="0"/>
                          </a:rPr>
                          <m:t>(</m:t>
                        </m:r>
                        <m:r>
                          <a:rPr lang="en-GB" sz="3360" i="1">
                            <a:latin typeface="Cambria Math" panose="02040503050406030204" pitchFamily="18" charset="0"/>
                          </a:rPr>
                          <m:t>𝑋</m:t>
                        </m:r>
                        <m:r>
                          <a:rPr lang="en-GB" sz="3360" i="1">
                            <a:latin typeface="Cambria Math" panose="02040503050406030204" pitchFamily="18" charset="0"/>
                          </a:rPr>
                          <m:t>)</m:t>
                        </m:r>
                      </m:den>
                    </m:f>
                  </m:oMath>
                </a14:m>
                <a:r>
                  <a:rPr lang="en-GB" sz="4320" dirty="0"/>
                  <a:t> </a:t>
                </a:r>
              </a:p>
              <a:p>
                <a:pPr marL="0" indent="0">
                  <a:buNone/>
                </a:pPr>
                <a:endParaRPr lang="en-GB" dirty="0"/>
              </a:p>
              <a:p>
                <a14:m>
                  <m:oMath xmlns:m="http://schemas.openxmlformats.org/officeDocument/2006/math">
                    <m:r>
                      <a:rPr lang="en-GB" i="1">
                        <a:latin typeface="Cambria Math" panose="02040503050406030204" pitchFamily="18" charset="0"/>
                      </a:rPr>
                      <m:t>𝑦</m:t>
                    </m:r>
                  </m:oMath>
                </a14:m>
                <a:r>
                  <a:rPr lang="en-GB" dirty="0"/>
                  <a:t> is our outcome/targe (e.g. if someone has a type of disease), </a:t>
                </a:r>
              </a:p>
              <a:p>
                <a14:m>
                  <m:oMath xmlns:m="http://schemas.openxmlformats.org/officeDocument/2006/math">
                    <m:r>
                      <a:rPr lang="en-GB" i="1">
                        <a:latin typeface="Cambria Math" panose="02040503050406030204" pitchFamily="18" charset="0"/>
                      </a:rPr>
                      <m:t>𝑋</m:t>
                    </m:r>
                  </m:oMath>
                </a14:m>
                <a:r>
                  <a:rPr lang="en-GB" dirty="0"/>
                  <a:t> represents the samples; each features is shown as </a:t>
                </a:r>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𝑥</m:t>
                        </m:r>
                      </m:e>
                      <m:sub>
                        <m:r>
                          <a:rPr lang="en-GB" b="0" i="1" smtClean="0">
                            <a:latin typeface="Cambria Math" panose="02040503050406030204" pitchFamily="18" charset="0"/>
                          </a:rPr>
                          <m:t>𝑖</m:t>
                        </m:r>
                      </m:sub>
                    </m:sSub>
                  </m:oMath>
                </a14:m>
                <a:r>
                  <a:rPr lang="en-GB" dirty="0"/>
                  <a:t>,</a:t>
                </a:r>
              </a:p>
              <a:p>
                <a14:m>
                  <m:oMath xmlns:m="http://schemas.openxmlformats.org/officeDocument/2006/math">
                    <m:r>
                      <a:rPr lang="en-GB" i="1">
                        <a:latin typeface="Cambria Math" panose="02040503050406030204" pitchFamily="18" charset="0"/>
                      </a:rPr>
                      <m:t>𝑋</m:t>
                    </m:r>
                    <m:r>
                      <a:rPr lang="en-GB" i="1">
                        <a:latin typeface="Cambria Math" panose="02040503050406030204" pitchFamily="18" charset="0"/>
                      </a:rPr>
                      <m:t>=</m:t>
                    </m:r>
                    <m:d>
                      <m:dPr>
                        <m:begChr m:val="{"/>
                        <m:endChr m:val="}"/>
                        <m:ctrlPr>
                          <a:rPr lang="en-GB" i="1">
                            <a:latin typeface="Cambria Math" panose="02040503050406030204" pitchFamily="18" charset="0"/>
                          </a:rPr>
                        </m:ctrlPr>
                      </m:dPr>
                      <m:e>
                        <m:sSub>
                          <m:sSubPr>
                            <m:ctrlPr>
                              <a:rPr lang="en-GB" i="1" smtClean="0">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3</m:t>
                            </m:r>
                          </m:sub>
                        </m:sSub>
                        <m:r>
                          <a:rPr lang="en-GB" b="0" i="1" smtClean="0">
                            <a:latin typeface="Cambria Math" panose="02040503050406030204" pitchFamily="18" charset="0"/>
                          </a:rPr>
                          <m:t>,</m:t>
                        </m:r>
                        <m:r>
                          <a:rPr lang="en-GB" i="1" smtClean="0">
                            <a:latin typeface="Cambria Math" panose="02040503050406030204" pitchFamily="18" charset="0"/>
                          </a:rPr>
                          <m:t> </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𝑛</m:t>
                            </m:r>
                          </m:sub>
                        </m:sSub>
                      </m:e>
                    </m:d>
                  </m:oMath>
                </a14:m>
                <a:r>
                  <a:rPr lang="en-GB" dirty="0"/>
                  <a:t> are the features.</a:t>
                </a:r>
              </a:p>
            </p:txBody>
          </p:sp>
        </mc:Choice>
        <mc:Fallback>
          <p:sp>
            <p:nvSpPr>
              <p:cNvPr id="3" name="Content Placeholder 2">
                <a:extLst>
                  <a:ext uri="{FF2B5EF4-FFF2-40B4-BE49-F238E27FC236}">
                    <a16:creationId xmlns:a16="http://schemas.microsoft.com/office/drawing/2014/main" id="{AB6B1BE1-678E-CBC7-E15F-85B1C9D912B9}"/>
                  </a:ext>
                </a:extLst>
              </p:cNvPr>
              <p:cNvSpPr>
                <a:spLocks noGrp="1" noRot="1" noChangeAspect="1" noMove="1" noResize="1" noEditPoints="1" noAdjustHandles="1" noChangeArrowheads="1" noChangeShapeType="1" noTextEdit="1"/>
              </p:cNvSpPr>
              <p:nvPr>
                <p:ph idx="1"/>
              </p:nvPr>
            </p:nvSpPr>
            <p:spPr>
              <a:blipFill>
                <a:blip r:embed="rId2"/>
                <a:stretch>
                  <a:fillRect l="-925"/>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9ECCF544-4140-C958-420D-27833D00C69D}"/>
              </a:ext>
            </a:extLst>
          </p:cNvPr>
          <p:cNvSpPr>
            <a:spLocks noGrp="1"/>
          </p:cNvSpPr>
          <p:nvPr>
            <p:ph type="sldNum" sz="quarter" idx="12"/>
          </p:nvPr>
        </p:nvSpPr>
        <p:spPr/>
        <p:txBody>
          <a:bodyPr/>
          <a:lstStyle/>
          <a:p>
            <a:fld id="{44E22EE9-B8A0-0641-9265-052CFE9B95A7}" type="slidenum">
              <a:rPr lang="en-GB" altLang="en-US" smtClean="0"/>
              <a:pPr/>
              <a:t>9</a:t>
            </a:fld>
            <a:endParaRPr lang="en-GB" altLang="en-US" dirty="0"/>
          </a:p>
        </p:txBody>
      </p:sp>
    </p:spTree>
    <p:extLst>
      <p:ext uri="{BB962C8B-B14F-4D97-AF65-F5344CB8AC3E}">
        <p14:creationId xmlns:p14="http://schemas.microsoft.com/office/powerpoint/2010/main" val="682493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A1CE1-0E17-2E08-C133-C14B2FA65D71}"/>
              </a:ext>
            </a:extLst>
          </p:cNvPr>
          <p:cNvSpPr>
            <a:spLocks noGrp="1"/>
          </p:cNvSpPr>
          <p:nvPr>
            <p:ph type="title"/>
          </p:nvPr>
        </p:nvSpPr>
        <p:spPr/>
        <p:txBody>
          <a:bodyPr/>
          <a:lstStyle/>
          <a:p>
            <a:r>
              <a:rPr lang="en-GB" dirty="0"/>
              <a:t>Determining Naïve Bayes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5D35C4-AB65-B8E5-E6E8-7E654271C994}"/>
                  </a:ext>
                </a:extLst>
              </p:cNvPr>
              <p:cNvSpPr>
                <a:spLocks noGrp="1"/>
              </p:cNvSpPr>
              <p:nvPr>
                <p:ph idx="1"/>
              </p:nvPr>
            </p:nvSpPr>
            <p:spPr/>
            <p:txBody>
              <a:bodyPr/>
              <a:lstStyle/>
              <a:p>
                <a:pPr marL="0" indent="0">
                  <a:buNone/>
                </a:pPr>
                <a14:m>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𝑦</m:t>
                        </m:r>
                      </m:e>
                      <m:e>
                        <m:r>
                          <a:rPr lang="en-GB" i="1">
                            <a:latin typeface="Cambria Math" panose="02040503050406030204" pitchFamily="18" charset="0"/>
                          </a:rPr>
                          <m:t>𝑋</m:t>
                        </m:r>
                      </m:e>
                    </m:d>
                    <m:r>
                      <a:rPr lang="en-GB" i="1">
                        <a:latin typeface="Cambria Math" panose="02040503050406030204" pitchFamily="18" charset="0"/>
                      </a:rPr>
                      <m:t>= </m:t>
                    </m:r>
                    <m:f>
                      <m:fPr>
                        <m:ctrlPr>
                          <a:rPr lang="en-GB" i="1">
                            <a:latin typeface="Cambria Math" panose="02040503050406030204" pitchFamily="18" charset="0"/>
                          </a:rPr>
                        </m:ctrlPr>
                      </m:fPr>
                      <m:num>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𝑋</m:t>
                            </m:r>
                          </m:e>
                          <m:e>
                            <m:r>
                              <a:rPr lang="en-GB" i="1">
                                <a:latin typeface="Cambria Math" panose="02040503050406030204" pitchFamily="18" charset="0"/>
                              </a:rPr>
                              <m:t>𝑦</m:t>
                            </m:r>
                          </m:e>
                        </m:d>
                        <m:r>
                          <a:rPr lang="en-GB" i="1">
                            <a:latin typeface="Cambria Math" panose="02040503050406030204" pitchFamily="18" charset="0"/>
                          </a:rPr>
                          <m:t>.  </m:t>
                        </m:r>
                        <m:r>
                          <a:rPr lang="en-GB" i="1">
                            <a:latin typeface="Cambria Math" panose="02040503050406030204" pitchFamily="18" charset="0"/>
                          </a:rPr>
                          <m:t>𝑃</m:t>
                        </m:r>
                        <m:r>
                          <a:rPr lang="en-GB" i="1">
                            <a:latin typeface="Cambria Math" panose="02040503050406030204" pitchFamily="18" charset="0"/>
                          </a:rPr>
                          <m:t>(</m:t>
                        </m:r>
                        <m:r>
                          <a:rPr lang="en-GB" i="1">
                            <a:latin typeface="Cambria Math" panose="02040503050406030204" pitchFamily="18" charset="0"/>
                          </a:rPr>
                          <m:t>𝑦</m:t>
                        </m:r>
                        <m:r>
                          <a:rPr lang="en-GB" i="1">
                            <a:latin typeface="Cambria Math" panose="02040503050406030204" pitchFamily="18" charset="0"/>
                          </a:rPr>
                          <m:t>)</m:t>
                        </m:r>
                      </m:num>
                      <m:den>
                        <m:r>
                          <a:rPr lang="en-GB" i="1">
                            <a:latin typeface="Cambria Math" panose="02040503050406030204" pitchFamily="18" charset="0"/>
                          </a:rPr>
                          <m:t>𝑃</m:t>
                        </m:r>
                        <m:r>
                          <a:rPr lang="en-GB" i="1">
                            <a:latin typeface="Cambria Math" panose="02040503050406030204" pitchFamily="18" charset="0"/>
                          </a:rPr>
                          <m:t>(</m:t>
                        </m:r>
                        <m:r>
                          <a:rPr lang="en-GB" i="1">
                            <a:latin typeface="Cambria Math" panose="02040503050406030204" pitchFamily="18" charset="0"/>
                          </a:rPr>
                          <m:t>𝑋</m:t>
                        </m:r>
                        <m:r>
                          <a:rPr lang="en-GB" i="1">
                            <a:latin typeface="Cambria Math" panose="02040503050406030204" pitchFamily="18" charset="0"/>
                          </a:rPr>
                          <m:t>)</m:t>
                        </m:r>
                      </m:den>
                    </m:f>
                  </m:oMath>
                </a14:m>
                <a:r>
                  <a:rPr lang="en-GB" sz="2880" dirty="0"/>
                  <a:t> </a:t>
                </a:r>
              </a:p>
              <a:p>
                <a:pPr marL="0" indent="0">
                  <a:buNone/>
                </a:pPr>
                <a14:m>
                  <m:oMathPara xmlns:m="http://schemas.openxmlformats.org/officeDocument/2006/math">
                    <m:oMathParaPr>
                      <m:jc m:val="left"/>
                    </m:oMathParaPr>
                    <m:oMath xmlns:m="http://schemas.openxmlformats.org/officeDocument/2006/math">
                      <m:r>
                        <a:rPr lang="en-GB" b="0" i="1" smtClean="0">
                          <a:latin typeface="Cambria Math" panose="02040503050406030204" pitchFamily="18" charset="0"/>
                        </a:rPr>
                        <m:t>𝑋</m:t>
                      </m:r>
                      <m:r>
                        <a:rPr lang="en-GB" b="0" i="1" smtClean="0">
                          <a:latin typeface="Cambria Math" panose="02040503050406030204" pitchFamily="18" charset="0"/>
                        </a:rPr>
                        <m:t>=</m:t>
                      </m:r>
                      <m:d>
                        <m:dPr>
                          <m:begChr m:val="{"/>
                          <m:endChr m:val="}"/>
                          <m:ctrlPr>
                            <a:rPr lang="en-GB" b="0" i="1" smtClean="0">
                              <a:latin typeface="Cambria Math" panose="02040503050406030204" pitchFamily="18" charset="0"/>
                            </a:rPr>
                          </m:ctrlPr>
                        </m:dPr>
                        <m:e>
                          <m:sSub>
                            <m:sSubPr>
                              <m:ctrlPr>
                                <a:rPr lang="en-GB" i="1" smtClean="0">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3</m:t>
                              </m:r>
                            </m:sub>
                          </m:sSub>
                          <m:r>
                            <a:rPr lang="en-GB" b="0" i="1" smtClean="0">
                              <a:latin typeface="Cambria Math" panose="02040503050406030204" pitchFamily="18" charset="0"/>
                            </a:rPr>
                            <m:t>,</m:t>
                          </m:r>
                          <m:r>
                            <a:rPr lang="en-GB" i="1" smtClean="0">
                              <a:latin typeface="Cambria Math" panose="02040503050406030204" pitchFamily="18" charset="0"/>
                            </a:rPr>
                            <m:t> </m:t>
                          </m:r>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𝑛</m:t>
                              </m:r>
                            </m:sub>
                          </m:sSub>
                        </m:e>
                      </m:d>
                    </m:oMath>
                  </m:oMathPara>
                </a14:m>
                <a:endParaRPr lang="en-GB" dirty="0"/>
              </a:p>
              <a:p>
                <a:pPr marL="0" indent="0">
                  <a:buNone/>
                </a:pPr>
                <a:endParaRPr lang="en-GB" dirty="0"/>
              </a:p>
              <a:p>
                <a:pPr marL="0" indent="0">
                  <a:buNone/>
                </a:pPr>
                <a:r>
                  <a:rPr lang="en-GB" dirty="0"/>
                  <a:t>Because we have assumed features are conditionally independent, we can say:</a:t>
                </a:r>
              </a:p>
              <a:p>
                <a:pPr marL="0" indent="0">
                  <a:buNone/>
                </a:pPr>
                <a:endParaRPr lang="en-GB" dirty="0"/>
              </a:p>
              <a:p>
                <a:pPr marL="0" indent="0">
                  <a:buNone/>
                </a:pPr>
                <a14:m>
                  <m:oMath xmlns:m="http://schemas.openxmlformats.org/officeDocument/2006/math">
                    <m:r>
                      <a:rPr lang="en-GB" i="1">
                        <a:latin typeface="Cambria Math" panose="02040503050406030204" pitchFamily="18" charset="0"/>
                      </a:rPr>
                      <m:t>𝑃</m:t>
                    </m:r>
                    <m:d>
                      <m:dPr>
                        <m:ctrlPr>
                          <a:rPr lang="en-GB" i="1">
                            <a:latin typeface="Cambria Math" panose="02040503050406030204" pitchFamily="18" charset="0"/>
                          </a:rPr>
                        </m:ctrlPr>
                      </m:dPr>
                      <m:e>
                        <m:r>
                          <a:rPr lang="en-GB" i="1">
                            <a:latin typeface="Cambria Math" panose="02040503050406030204" pitchFamily="18" charset="0"/>
                          </a:rPr>
                          <m:t>𝑦</m:t>
                        </m:r>
                      </m:e>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2</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3</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𝑛</m:t>
                            </m:r>
                          </m:sub>
                        </m:sSub>
                      </m:e>
                    </m:d>
                    <m:r>
                      <a:rPr lang="en-GB" i="1">
                        <a:latin typeface="Cambria Math" panose="02040503050406030204" pitchFamily="18" charset="0"/>
                      </a:rPr>
                      <m:t>= </m:t>
                    </m:r>
                    <m:f>
                      <m:fPr>
                        <m:ctrlPr>
                          <a:rPr lang="en-GB" i="1">
                            <a:latin typeface="Cambria Math" panose="02040503050406030204" pitchFamily="18" charset="0"/>
                          </a:rPr>
                        </m:ctrlPr>
                      </m:fPr>
                      <m:num>
                        <m:r>
                          <a:rPr lang="en-GB" i="1">
                            <a:latin typeface="Cambria Math" panose="02040503050406030204" pitchFamily="18" charset="0"/>
                          </a:rPr>
                          <m:t>𝑃</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e>
                            <m:r>
                              <a:rPr lang="en-GB" i="1">
                                <a:latin typeface="Cambria Math" panose="02040503050406030204" pitchFamily="18" charset="0"/>
                              </a:rPr>
                              <m:t>𝑦</m:t>
                            </m:r>
                          </m:e>
                        </m:d>
                        <m:r>
                          <a:rPr lang="en-GB" i="1">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sub>
                            </m:sSub>
                          </m:e>
                          <m:e>
                            <m:r>
                              <a:rPr lang="en-GB" i="1">
                                <a:latin typeface="Cambria Math" panose="02040503050406030204" pitchFamily="18" charset="0"/>
                              </a:rPr>
                              <m:t>𝑦</m:t>
                            </m:r>
                          </m:e>
                        </m:d>
                        <m:r>
                          <a:rPr lang="en-GB" i="1">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3</m:t>
                                </m:r>
                              </m:sub>
                            </m:sSub>
                          </m:e>
                          <m:e>
                            <m:r>
                              <a:rPr lang="en-GB" i="1">
                                <a:latin typeface="Cambria Math" panose="02040503050406030204" pitchFamily="18" charset="0"/>
                              </a:rPr>
                              <m:t>𝑦</m:t>
                            </m:r>
                          </m:e>
                        </m:d>
                        <m:r>
                          <a:rPr lang="en-GB" i="1">
                            <a:latin typeface="Cambria Math" panose="02040503050406030204" pitchFamily="18" charset="0"/>
                          </a:rPr>
                          <m:t>…</m:t>
                        </m:r>
                        <m:r>
                          <a:rPr lang="en-GB" b="0" i="1" smtClean="0">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𝑛</m:t>
                                </m:r>
                              </m:sub>
                            </m:sSub>
                          </m:e>
                          <m:e>
                            <m:r>
                              <a:rPr lang="en-GB" i="1">
                                <a:latin typeface="Cambria Math" panose="02040503050406030204" pitchFamily="18" charset="0"/>
                              </a:rPr>
                              <m:t>𝑦</m:t>
                            </m:r>
                          </m:e>
                        </m:d>
                        <m:r>
                          <a:rPr lang="en-GB" i="1">
                            <a:latin typeface="Cambria Math" panose="02040503050406030204" pitchFamily="18" charset="0"/>
                          </a:rPr>
                          <m:t>.</m:t>
                        </m:r>
                        <m:r>
                          <a:rPr lang="en-GB" i="1">
                            <a:latin typeface="Cambria Math" panose="02040503050406030204" pitchFamily="18" charset="0"/>
                          </a:rPr>
                          <m:t>𝑃</m:t>
                        </m:r>
                        <m:r>
                          <a:rPr lang="en-GB" i="1">
                            <a:latin typeface="Cambria Math" panose="02040503050406030204" pitchFamily="18" charset="0"/>
                          </a:rPr>
                          <m:t>(</m:t>
                        </m:r>
                        <m:r>
                          <a:rPr lang="en-GB" i="1">
                            <a:latin typeface="Cambria Math" panose="02040503050406030204" pitchFamily="18" charset="0"/>
                          </a:rPr>
                          <m:t>𝑦</m:t>
                        </m:r>
                        <m:r>
                          <a:rPr lang="en-GB" i="1">
                            <a:latin typeface="Cambria Math" panose="02040503050406030204" pitchFamily="18" charset="0"/>
                          </a:rPr>
                          <m:t>)</m:t>
                        </m:r>
                      </m:num>
                      <m:den>
                        <m:r>
                          <a:rPr lang="en-GB" i="1">
                            <a:latin typeface="Cambria Math" panose="02040503050406030204" pitchFamily="18" charset="0"/>
                          </a:rPr>
                          <m:t>𝑃</m:t>
                        </m:r>
                        <m:r>
                          <a:rPr lang="en-GB" i="1">
                            <a:latin typeface="Cambria Math" panose="02040503050406030204" pitchFamily="18" charset="0"/>
                          </a:rPr>
                          <m:t>(</m:t>
                        </m:r>
                        <m:r>
                          <a:rPr lang="en-GB" i="1">
                            <a:latin typeface="Cambria Math" panose="02040503050406030204" pitchFamily="18" charset="0"/>
                          </a:rPr>
                          <m:t>𝑋</m:t>
                        </m:r>
                        <m:r>
                          <a:rPr lang="en-GB" i="1">
                            <a:latin typeface="Cambria Math" panose="02040503050406030204" pitchFamily="18" charset="0"/>
                          </a:rPr>
                          <m:t>)</m:t>
                        </m:r>
                      </m:den>
                    </m:f>
                  </m:oMath>
                </a14:m>
                <a:r>
                  <a:rPr lang="en-GB" sz="2880" dirty="0"/>
                  <a:t> </a:t>
                </a:r>
              </a:p>
              <a:p>
                <a:pPr marL="0" indent="0">
                  <a:buNone/>
                </a:pPr>
                <a:r>
                  <a:rPr lang="en-GB" sz="2880" dirty="0"/>
                  <a:t>		      </a:t>
                </a:r>
                <a14:m>
                  <m:oMath xmlns:m="http://schemas.openxmlformats.org/officeDocument/2006/math">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e>
                            <m:r>
                              <a:rPr lang="en-GB" b="0" i="1" smtClean="0">
                                <a:latin typeface="Cambria Math" panose="02040503050406030204" pitchFamily="18" charset="0"/>
                              </a:rPr>
                              <m:t>𝑦</m:t>
                            </m:r>
                          </m:e>
                        </m:d>
                        <m:r>
                          <a:rPr lang="en-GB" b="0" i="1" smtClean="0">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sub>
                            </m:sSub>
                          </m:e>
                          <m:e>
                            <m:r>
                              <a:rPr lang="en-GB" i="1">
                                <a:latin typeface="Cambria Math" panose="02040503050406030204" pitchFamily="18" charset="0"/>
                              </a:rPr>
                              <m:t>𝑦</m:t>
                            </m:r>
                          </m:e>
                        </m:d>
                        <m:r>
                          <a:rPr lang="en-GB" i="1">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3</m:t>
                                </m:r>
                              </m:sub>
                            </m:sSub>
                          </m:e>
                          <m:e>
                            <m:r>
                              <a:rPr lang="en-GB" i="1">
                                <a:latin typeface="Cambria Math" panose="02040503050406030204" pitchFamily="18" charset="0"/>
                              </a:rPr>
                              <m:t>𝑦</m:t>
                            </m:r>
                          </m:e>
                        </m:d>
                        <m:r>
                          <a:rPr lang="en-GB" i="1">
                            <a:latin typeface="Cambria Math" panose="02040503050406030204" pitchFamily="18" charset="0"/>
                          </a:rPr>
                          <m:t>…</m:t>
                        </m:r>
                        <m:r>
                          <a:rPr lang="en-GB" b="0" i="1" smtClean="0">
                            <a:latin typeface="Cambria Math" panose="02040503050406030204" pitchFamily="18" charset="0"/>
                          </a:rPr>
                          <m:t>.</m:t>
                        </m:r>
                        <m:r>
                          <a:rPr lang="en-GB" i="1">
                            <a:latin typeface="Cambria Math" panose="02040503050406030204" pitchFamily="18" charset="0"/>
                          </a:rPr>
                          <m:t>𝑃</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𝑛</m:t>
                                </m:r>
                              </m:sub>
                            </m:sSub>
                          </m:e>
                          <m:e>
                            <m:r>
                              <a:rPr lang="en-GB" i="1">
                                <a:latin typeface="Cambria Math" panose="02040503050406030204" pitchFamily="18" charset="0"/>
                              </a:rPr>
                              <m:t>𝑦</m:t>
                            </m:r>
                          </m:e>
                        </m:d>
                        <m:r>
                          <a:rPr lang="en-GB" i="1">
                            <a:latin typeface="Cambria Math" panose="02040503050406030204" pitchFamily="18" charset="0"/>
                          </a:rPr>
                          <m:t>.</m:t>
                        </m:r>
                        <m:r>
                          <a:rPr lang="en-GB" i="1">
                            <a:latin typeface="Cambria Math" panose="02040503050406030204" pitchFamily="18" charset="0"/>
                          </a:rPr>
                          <m:t>𝑃</m:t>
                        </m:r>
                        <m:r>
                          <a:rPr lang="en-GB" i="1">
                            <a:latin typeface="Cambria Math" panose="02040503050406030204" pitchFamily="18" charset="0"/>
                          </a:rPr>
                          <m:t>(</m:t>
                        </m:r>
                        <m:r>
                          <a:rPr lang="en-GB" i="1">
                            <a:latin typeface="Cambria Math" panose="02040503050406030204" pitchFamily="18" charset="0"/>
                          </a:rPr>
                          <m:t>𝑦</m:t>
                        </m:r>
                        <m:r>
                          <a:rPr lang="en-GB" i="1">
                            <a:latin typeface="Cambria Math" panose="02040503050406030204" pitchFamily="18" charset="0"/>
                          </a:rPr>
                          <m:t>)</m:t>
                        </m:r>
                      </m:num>
                      <m:den>
                        <m:r>
                          <a:rPr lang="en-GB" b="0" i="1" smtClean="0">
                            <a:latin typeface="Cambria Math" panose="02040503050406030204" pitchFamily="18" charset="0"/>
                          </a:rPr>
                          <m:t>𝑃</m:t>
                        </m:r>
                        <m:d>
                          <m:dPr>
                            <m:ctrlPr>
                              <a:rPr lang="en-GB" b="0" i="1" smtClean="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i="1">
                                    <a:latin typeface="Cambria Math" panose="02040503050406030204" pitchFamily="18" charset="0"/>
                                  </a:rPr>
                                  <m:t>1</m:t>
                                </m:r>
                              </m:sub>
                            </m:sSub>
                          </m:e>
                        </m:d>
                        <m:r>
                          <a:rPr lang="en-GB" i="1">
                            <a:latin typeface="Cambria Math" panose="02040503050406030204" pitchFamily="18" charset="0"/>
                          </a:rPr>
                          <m:t>𝑃</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2</m:t>
                                </m:r>
                              </m:sub>
                            </m:sSub>
                          </m:e>
                        </m:d>
                        <m:r>
                          <a:rPr lang="en-GB" i="1">
                            <a:latin typeface="Cambria Math" panose="02040503050406030204" pitchFamily="18" charset="0"/>
                          </a:rPr>
                          <m:t>𝑃</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3</m:t>
                                </m:r>
                              </m:sub>
                            </m:sSub>
                          </m:e>
                        </m:d>
                        <m:r>
                          <a:rPr lang="en-GB" b="0" i="1" smtClean="0">
                            <a:latin typeface="Cambria Math" panose="02040503050406030204" pitchFamily="18" charset="0"/>
                          </a:rPr>
                          <m:t>…</m:t>
                        </m:r>
                        <m:r>
                          <a:rPr lang="en-GB" i="1">
                            <a:latin typeface="Cambria Math" panose="02040503050406030204" pitchFamily="18" charset="0"/>
                          </a:rPr>
                          <m:t>𝑃</m:t>
                        </m:r>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𝑥</m:t>
                            </m:r>
                          </m:e>
                          <m:sub>
                            <m:r>
                              <a:rPr lang="en-GB" b="0" i="1" smtClean="0">
                                <a:latin typeface="Cambria Math" panose="02040503050406030204" pitchFamily="18" charset="0"/>
                              </a:rPr>
                              <m:t>𝑛</m:t>
                            </m:r>
                          </m:sub>
                        </m:sSub>
                        <m:r>
                          <a:rPr lang="en-GB" i="1">
                            <a:latin typeface="Cambria Math" panose="02040503050406030204" pitchFamily="18" charset="0"/>
                          </a:rPr>
                          <m:t>)</m:t>
                        </m:r>
                      </m:den>
                    </m:f>
                  </m:oMath>
                </a14:m>
                <a:r>
                  <a:rPr lang="en-GB" sz="3360" dirty="0"/>
                  <a:t> </a:t>
                </a:r>
              </a:p>
              <a:p>
                <a:pPr marL="0" indent="0">
                  <a:buNone/>
                </a:pPr>
                <a:endParaRPr lang="en-GB" sz="2880" dirty="0"/>
              </a:p>
              <a:p>
                <a:pPr marL="0" indent="0">
                  <a:buNone/>
                </a:pPr>
                <a:endParaRPr lang="en-GB" dirty="0"/>
              </a:p>
            </p:txBody>
          </p:sp>
        </mc:Choice>
        <mc:Fallback xmlns="">
          <p:sp>
            <p:nvSpPr>
              <p:cNvPr id="3" name="Content Placeholder 2">
                <a:extLst>
                  <a:ext uri="{FF2B5EF4-FFF2-40B4-BE49-F238E27FC236}">
                    <a16:creationId xmlns:a16="http://schemas.microsoft.com/office/drawing/2014/main" id="{765D35C4-AB65-B8E5-E6E8-7E654271C994}"/>
                  </a:ext>
                </a:extLst>
              </p:cNvPr>
              <p:cNvSpPr>
                <a:spLocks noGrp="1" noRot="1" noChangeAspect="1" noMove="1" noResize="1" noEditPoints="1" noAdjustHandles="1" noChangeArrowheads="1" noChangeShapeType="1" noTextEdit="1"/>
              </p:cNvSpPr>
              <p:nvPr>
                <p:ph idx="1"/>
              </p:nvPr>
            </p:nvSpPr>
            <p:spPr>
              <a:blipFill>
                <a:blip r:embed="rId2"/>
                <a:stretch>
                  <a:fillRect l="-772" r="-154"/>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D717FBDE-A3E4-E82E-8457-EA42D3406BBC}"/>
              </a:ext>
            </a:extLst>
          </p:cNvPr>
          <p:cNvSpPr>
            <a:spLocks noGrp="1"/>
          </p:cNvSpPr>
          <p:nvPr>
            <p:ph type="sldNum" sz="quarter" idx="12"/>
          </p:nvPr>
        </p:nvSpPr>
        <p:spPr/>
        <p:txBody>
          <a:bodyPr/>
          <a:lstStyle/>
          <a:p>
            <a:fld id="{44E22EE9-B8A0-0641-9265-052CFE9B95A7}" type="slidenum">
              <a:rPr lang="en-GB" altLang="en-US" smtClean="0"/>
              <a:pPr/>
              <a:t>10</a:t>
            </a:fld>
            <a:endParaRPr lang="en-GB" altLang="en-US" dirty="0"/>
          </a:p>
        </p:txBody>
      </p:sp>
    </p:spTree>
    <p:extLst>
      <p:ext uri="{BB962C8B-B14F-4D97-AF65-F5344CB8AC3E}">
        <p14:creationId xmlns:p14="http://schemas.microsoft.com/office/powerpoint/2010/main" val="2819322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938DB-F3F1-531A-AE79-21003D82218B}"/>
              </a:ext>
            </a:extLst>
          </p:cNvPr>
          <p:cNvSpPr>
            <a:spLocks noGrp="1"/>
          </p:cNvSpPr>
          <p:nvPr>
            <p:ph type="title"/>
          </p:nvPr>
        </p:nvSpPr>
        <p:spPr/>
        <p:txBody>
          <a:bodyPr/>
          <a:lstStyle/>
          <a:p>
            <a:r>
              <a:rPr lang="en-GB" dirty="0"/>
              <a:t>Let’s simplify</a:t>
            </a:r>
          </a:p>
        </p:txBody>
      </p:sp>
      <p:pic>
        <p:nvPicPr>
          <p:cNvPr id="6" name="Content Placeholder 5" descr="Text&#10;&#10;Description automatically generated">
            <a:extLst>
              <a:ext uri="{FF2B5EF4-FFF2-40B4-BE49-F238E27FC236}">
                <a16:creationId xmlns:a16="http://schemas.microsoft.com/office/drawing/2014/main" id="{FC197389-E936-CDBB-CDD6-C7A1E882166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7408" y="1116014"/>
            <a:ext cx="4095815" cy="1296144"/>
          </a:xfrm>
        </p:spPr>
      </p:pic>
      <p:sp>
        <p:nvSpPr>
          <p:cNvPr id="4" name="Slide Number Placeholder 3">
            <a:extLst>
              <a:ext uri="{FF2B5EF4-FFF2-40B4-BE49-F238E27FC236}">
                <a16:creationId xmlns:a16="http://schemas.microsoft.com/office/drawing/2014/main" id="{B8A942AA-FAD7-E9B4-929E-D5D93C540DAA}"/>
              </a:ext>
            </a:extLst>
          </p:cNvPr>
          <p:cNvSpPr>
            <a:spLocks noGrp="1"/>
          </p:cNvSpPr>
          <p:nvPr>
            <p:ph type="sldNum" sz="quarter" idx="12"/>
          </p:nvPr>
        </p:nvSpPr>
        <p:spPr/>
        <p:txBody>
          <a:bodyPr/>
          <a:lstStyle/>
          <a:p>
            <a:fld id="{44E22EE9-B8A0-0641-9265-052CFE9B95A7}" type="slidenum">
              <a:rPr lang="en-GB" altLang="en-US" smtClean="0"/>
              <a:pPr/>
              <a:t>11</a:t>
            </a:fld>
            <a:endParaRPr lang="en-GB" altLang="en-US" dirty="0"/>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C95BB4DC-63CC-3BBA-5A9D-B46B28D2322C}"/>
                  </a:ext>
                </a:extLst>
              </p:cNvPr>
              <p:cNvSpPr txBox="1"/>
              <p:nvPr/>
            </p:nvSpPr>
            <p:spPr>
              <a:xfrm>
                <a:off x="1055440" y="2259015"/>
                <a:ext cx="10526960" cy="2244653"/>
              </a:xfrm>
              <a:prstGeom prst="rect">
                <a:avLst/>
              </a:prstGeom>
              <a:noFill/>
            </p:spPr>
            <p:txBody>
              <a:bodyPr wrap="square">
                <a:sp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600" b="0" i="0" kern="1200" dirty="0">
                    <a:solidFill>
                      <a:schemeClr val="tx1"/>
                    </a:solidFill>
                    <a:effectLst/>
                    <a:latin typeface="Gill Sans MT" panose="020B0502020104020203" pitchFamily="34" charset="77"/>
                    <a:ea typeface="ＭＳ Ｐゴシック" charset="0"/>
                  </a:rPr>
                  <a:t>This represents the </a:t>
                </a:r>
                <a:r>
                  <a:rPr lang="en-GB" sz="1600" b="1" i="0" kern="1200" dirty="0">
                    <a:solidFill>
                      <a:schemeClr val="tx1"/>
                    </a:solidFill>
                    <a:effectLst/>
                    <a:latin typeface="Gill Sans MT" panose="020B0502020104020203" pitchFamily="34" charset="77"/>
                    <a:ea typeface="ＭＳ Ｐゴシック" charset="0"/>
                  </a:rPr>
                  <a:t>joint probability</a:t>
                </a:r>
                <a:r>
                  <a:rPr lang="en-GB" sz="1600" b="0" i="0" kern="1200" dirty="0">
                    <a:solidFill>
                      <a:schemeClr val="tx1"/>
                    </a:solidFill>
                    <a:effectLst/>
                    <a:latin typeface="Gill Sans MT" panose="020B0502020104020203" pitchFamily="34" charset="77"/>
                    <a:ea typeface="ＭＳ Ｐゴシック" charset="0"/>
                  </a:rPr>
                  <a:t> of a class label </a:t>
                </a:r>
                <a14:m>
                  <m:oMath xmlns:m="http://schemas.openxmlformats.org/officeDocument/2006/math">
                    <m:r>
                      <a:rPr lang="en-GB" sz="1600" i="1" kern="1200">
                        <a:solidFill>
                          <a:schemeClr val="tx1"/>
                        </a:solidFill>
                        <a:latin typeface="Cambria Math" panose="02040503050406030204" pitchFamily="18" charset="0"/>
                        <a:ea typeface="ＭＳ Ｐゴシック" charset="0"/>
                      </a:rPr>
                      <m:t>𝑦</m:t>
                    </m:r>
                  </m:oMath>
                </a14:m>
                <a:r>
                  <a:rPr lang="en-GB" sz="1600" b="0" i="0" kern="1200" dirty="0">
                    <a:solidFill>
                      <a:schemeClr val="tx1"/>
                    </a:solidFill>
                    <a:effectLst/>
                    <a:latin typeface="Gill Sans MT" panose="020B0502020104020203" pitchFamily="34" charset="77"/>
                    <a:ea typeface="ＭＳ Ｐゴシック" charset="0"/>
                  </a:rPr>
                  <a:t> and a feature vector </a:t>
                </a:r>
                <a14:m>
                  <m:oMath xmlns:m="http://schemas.openxmlformats.org/officeDocument/2006/math">
                    <m:r>
                      <a:rPr lang="en-GB" sz="1600" b="1" kern="1200">
                        <a:solidFill>
                          <a:schemeClr val="tx1"/>
                        </a:solidFill>
                        <a:latin typeface="Cambria Math" panose="02040503050406030204" pitchFamily="18" charset="0"/>
                        <a:ea typeface="ＭＳ Ｐゴシック" charset="0"/>
                      </a:rPr>
                      <m:t>𝐱</m:t>
                    </m:r>
                    <m:r>
                      <a:rPr lang="en-GB" sz="1600" b="0" i="0" kern="1200">
                        <a:solidFill>
                          <a:schemeClr val="tx1"/>
                        </a:solidFill>
                        <a:latin typeface="Cambria Math" panose="02040503050406030204" pitchFamily="18" charset="0"/>
                        <a:ea typeface="ＭＳ Ｐゴシック" charset="0"/>
                      </a:rPr>
                      <m:t>=</m:t>
                    </m:r>
                    <m:d>
                      <m:dPr>
                        <m:sepChr m:val=","/>
                        <m:ctrlPr>
                          <a:rPr lang="ar-AE" sz="1600" b="0" i="1" kern="1200">
                            <a:solidFill>
                              <a:schemeClr val="tx1"/>
                            </a:solidFill>
                            <a:latin typeface="Cambria Math" panose="02040503050406030204" pitchFamily="18" charset="0"/>
                            <a:ea typeface="ＭＳ Ｐゴシック" charset="0"/>
                          </a:rPr>
                        </m:ctrlPr>
                      </m:dPr>
                      <m:e>
                        <m:sSub>
                          <m:sSubPr>
                            <m:ctrlPr>
                              <a:rPr lang="ar-AE" sz="1600" b="0" i="1" kern="1200">
                                <a:solidFill>
                                  <a:schemeClr val="tx1"/>
                                </a:solidFill>
                                <a:latin typeface="Cambria Math" panose="02040503050406030204" pitchFamily="18" charset="0"/>
                                <a:ea typeface="ＭＳ Ｐゴシック" charset="0"/>
                              </a:rPr>
                            </m:ctrlPr>
                          </m:sSubPr>
                          <m:e>
                            <m:r>
                              <a:rPr lang="ar-AE" sz="1600" b="0" i="1" kern="1200">
                                <a:solidFill>
                                  <a:schemeClr val="tx1"/>
                                </a:solidFill>
                                <a:latin typeface="Cambria Math" panose="02040503050406030204" pitchFamily="18" charset="0"/>
                                <a:ea typeface="ＭＳ Ｐゴシック" charset="0"/>
                              </a:rPr>
                              <m:t>𝑥</m:t>
                            </m:r>
                          </m:e>
                          <m:sub>
                            <m:r>
                              <a:rPr lang="ar-AE" sz="1600" b="0" i="0" kern="1200">
                                <a:solidFill>
                                  <a:schemeClr val="tx1"/>
                                </a:solidFill>
                                <a:latin typeface="Cambria Math" panose="02040503050406030204" pitchFamily="18" charset="0"/>
                                <a:ea typeface="ＭＳ Ｐゴシック" charset="0"/>
                              </a:rPr>
                              <m:t>1</m:t>
                            </m:r>
                          </m:sub>
                        </m:sSub>
                      </m:e>
                      <m:e>
                        <m:sSub>
                          <m:sSubPr>
                            <m:ctrlPr>
                              <a:rPr lang="ar-AE" sz="1600" b="0" i="1" kern="1200">
                                <a:solidFill>
                                  <a:schemeClr val="tx1"/>
                                </a:solidFill>
                                <a:latin typeface="Cambria Math" panose="02040503050406030204" pitchFamily="18" charset="0"/>
                                <a:ea typeface="ＭＳ Ｐゴシック" charset="0"/>
                              </a:rPr>
                            </m:ctrlPr>
                          </m:sSubPr>
                          <m:e>
                            <m:r>
                              <a:rPr lang="ar-AE" sz="1600" b="0" i="1" kern="1200">
                                <a:solidFill>
                                  <a:schemeClr val="tx1"/>
                                </a:solidFill>
                                <a:latin typeface="Cambria Math" panose="02040503050406030204" pitchFamily="18" charset="0"/>
                                <a:ea typeface="ＭＳ Ｐゴシック" charset="0"/>
                              </a:rPr>
                              <m:t>𝑥</m:t>
                            </m:r>
                          </m:e>
                          <m:sub>
                            <m:r>
                              <a:rPr lang="ar-AE" sz="1600" b="0" i="0" kern="1200">
                                <a:solidFill>
                                  <a:schemeClr val="tx1"/>
                                </a:solidFill>
                                <a:latin typeface="Cambria Math" panose="02040503050406030204" pitchFamily="18" charset="0"/>
                                <a:ea typeface="ＭＳ Ｐゴシック" charset="0"/>
                              </a:rPr>
                              <m:t>2</m:t>
                            </m:r>
                          </m:sub>
                        </m:sSub>
                      </m:e>
                      <m:e>
                        <m:r>
                          <a:rPr lang="ar-AE" sz="1600" b="0" i="0" kern="1200">
                            <a:solidFill>
                              <a:schemeClr val="tx1"/>
                            </a:solidFill>
                            <a:latin typeface="Cambria Math" panose="02040503050406030204" pitchFamily="18" charset="0"/>
                            <a:ea typeface="ＭＳ Ｐゴシック" charset="0"/>
                          </a:rPr>
                          <m:t>…</m:t>
                        </m:r>
                      </m:e>
                      <m:e>
                        <m:sSub>
                          <m:sSubPr>
                            <m:ctrlPr>
                              <a:rPr lang="ar-AE" sz="1600" b="0" i="1" kern="1200">
                                <a:solidFill>
                                  <a:schemeClr val="tx1"/>
                                </a:solidFill>
                                <a:latin typeface="Cambria Math" panose="02040503050406030204" pitchFamily="18" charset="0"/>
                                <a:ea typeface="ＭＳ Ｐゴシック" charset="0"/>
                              </a:rPr>
                            </m:ctrlPr>
                          </m:sSubPr>
                          <m:e>
                            <m:r>
                              <a:rPr lang="ar-AE" sz="1600" b="0" i="1" kern="1200">
                                <a:solidFill>
                                  <a:schemeClr val="tx1"/>
                                </a:solidFill>
                                <a:latin typeface="Cambria Math" panose="02040503050406030204" pitchFamily="18" charset="0"/>
                                <a:ea typeface="ＭＳ Ｐゴシック" charset="0"/>
                              </a:rPr>
                              <m:t>𝑥</m:t>
                            </m:r>
                          </m:e>
                          <m:sub>
                            <m:r>
                              <a:rPr lang="ar-AE" sz="1600" b="0" i="1" kern="1200">
                                <a:solidFill>
                                  <a:schemeClr val="tx1"/>
                                </a:solidFill>
                                <a:latin typeface="Cambria Math" panose="02040503050406030204" pitchFamily="18" charset="0"/>
                                <a:ea typeface="ＭＳ Ｐゴシック" charset="0"/>
                              </a:rPr>
                              <m:t>𝐷</m:t>
                            </m:r>
                          </m:sub>
                        </m:sSub>
                      </m:e>
                    </m:d>
                  </m:oMath>
                </a14:m>
                <a:r>
                  <a:rPr lang="ar-AE" sz="1600" b="0" i="0" kern="1200" dirty="0">
                    <a:solidFill>
                      <a:schemeClr val="tx1"/>
                    </a:solidFill>
                    <a:effectLst/>
                    <a:latin typeface="Gill Sans MT" panose="020B0502020104020203" pitchFamily="34" charset="77"/>
                    <a:ea typeface="ＭＳ Ｐゴシック" charset="0"/>
                  </a:rPr>
                  <a:t> </a:t>
                </a:r>
                <a:r>
                  <a:rPr lang="en-GB" sz="1600" b="0" i="0" kern="1200" dirty="0">
                    <a:solidFill>
                      <a:schemeClr val="tx1"/>
                    </a:solidFill>
                    <a:effectLst/>
                    <a:latin typeface="Gill Sans MT" panose="020B0502020104020203" pitchFamily="34" charset="77"/>
                    <a:ea typeface="ＭＳ Ｐゴシック" charset="0"/>
                  </a:rPr>
                  <a:t>under the </a:t>
                </a:r>
                <a:r>
                  <a:rPr lang="en-GB" sz="1600" b="1" i="0" kern="1200" dirty="0">
                    <a:solidFill>
                      <a:schemeClr val="tx1"/>
                    </a:solidFill>
                    <a:effectLst/>
                    <a:latin typeface="Gill Sans MT" panose="020B0502020104020203" pitchFamily="34" charset="77"/>
                    <a:ea typeface="ＭＳ Ｐゴシック" charset="0"/>
                  </a:rPr>
                  <a:t>Naïve Bayes </a:t>
                </a:r>
                <a:r>
                  <a:rPr lang="en-GB" sz="1600" i="0" kern="1200" dirty="0">
                    <a:solidFill>
                      <a:schemeClr val="tx1"/>
                    </a:solidFill>
                    <a:effectLst/>
                    <a:latin typeface="Gill Sans MT" panose="020B0502020104020203" pitchFamily="34" charset="77"/>
                    <a:ea typeface="ＭＳ Ｐゴシック" charset="0"/>
                  </a:rPr>
                  <a:t>assumption</a:t>
                </a:r>
                <a:r>
                  <a:rPr lang="en-GB" sz="1600" b="0" i="0" kern="1200" dirty="0">
                    <a:solidFill>
                      <a:schemeClr val="tx1"/>
                    </a:solidFill>
                    <a:effectLst/>
                    <a:latin typeface="Gill Sans MT" panose="020B0502020104020203" pitchFamily="34" charset="77"/>
                    <a:ea typeface="ＭＳ Ｐゴシック" charset="0"/>
                  </a:rPr>
                  <a:t>.</a:t>
                </a:r>
              </a:p>
              <a:p>
                <a:pPr lvl="0">
                  <a:spcBef>
                    <a:spcPct val="30000"/>
                  </a:spcBef>
                  <a:defRPr/>
                </a:pPr>
                <a:r>
                  <a:rPr lang="en-GB" sz="1600" dirty="0">
                    <a:ea typeface="ＭＳ Ｐゴシック" charset="0"/>
                  </a:rPr>
                  <a:t>- </a:t>
                </a:r>
                <a:r>
                  <a:rPr lang="en-GB" sz="1600" dirty="0">
                    <a:latin typeface="Gill Sans MT" panose="020B0502020104020203" pitchFamily="34" charset="77"/>
                    <a:ea typeface="ＭＳ Ｐゴシック" charset="0"/>
                  </a:rPr>
                  <a:t>p(</a:t>
                </a:r>
                <a:r>
                  <a:rPr lang="en-GB" sz="1600" dirty="0" err="1">
                    <a:latin typeface="Gill Sans MT" panose="020B0502020104020203" pitchFamily="34" charset="77"/>
                    <a:ea typeface="ＭＳ Ｐゴシック" charset="0"/>
                  </a:rPr>
                  <a:t>y,x</a:t>
                </a:r>
                <a:r>
                  <a:rPr lang="en-GB" sz="1600" dirty="0">
                    <a:latin typeface="Gill Sans MT" panose="020B0502020104020203" pitchFamily="34" charset="77"/>
                    <a:ea typeface="ＭＳ Ｐゴシック" charset="0"/>
                  </a:rPr>
                  <a:t>): Joint probability of the label </a:t>
                </a:r>
                <a14:m>
                  <m:oMath xmlns:m="http://schemas.openxmlformats.org/officeDocument/2006/math">
                    <m:r>
                      <a:rPr lang="en-GB" sz="1600" i="1">
                        <a:latin typeface="Cambria Math" panose="02040503050406030204" pitchFamily="18" charset="0"/>
                        <a:ea typeface="ＭＳ Ｐゴシック" charset="0"/>
                      </a:rPr>
                      <m:t>𝑦</m:t>
                    </m:r>
                  </m:oMath>
                </a14:m>
                <a:r>
                  <a:rPr lang="en-GB" sz="1600" dirty="0">
                    <a:latin typeface="Gill Sans MT" panose="020B0502020104020203" pitchFamily="34" charset="77"/>
                    <a:ea typeface="ＭＳ Ｐゴシック" charset="0"/>
                  </a:rPr>
                  <a:t> and all features </a:t>
                </a:r>
                <a14:m>
                  <m:oMath xmlns:m="http://schemas.openxmlformats.org/officeDocument/2006/math">
                    <m:r>
                      <a:rPr lang="en-GB" sz="1600" b="1">
                        <a:latin typeface="Cambria Math" panose="02040503050406030204" pitchFamily="18" charset="0"/>
                        <a:ea typeface="ＭＳ Ｐゴシック" charset="0"/>
                      </a:rPr>
                      <m:t>𝐱</m:t>
                    </m:r>
                  </m:oMath>
                </a14:m>
                <a:r>
                  <a:rPr lang="en-GB" sz="1600" dirty="0">
                    <a:latin typeface="Gill Sans MT" panose="020B0502020104020203" pitchFamily="34" charset="77"/>
                    <a:ea typeface="ＭＳ Ｐゴシック" charset="0"/>
                  </a:rPr>
                  <a:t>.</a:t>
                </a:r>
                <a:endParaRPr lang="en-GB" sz="1600" i="1" dirty="0">
                  <a:latin typeface="Gill Sans MT" panose="020B0502020104020203" pitchFamily="34" charset="77"/>
                  <a:ea typeface="ＭＳ Ｐゴシック" charset="0"/>
                </a:endParaRPr>
              </a:p>
              <a:p>
                <a:pPr lvl="0">
                  <a:spcBef>
                    <a:spcPct val="30000"/>
                  </a:spcBef>
                  <a:defRPr/>
                </a:pPr>
                <a14:m>
                  <m:oMath xmlns:m="http://schemas.openxmlformats.org/officeDocument/2006/math">
                    <m:r>
                      <a:rPr lang="en-GB" sz="1600" b="0" i="1" smtClean="0">
                        <a:latin typeface="Cambria Math" panose="02040503050406030204" pitchFamily="18" charset="0"/>
                        <a:ea typeface="ＭＳ Ｐゴシック" charset="0"/>
                      </a:rPr>
                      <m:t>− </m:t>
                    </m:r>
                    <m:r>
                      <a:rPr lang="en-GB" sz="1600" i="1">
                        <a:latin typeface="Cambria Math" panose="02040503050406030204" pitchFamily="18" charset="0"/>
                        <a:ea typeface="ＭＳ Ｐゴシック" charset="0"/>
                      </a:rPr>
                      <m:t>𝑝</m:t>
                    </m:r>
                    <m:d>
                      <m:dPr>
                        <m:ctrlPr>
                          <a:rPr lang="ar-AE" sz="1600" i="1">
                            <a:latin typeface="Cambria Math" panose="02040503050406030204" pitchFamily="18" charset="0"/>
                            <a:ea typeface="ＭＳ Ｐゴシック" charset="0"/>
                          </a:rPr>
                        </m:ctrlPr>
                      </m:dPr>
                      <m:e>
                        <m:r>
                          <a:rPr lang="ar-AE" sz="1600" i="1">
                            <a:latin typeface="Cambria Math" panose="02040503050406030204" pitchFamily="18" charset="0"/>
                            <a:ea typeface="ＭＳ Ｐゴシック" charset="0"/>
                          </a:rPr>
                          <m:t>𝑦</m:t>
                        </m:r>
                      </m:e>
                    </m:d>
                  </m:oMath>
                </a14:m>
                <a:r>
                  <a:rPr lang="ar-AE" sz="1600" dirty="0">
                    <a:latin typeface="Gill Sans MT" panose="020B0502020104020203" pitchFamily="34" charset="77"/>
                    <a:ea typeface="ＭＳ Ｐゴシック" charset="0"/>
                  </a:rPr>
                  <a:t>: </a:t>
                </a:r>
                <a:r>
                  <a:rPr lang="en-GB" sz="1600" dirty="0">
                    <a:latin typeface="Gill Sans MT" panose="020B0502020104020203" pitchFamily="34" charset="77"/>
                    <a:ea typeface="ＭＳ Ｐゴシック" charset="0"/>
                  </a:rPr>
                  <a:t>Prior probability of the class </a:t>
                </a:r>
                <a14:m>
                  <m:oMath xmlns:m="http://schemas.openxmlformats.org/officeDocument/2006/math">
                    <m:r>
                      <a:rPr lang="en-GB" sz="1600" i="1">
                        <a:latin typeface="Cambria Math" panose="02040503050406030204" pitchFamily="18" charset="0"/>
                        <a:ea typeface="ＭＳ Ｐゴシック" charset="0"/>
                      </a:rPr>
                      <m:t>𝑦</m:t>
                    </m:r>
                  </m:oMath>
                </a14:m>
                <a:r>
                  <a:rPr lang="en-GB" sz="1600" dirty="0">
                    <a:latin typeface="Gill Sans MT" panose="020B0502020104020203" pitchFamily="34" charset="77"/>
                    <a:ea typeface="ＭＳ Ｐゴシック" charset="0"/>
                  </a:rPr>
                  <a:t>.</a:t>
                </a:r>
              </a:p>
              <a:p>
                <a:pPr lvl="0">
                  <a:spcBef>
                    <a:spcPct val="30000"/>
                  </a:spcBef>
                  <a:defRPr/>
                </a:pPr>
                <a:r>
                  <a:rPr lang="en-GB" sz="1600" dirty="0">
                    <a:latin typeface="Gill Sans MT" panose="020B0502020104020203" pitchFamily="34" charset="77"/>
                    <a:ea typeface="ＭＳ Ｐゴシック" charset="0"/>
                  </a:rPr>
                  <a:t>- </a:t>
                </a:r>
                <a14:m>
                  <m:oMath xmlns:m="http://schemas.openxmlformats.org/officeDocument/2006/math">
                    <m:nary>
                      <m:naryPr>
                        <m:chr m:val="∏"/>
                        <m:limLoc m:val="subSup"/>
                        <m:grow m:val="on"/>
                        <m:ctrlPr>
                          <a:rPr lang="ar-AE" sz="1600" i="1">
                            <a:latin typeface="Cambria Math" panose="02040503050406030204" pitchFamily="18" charset="0"/>
                            <a:ea typeface="ＭＳ Ｐゴシック" charset="0"/>
                          </a:rPr>
                        </m:ctrlPr>
                      </m:naryPr>
                      <m:sub>
                        <m:r>
                          <a:rPr lang="ar-AE" sz="1600" i="1">
                            <a:latin typeface="Cambria Math" panose="02040503050406030204" pitchFamily="18" charset="0"/>
                            <a:ea typeface="ＭＳ Ｐゴシック" charset="0"/>
                          </a:rPr>
                          <m:t>𝑗</m:t>
                        </m:r>
                        <m:r>
                          <a:rPr lang="ar-AE" sz="1600">
                            <a:latin typeface="Cambria Math" panose="02040503050406030204" pitchFamily="18" charset="0"/>
                            <a:ea typeface="ＭＳ Ｐゴシック" charset="0"/>
                          </a:rPr>
                          <m:t>=1</m:t>
                        </m:r>
                      </m:sub>
                      <m:sup>
                        <m:r>
                          <a:rPr lang="ar-AE" sz="1600" i="1">
                            <a:latin typeface="Cambria Math" panose="02040503050406030204" pitchFamily="18" charset="0"/>
                            <a:ea typeface="ＭＳ Ｐゴシック" charset="0"/>
                          </a:rPr>
                          <m:t>𝐷</m:t>
                        </m:r>
                      </m:sup>
                      <m:e>
                        <m:r>
                          <a:rPr lang="ar-AE" sz="1600" i="1">
                            <a:latin typeface="Cambria Math" panose="02040503050406030204" pitchFamily="18" charset="0"/>
                            <a:ea typeface="ＭＳ Ｐゴシック" charset="0"/>
                          </a:rPr>
                          <m:t>𝑝</m:t>
                        </m:r>
                      </m:e>
                    </m:nary>
                    <m:d>
                      <m:dPr>
                        <m:ctrlPr>
                          <a:rPr lang="ar-AE" sz="1600" i="1">
                            <a:latin typeface="Cambria Math" panose="02040503050406030204" pitchFamily="18" charset="0"/>
                            <a:ea typeface="ＭＳ Ｐゴシック" charset="0"/>
                          </a:rPr>
                        </m:ctrlPr>
                      </m:dPr>
                      <m:e>
                        <m:sSub>
                          <m:sSubPr>
                            <m:ctrlPr>
                              <a:rPr lang="ar-AE" sz="1600" i="1">
                                <a:latin typeface="Cambria Math" panose="02040503050406030204" pitchFamily="18" charset="0"/>
                                <a:ea typeface="ＭＳ Ｐゴシック" charset="0"/>
                              </a:rPr>
                            </m:ctrlPr>
                          </m:sSubPr>
                          <m:e>
                            <m:r>
                              <a:rPr lang="ar-AE" sz="1600" i="1">
                                <a:latin typeface="Cambria Math" panose="02040503050406030204" pitchFamily="18" charset="0"/>
                                <a:ea typeface="ＭＳ Ｐゴシック" charset="0"/>
                              </a:rPr>
                              <m:t>𝑥</m:t>
                            </m:r>
                          </m:e>
                          <m:sub>
                            <m:r>
                              <a:rPr lang="ar-AE" sz="1600" i="1">
                                <a:latin typeface="Cambria Math" panose="02040503050406030204" pitchFamily="18" charset="0"/>
                                <a:ea typeface="ＭＳ Ｐゴシック" charset="0"/>
                              </a:rPr>
                              <m:t>𝑗</m:t>
                            </m:r>
                          </m:sub>
                        </m:sSub>
                        <m:r>
                          <a:rPr lang="ar-AE" sz="1600">
                            <a:latin typeface="Cambria Math" panose="02040503050406030204" pitchFamily="18" charset="0"/>
                            <a:ea typeface="ＭＳ Ｐゴシック" charset="0"/>
                          </a:rPr>
                          <m:t>∣</m:t>
                        </m:r>
                        <m:r>
                          <a:rPr lang="ar-AE" sz="1600" i="1">
                            <a:latin typeface="Cambria Math" panose="02040503050406030204" pitchFamily="18" charset="0"/>
                            <a:ea typeface="ＭＳ Ｐゴシック" charset="0"/>
                          </a:rPr>
                          <m:t>𝑦</m:t>
                        </m:r>
                      </m:e>
                    </m:d>
                  </m:oMath>
                </a14:m>
                <a:r>
                  <a:rPr lang="ar-AE" sz="1600" dirty="0">
                    <a:latin typeface="Gill Sans MT" panose="020B0502020104020203" pitchFamily="34" charset="77"/>
                    <a:ea typeface="ＭＳ Ｐゴシック" charset="0"/>
                  </a:rPr>
                  <a:t>: </a:t>
                </a:r>
                <a:r>
                  <a:rPr lang="en-GB" sz="1600" dirty="0">
                    <a:latin typeface="Gill Sans MT" panose="020B0502020104020203" pitchFamily="34" charset="77"/>
                    <a:ea typeface="ＭＳ Ｐゴシック" charset="0"/>
                  </a:rPr>
                  <a:t>Product of conditional probabilities of each feature given the class.</a:t>
                </a:r>
              </a:p>
              <a:p>
                <a:pPr lvl="0">
                  <a:spcBef>
                    <a:spcPct val="30000"/>
                  </a:spcBef>
                  <a:defRPr/>
                </a:pPr>
                <a:endParaRPr lang="en-GB" sz="1600" dirty="0">
                  <a:ea typeface="ＭＳ Ｐゴシック"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600" b="0" i="0" kern="1200" dirty="0">
                  <a:solidFill>
                    <a:schemeClr val="tx1"/>
                  </a:solidFill>
                  <a:effectLst/>
                  <a:latin typeface="Gill Sans MT" panose="020B0502020104020203" pitchFamily="34" charset="77"/>
                  <a:ea typeface="ＭＳ Ｐゴシック" charset="0"/>
                </a:endParaRPr>
              </a:p>
            </p:txBody>
          </p:sp>
        </mc:Choice>
        <mc:Fallback>
          <p:sp>
            <p:nvSpPr>
              <p:cNvPr id="8" name="TextBox 7">
                <a:extLst>
                  <a:ext uri="{FF2B5EF4-FFF2-40B4-BE49-F238E27FC236}">
                    <a16:creationId xmlns:a16="http://schemas.microsoft.com/office/drawing/2014/main" id="{C95BB4DC-63CC-3BBA-5A9D-B46B28D2322C}"/>
                  </a:ext>
                </a:extLst>
              </p:cNvPr>
              <p:cNvSpPr txBox="1">
                <a:spLocks noRot="1" noChangeAspect="1" noMove="1" noResize="1" noEditPoints="1" noAdjustHandles="1" noChangeArrowheads="1" noChangeShapeType="1" noTextEdit="1"/>
              </p:cNvSpPr>
              <p:nvPr/>
            </p:nvSpPr>
            <p:spPr>
              <a:xfrm>
                <a:off x="1055440" y="2259015"/>
                <a:ext cx="10526960" cy="2244653"/>
              </a:xfrm>
              <a:prstGeom prst="rect">
                <a:avLst/>
              </a:prstGeom>
              <a:blipFill>
                <a:blip r:embed="rId4"/>
                <a:stretch>
                  <a:fillRect l="-1687" t="-1695"/>
                </a:stretch>
              </a:blipFill>
            </p:spPr>
            <p:txBody>
              <a:bodyPr/>
              <a:lstStyle/>
              <a:p>
                <a:r>
                  <a:rPr lang="en-GB">
                    <a:noFill/>
                  </a:rPr>
                  <a:t> </a:t>
                </a:r>
              </a:p>
            </p:txBody>
          </p:sp>
        </mc:Fallback>
      </mc:AlternateContent>
    </p:spTree>
    <p:extLst>
      <p:ext uri="{BB962C8B-B14F-4D97-AF65-F5344CB8AC3E}">
        <p14:creationId xmlns:p14="http://schemas.microsoft.com/office/powerpoint/2010/main" val="449346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4EE34-B0E0-D485-1BFB-9E465D87FA64}"/>
              </a:ext>
            </a:extLst>
          </p:cNvPr>
          <p:cNvSpPr>
            <a:spLocks noGrp="1"/>
          </p:cNvSpPr>
          <p:nvPr>
            <p:ph type="title"/>
          </p:nvPr>
        </p:nvSpPr>
        <p:spPr/>
        <p:txBody>
          <a:bodyPr/>
          <a:lstStyle/>
          <a:p>
            <a:r>
              <a:rPr lang="en-GB" dirty="0"/>
              <a:t>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2593AD8-42EF-B8DE-C093-BEB34464A67F}"/>
                  </a:ext>
                </a:extLst>
              </p:cNvPr>
              <p:cNvSpPr>
                <a:spLocks noGrp="1"/>
              </p:cNvSpPr>
              <p:nvPr>
                <p:ph idx="1"/>
              </p:nvPr>
            </p:nvSpPr>
            <p:spPr/>
            <p:txBody>
              <a:bodyPr/>
              <a:lstStyle/>
              <a:p>
                <a:r>
                  <a:rPr lang="en-GB" kern="1200" dirty="0"/>
                  <a:t>Imagine predicting whether a patient has Alzheimer’s (</a:t>
                </a:r>
                <a14:m>
                  <m:oMath xmlns:m="http://schemas.openxmlformats.org/officeDocument/2006/math">
                    <m:r>
                      <a:rPr lang="en-GB" i="1" kern="1200">
                        <a:latin typeface="Cambria Math" panose="02040503050406030204" pitchFamily="18" charset="0"/>
                      </a:rPr>
                      <m:t>𝑦</m:t>
                    </m:r>
                  </m:oMath>
                </a14:m>
                <a:r>
                  <a:rPr lang="en-GB" kern="1200" dirty="0"/>
                  <a:t>) based on features below:</a:t>
                </a:r>
              </a:p>
              <a:p>
                <a:pPr lvl="1"/>
                <a14:m>
                  <m:oMath xmlns:m="http://schemas.openxmlformats.org/officeDocument/2006/math">
                    <m:sSub>
                      <m:sSubPr>
                        <m:ctrlPr>
                          <a:rPr lang="ar-AE" i="1" kern="1200">
                            <a:latin typeface="Cambria Math" panose="02040503050406030204" pitchFamily="18" charset="0"/>
                          </a:rPr>
                        </m:ctrlPr>
                      </m:sSubPr>
                      <m:e>
                        <m:r>
                          <a:rPr lang="ar-AE" i="1" kern="1200">
                            <a:latin typeface="Cambria Math" panose="02040503050406030204" pitchFamily="18" charset="0"/>
                          </a:rPr>
                          <m:t>𝑥</m:t>
                        </m:r>
                      </m:e>
                      <m:sub>
                        <m:r>
                          <a:rPr lang="ar-AE" kern="1200">
                            <a:latin typeface="Cambria Math" panose="02040503050406030204" pitchFamily="18" charset="0"/>
                          </a:rPr>
                          <m:t>1</m:t>
                        </m:r>
                      </m:sub>
                    </m:sSub>
                  </m:oMath>
                </a14:m>
                <a:r>
                  <a:rPr lang="ar-AE" kern="1200" dirty="0"/>
                  <a:t>: </a:t>
                </a:r>
                <a:r>
                  <a:rPr lang="en-GB" kern="1200" dirty="0"/>
                  <a:t>Age</a:t>
                </a:r>
              </a:p>
              <a:p>
                <a:pPr lvl="1"/>
                <a14:m>
                  <m:oMath xmlns:m="http://schemas.openxmlformats.org/officeDocument/2006/math">
                    <m:sSub>
                      <m:sSubPr>
                        <m:ctrlPr>
                          <a:rPr lang="ar-AE" i="1" kern="1200">
                            <a:latin typeface="Cambria Math" panose="02040503050406030204" pitchFamily="18" charset="0"/>
                          </a:rPr>
                        </m:ctrlPr>
                      </m:sSubPr>
                      <m:e>
                        <m:r>
                          <a:rPr lang="ar-AE" i="1" kern="1200">
                            <a:latin typeface="Cambria Math" panose="02040503050406030204" pitchFamily="18" charset="0"/>
                          </a:rPr>
                          <m:t>𝑥</m:t>
                        </m:r>
                      </m:e>
                      <m:sub>
                        <m:r>
                          <a:rPr lang="ar-AE" kern="1200">
                            <a:latin typeface="Cambria Math" panose="02040503050406030204" pitchFamily="18" charset="0"/>
                          </a:rPr>
                          <m:t>2</m:t>
                        </m:r>
                      </m:sub>
                    </m:sSub>
                  </m:oMath>
                </a14:m>
                <a:r>
                  <a:rPr lang="ar-AE" kern="1200" dirty="0"/>
                  <a:t>: </a:t>
                </a:r>
                <a:r>
                  <a:rPr lang="en-GB" kern="1200" dirty="0"/>
                  <a:t>APOE-4 status</a:t>
                </a:r>
              </a:p>
              <a:p>
                <a:pPr lvl="1"/>
                <a14:m>
                  <m:oMath xmlns:m="http://schemas.openxmlformats.org/officeDocument/2006/math">
                    <m:sSub>
                      <m:sSubPr>
                        <m:ctrlPr>
                          <a:rPr lang="ar-AE" i="1" kern="1200">
                            <a:latin typeface="Cambria Math" panose="02040503050406030204" pitchFamily="18" charset="0"/>
                          </a:rPr>
                        </m:ctrlPr>
                      </m:sSubPr>
                      <m:e>
                        <m:r>
                          <a:rPr lang="ar-AE" i="1" kern="1200">
                            <a:latin typeface="Cambria Math" panose="02040503050406030204" pitchFamily="18" charset="0"/>
                          </a:rPr>
                          <m:t>𝑥</m:t>
                        </m:r>
                      </m:e>
                      <m:sub>
                        <m:r>
                          <a:rPr lang="ar-AE" kern="1200">
                            <a:latin typeface="Cambria Math" panose="02040503050406030204" pitchFamily="18" charset="0"/>
                          </a:rPr>
                          <m:t>3</m:t>
                        </m:r>
                      </m:sub>
                    </m:sSub>
                  </m:oMath>
                </a14:m>
                <a:r>
                  <a:rPr lang="ar-AE" kern="1200" dirty="0"/>
                  <a:t>: </a:t>
                </a:r>
                <a:r>
                  <a:rPr lang="en-GB" kern="1200" dirty="0"/>
                  <a:t>CSF tau level</a:t>
                </a:r>
              </a:p>
              <a:p>
                <a:pPr lvl="1"/>
                <a14:m>
                  <m:oMath xmlns:m="http://schemas.openxmlformats.org/officeDocument/2006/math">
                    <m:sSub>
                      <m:sSubPr>
                        <m:ctrlPr>
                          <a:rPr lang="ar-AE" i="1" kern="1200">
                            <a:latin typeface="Cambria Math" panose="02040503050406030204" pitchFamily="18" charset="0"/>
                          </a:rPr>
                        </m:ctrlPr>
                      </m:sSubPr>
                      <m:e>
                        <m:r>
                          <a:rPr lang="ar-AE" i="1" kern="1200">
                            <a:latin typeface="Cambria Math" panose="02040503050406030204" pitchFamily="18" charset="0"/>
                          </a:rPr>
                          <m:t>𝑥</m:t>
                        </m:r>
                      </m:e>
                      <m:sub>
                        <m:r>
                          <a:rPr lang="ar-AE" kern="1200">
                            <a:latin typeface="Cambria Math" panose="02040503050406030204" pitchFamily="18" charset="0"/>
                          </a:rPr>
                          <m:t>4</m:t>
                        </m:r>
                      </m:sub>
                    </m:sSub>
                  </m:oMath>
                </a14:m>
                <a:r>
                  <a:rPr lang="ar-AE" kern="1200" dirty="0"/>
                  <a:t>: </a:t>
                </a:r>
                <a:r>
                  <a:rPr lang="en-GB" kern="1200" dirty="0"/>
                  <a:t>MRI hippocampal volume</a:t>
                </a:r>
              </a:p>
              <a:p>
                <a:r>
                  <a:rPr lang="en-GB" kern="1200" dirty="0"/>
                  <a:t>Under Naïve Bayes:</a:t>
                </a:r>
              </a:p>
              <a:p>
                <a:pPr lvl="1"/>
                <a14:m>
                  <m:oMath xmlns:m="http://schemas.openxmlformats.org/officeDocument/2006/math">
                    <m:r>
                      <a:rPr lang="en-GB" i="1" kern="1200">
                        <a:latin typeface="Cambria Math" panose="02040503050406030204" pitchFamily="18" charset="0"/>
                      </a:rPr>
                      <m:t>𝑝</m:t>
                    </m:r>
                    <m:d>
                      <m:dPr>
                        <m:sepChr m:val=","/>
                        <m:ctrlPr>
                          <a:rPr lang="ar-AE" i="1" kern="1200">
                            <a:latin typeface="Cambria Math" panose="02040503050406030204" pitchFamily="18" charset="0"/>
                          </a:rPr>
                        </m:ctrlPr>
                      </m:dPr>
                      <m:e>
                        <m:r>
                          <a:rPr lang="ar-AE" i="1" kern="1200">
                            <a:latin typeface="Cambria Math" panose="02040503050406030204" pitchFamily="18" charset="0"/>
                          </a:rPr>
                          <m:t>𝑦</m:t>
                        </m:r>
                      </m:e>
                      <m:e>
                        <m:r>
                          <a:rPr lang="ar-AE" b="1" kern="1200">
                            <a:latin typeface="Cambria Math" panose="02040503050406030204" pitchFamily="18" charset="0"/>
                          </a:rPr>
                          <m:t>𝐱</m:t>
                        </m:r>
                      </m:e>
                    </m:d>
                    <m:r>
                      <a:rPr lang="ar-AE" kern="1200">
                        <a:latin typeface="Cambria Math" panose="02040503050406030204" pitchFamily="18" charset="0"/>
                      </a:rPr>
                      <m:t>=</m:t>
                    </m:r>
                    <m:r>
                      <a:rPr lang="ar-AE" i="1" kern="1200">
                        <a:latin typeface="Cambria Math" panose="02040503050406030204" pitchFamily="18" charset="0"/>
                      </a:rPr>
                      <m:t>𝑝</m:t>
                    </m:r>
                    <m:d>
                      <m:dPr>
                        <m:ctrlPr>
                          <a:rPr lang="ar-AE" i="1" kern="1200">
                            <a:latin typeface="Cambria Math" panose="02040503050406030204" pitchFamily="18" charset="0"/>
                          </a:rPr>
                        </m:ctrlPr>
                      </m:dPr>
                      <m:e>
                        <m:r>
                          <a:rPr lang="ar-AE" i="1" kern="1200">
                            <a:latin typeface="Cambria Math" panose="02040503050406030204" pitchFamily="18" charset="0"/>
                          </a:rPr>
                          <m:t>𝑦</m:t>
                        </m:r>
                      </m:e>
                    </m:d>
                    <m:r>
                      <a:rPr lang="ar-AE" kern="1200">
                        <a:latin typeface="Cambria Math" panose="02040503050406030204" pitchFamily="18" charset="0"/>
                      </a:rPr>
                      <m:t>⋅</m:t>
                    </m:r>
                    <m:r>
                      <a:rPr lang="ar-AE" i="1" kern="1200">
                        <a:latin typeface="Cambria Math" panose="02040503050406030204" pitchFamily="18" charset="0"/>
                      </a:rPr>
                      <m:t>𝑝</m:t>
                    </m:r>
                    <m:d>
                      <m:dPr>
                        <m:ctrlPr>
                          <a:rPr lang="ar-AE" i="1" kern="1200">
                            <a:latin typeface="Cambria Math" panose="02040503050406030204" pitchFamily="18" charset="0"/>
                          </a:rPr>
                        </m:ctrlPr>
                      </m:dPr>
                      <m:e>
                        <m:r>
                          <m:rPr>
                            <m:nor/>
                          </m:rPr>
                          <a:rPr lang="en-GB" i="1" kern="1200"/>
                          <m:t>Age</m:t>
                        </m:r>
                        <m:r>
                          <a:rPr lang="en-GB" kern="1200">
                            <a:latin typeface="Cambria Math" panose="02040503050406030204" pitchFamily="18" charset="0"/>
                          </a:rPr>
                          <m:t>∣</m:t>
                        </m:r>
                        <m:r>
                          <a:rPr lang="en-GB" i="1" kern="1200">
                            <a:latin typeface="Cambria Math" panose="02040503050406030204" pitchFamily="18" charset="0"/>
                          </a:rPr>
                          <m:t>𝑦</m:t>
                        </m:r>
                      </m:e>
                    </m:d>
                    <m:r>
                      <a:rPr lang="ar-AE" kern="1200">
                        <a:latin typeface="Cambria Math" panose="02040503050406030204" pitchFamily="18" charset="0"/>
                      </a:rPr>
                      <m:t>⋅</m:t>
                    </m:r>
                    <m:r>
                      <a:rPr lang="ar-AE" i="1" kern="1200">
                        <a:latin typeface="Cambria Math" panose="02040503050406030204" pitchFamily="18" charset="0"/>
                      </a:rPr>
                      <m:t>𝑝</m:t>
                    </m:r>
                    <m:d>
                      <m:dPr>
                        <m:ctrlPr>
                          <a:rPr lang="ar-AE" i="1" kern="1200">
                            <a:latin typeface="Cambria Math" panose="02040503050406030204" pitchFamily="18" charset="0"/>
                          </a:rPr>
                        </m:ctrlPr>
                      </m:dPr>
                      <m:e>
                        <m:r>
                          <m:rPr>
                            <m:nor/>
                          </m:rPr>
                          <a:rPr lang="en-GB" i="1" kern="1200"/>
                          <m:t>APOE</m:t>
                        </m:r>
                        <m:r>
                          <a:rPr lang="en-GB" kern="1200">
                            <a:latin typeface="Cambria Math" panose="02040503050406030204" pitchFamily="18" charset="0"/>
                          </a:rPr>
                          <m:t>∣</m:t>
                        </m:r>
                        <m:r>
                          <a:rPr lang="en-GB" i="1" kern="1200">
                            <a:latin typeface="Cambria Math" panose="02040503050406030204" pitchFamily="18" charset="0"/>
                          </a:rPr>
                          <m:t>𝑦</m:t>
                        </m:r>
                      </m:e>
                    </m:d>
                    <m:r>
                      <a:rPr lang="ar-AE" kern="1200">
                        <a:latin typeface="Cambria Math" panose="02040503050406030204" pitchFamily="18" charset="0"/>
                      </a:rPr>
                      <m:t>⋅</m:t>
                    </m:r>
                    <m:r>
                      <a:rPr lang="ar-AE" i="1" kern="1200">
                        <a:latin typeface="Cambria Math" panose="02040503050406030204" pitchFamily="18" charset="0"/>
                      </a:rPr>
                      <m:t>𝑝</m:t>
                    </m:r>
                    <m:d>
                      <m:dPr>
                        <m:ctrlPr>
                          <a:rPr lang="ar-AE" i="1" kern="1200">
                            <a:latin typeface="Cambria Math" panose="02040503050406030204" pitchFamily="18" charset="0"/>
                          </a:rPr>
                        </m:ctrlPr>
                      </m:dPr>
                      <m:e>
                        <m:r>
                          <m:rPr>
                            <m:nor/>
                          </m:rPr>
                          <a:rPr lang="en-GB" i="1" kern="1200"/>
                          <m:t>Tau</m:t>
                        </m:r>
                        <m:r>
                          <a:rPr lang="en-GB" kern="1200">
                            <a:latin typeface="Cambria Math" panose="02040503050406030204" pitchFamily="18" charset="0"/>
                          </a:rPr>
                          <m:t>∣</m:t>
                        </m:r>
                        <m:r>
                          <a:rPr lang="en-GB" i="1" kern="1200">
                            <a:latin typeface="Cambria Math" panose="02040503050406030204" pitchFamily="18" charset="0"/>
                          </a:rPr>
                          <m:t>𝑦</m:t>
                        </m:r>
                      </m:e>
                    </m:d>
                    <m:r>
                      <a:rPr lang="ar-AE" kern="1200">
                        <a:latin typeface="Cambria Math" panose="02040503050406030204" pitchFamily="18" charset="0"/>
                      </a:rPr>
                      <m:t>⋅</m:t>
                    </m:r>
                    <m:r>
                      <a:rPr lang="ar-AE" i="1" kern="1200">
                        <a:latin typeface="Cambria Math" panose="02040503050406030204" pitchFamily="18" charset="0"/>
                      </a:rPr>
                      <m:t>𝑝</m:t>
                    </m:r>
                    <m:d>
                      <m:dPr>
                        <m:ctrlPr>
                          <a:rPr lang="ar-AE" i="1" kern="1200">
                            <a:latin typeface="Cambria Math" panose="02040503050406030204" pitchFamily="18" charset="0"/>
                          </a:rPr>
                        </m:ctrlPr>
                      </m:dPr>
                      <m:e>
                        <m:r>
                          <m:rPr>
                            <m:nor/>
                          </m:rPr>
                          <a:rPr lang="en-GB" i="1" kern="1200"/>
                          <m:t>MRI</m:t>
                        </m:r>
                        <m:r>
                          <a:rPr lang="en-GB" kern="1200">
                            <a:latin typeface="Cambria Math" panose="02040503050406030204" pitchFamily="18" charset="0"/>
                          </a:rPr>
                          <m:t>∣</m:t>
                        </m:r>
                        <m:r>
                          <a:rPr lang="en-GB" i="1" kern="1200">
                            <a:latin typeface="Cambria Math" panose="02040503050406030204" pitchFamily="18" charset="0"/>
                          </a:rPr>
                          <m:t>𝑦</m:t>
                        </m:r>
                      </m:e>
                    </m:d>
                  </m:oMath>
                </a14:m>
                <a:endParaRPr lang="en-GB" kern="1200" dirty="0"/>
              </a:p>
              <a:p>
                <a:pPr lvl="1"/>
                <a:r>
                  <a:rPr lang="en-GB" kern="1200" dirty="0"/>
                  <a:t>p(y): Prior probability of the class </a:t>
                </a:r>
                <a14:m>
                  <m:oMath xmlns:m="http://schemas.openxmlformats.org/officeDocument/2006/math">
                    <m:r>
                      <a:rPr lang="en-GB" kern="1200"/>
                      <m:t>𝑦</m:t>
                    </m:r>
                  </m:oMath>
                </a14:m>
                <a:endParaRPr lang="en-GB" kern="1200" dirty="0"/>
              </a:p>
              <a:p>
                <a:endParaRPr lang="en-GB" dirty="0"/>
              </a:p>
              <a:p>
                <a:pPr lvl="1"/>
                <a:endParaRPr lang="ar-AE" dirty="0"/>
              </a:p>
              <a:p>
                <a:endParaRPr lang="en-GB" dirty="0"/>
              </a:p>
              <a:p>
                <a:endParaRPr lang="en-GB" dirty="0"/>
              </a:p>
            </p:txBody>
          </p:sp>
        </mc:Choice>
        <mc:Fallback>
          <p:sp>
            <p:nvSpPr>
              <p:cNvPr id="3" name="Content Placeholder 2">
                <a:extLst>
                  <a:ext uri="{FF2B5EF4-FFF2-40B4-BE49-F238E27FC236}">
                    <a16:creationId xmlns:a16="http://schemas.microsoft.com/office/drawing/2014/main" id="{C2593AD8-42EF-B8DE-C093-BEB34464A67F}"/>
                  </a:ext>
                </a:extLst>
              </p:cNvPr>
              <p:cNvSpPr>
                <a:spLocks noGrp="1" noRot="1" noChangeAspect="1" noMove="1" noResize="1" noEditPoints="1" noAdjustHandles="1" noChangeArrowheads="1" noChangeShapeType="1" noTextEdit="1"/>
              </p:cNvSpPr>
              <p:nvPr>
                <p:ph idx="1"/>
              </p:nvPr>
            </p:nvSpPr>
            <p:spPr>
              <a:blipFill>
                <a:blip r:embed="rId3"/>
                <a:stretch>
                  <a:fillRect l="-925" t="-1018"/>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C7594E15-9012-526A-98CA-60AB0F140A09}"/>
              </a:ext>
            </a:extLst>
          </p:cNvPr>
          <p:cNvSpPr>
            <a:spLocks noGrp="1"/>
          </p:cNvSpPr>
          <p:nvPr>
            <p:ph type="sldNum" sz="quarter" idx="12"/>
          </p:nvPr>
        </p:nvSpPr>
        <p:spPr/>
        <p:txBody>
          <a:bodyPr/>
          <a:lstStyle/>
          <a:p>
            <a:fld id="{44E22EE9-B8A0-0641-9265-052CFE9B95A7}" type="slidenum">
              <a:rPr lang="en-GB" altLang="en-US" smtClean="0"/>
              <a:pPr/>
              <a:t>12</a:t>
            </a:fld>
            <a:endParaRPr lang="en-GB" altLang="en-US" dirty="0"/>
          </a:p>
        </p:txBody>
      </p:sp>
    </p:spTree>
    <p:extLst>
      <p:ext uri="{BB962C8B-B14F-4D97-AF65-F5344CB8AC3E}">
        <p14:creationId xmlns:p14="http://schemas.microsoft.com/office/powerpoint/2010/main" val="39383789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7DBC6A6-A513-93B1-B72C-E0928A44F71F}"/>
              </a:ext>
            </a:extLst>
          </p:cNvPr>
          <p:cNvSpPr>
            <a:spLocks noGrp="1"/>
          </p:cNvSpPr>
          <p:nvPr>
            <p:ph type="sldNum" sz="quarter" idx="12"/>
          </p:nvPr>
        </p:nvSpPr>
        <p:spPr/>
        <p:txBody>
          <a:bodyPr/>
          <a:lstStyle/>
          <a:p>
            <a:fld id="{44E22EE9-B8A0-0641-9265-052CFE9B95A7}" type="slidenum">
              <a:rPr lang="en-GB" altLang="en-US" smtClean="0"/>
              <a:pPr/>
              <a:t>13</a:t>
            </a:fld>
            <a:endParaRPr lang="en-GB" altLang="en-US" dirty="0"/>
          </a:p>
        </p:txBody>
      </p:sp>
      <p:graphicFrame>
        <p:nvGraphicFramePr>
          <p:cNvPr id="3" name="Table 7">
            <a:extLst>
              <a:ext uri="{FF2B5EF4-FFF2-40B4-BE49-F238E27FC236}">
                <a16:creationId xmlns:a16="http://schemas.microsoft.com/office/drawing/2014/main" id="{611EECBF-EA52-9EA0-329B-5B5E5BA44BE7}"/>
              </a:ext>
            </a:extLst>
          </p:cNvPr>
          <p:cNvGraphicFramePr>
            <a:graphicFrameLocks noGrp="1"/>
          </p:cNvGraphicFramePr>
          <p:nvPr>
            <p:extLst>
              <p:ext uri="{D42A27DB-BD31-4B8C-83A1-F6EECF244321}">
                <p14:modId xmlns:p14="http://schemas.microsoft.com/office/powerpoint/2010/main" val="1891132743"/>
              </p:ext>
            </p:extLst>
          </p:nvPr>
        </p:nvGraphicFramePr>
        <p:xfrm>
          <a:off x="1516476" y="1787218"/>
          <a:ext cx="4603463" cy="4450080"/>
        </p:xfrm>
        <a:graphic>
          <a:graphicData uri="http://schemas.openxmlformats.org/drawingml/2006/table">
            <a:tbl>
              <a:tblPr>
                <a:tableStyleId>{5C22544A-7EE6-4342-B048-85BDC9FD1C3A}</a:tableStyleId>
              </a:tblPr>
              <a:tblGrid>
                <a:gridCol w="1147078">
                  <a:extLst>
                    <a:ext uri="{9D8B030D-6E8A-4147-A177-3AD203B41FA5}">
                      <a16:colId xmlns:a16="http://schemas.microsoft.com/office/drawing/2014/main" val="3454517217"/>
                    </a:ext>
                  </a:extLst>
                </a:gridCol>
                <a:gridCol w="950506">
                  <a:extLst>
                    <a:ext uri="{9D8B030D-6E8A-4147-A177-3AD203B41FA5}">
                      <a16:colId xmlns:a16="http://schemas.microsoft.com/office/drawing/2014/main" val="1959795726"/>
                    </a:ext>
                  </a:extLst>
                </a:gridCol>
                <a:gridCol w="1123325">
                  <a:extLst>
                    <a:ext uri="{9D8B030D-6E8A-4147-A177-3AD203B41FA5}">
                      <a16:colId xmlns:a16="http://schemas.microsoft.com/office/drawing/2014/main" val="2549682635"/>
                    </a:ext>
                  </a:extLst>
                </a:gridCol>
                <a:gridCol w="1382554">
                  <a:extLst>
                    <a:ext uri="{9D8B030D-6E8A-4147-A177-3AD203B41FA5}">
                      <a16:colId xmlns:a16="http://schemas.microsoft.com/office/drawing/2014/main" val="3264904379"/>
                    </a:ext>
                  </a:extLst>
                </a:gridCol>
              </a:tblGrid>
              <a:tr h="445008">
                <a:tc>
                  <a:txBody>
                    <a:bodyPr/>
                    <a:lstStyle/>
                    <a:p>
                      <a:r>
                        <a:rPr lang="en-GB" sz="1400" b="0" dirty="0">
                          <a:solidFill>
                            <a:schemeClr val="tx1"/>
                          </a:solidFill>
                          <a:latin typeface="Gill Sans MT" panose="020B0502020104020203" pitchFamily="34" charset="77"/>
                        </a:rPr>
                        <a:t>Patient #01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8277957"/>
                  </a:ext>
                </a:extLst>
              </a:tr>
              <a:tr h="445008">
                <a:tc>
                  <a:txBody>
                    <a:bodyPr/>
                    <a:lstStyle/>
                    <a:p>
                      <a:r>
                        <a:rPr lang="en-GB" sz="1400" b="0" dirty="0">
                          <a:solidFill>
                            <a:schemeClr val="tx1"/>
                          </a:solidFill>
                          <a:latin typeface="Gill Sans MT" panose="020B0502020104020203" pitchFamily="34" charset="77"/>
                        </a:rPr>
                        <a:t>Patient #02</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8673769"/>
                  </a:ext>
                </a:extLst>
              </a:tr>
              <a:tr h="445008">
                <a:tc>
                  <a:txBody>
                    <a:bodyPr/>
                    <a:lstStyle/>
                    <a:p>
                      <a:r>
                        <a:rPr lang="en-GB" sz="1400" b="0" dirty="0">
                          <a:solidFill>
                            <a:schemeClr val="tx1"/>
                          </a:solidFill>
                          <a:latin typeface="Gill Sans MT" panose="020B0502020104020203" pitchFamily="34" charset="77"/>
                        </a:rPr>
                        <a:t>Patient #03</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4412788"/>
                  </a:ext>
                </a:extLst>
              </a:tr>
              <a:tr h="445008">
                <a:tc>
                  <a:txBody>
                    <a:bodyPr/>
                    <a:lstStyle/>
                    <a:p>
                      <a:pPr marL="0" marR="0" lvl="0" indent="0" algn="l" defTabSz="761970" rtl="0" eaLnBrk="1" fontAlgn="auto" latinLnBrk="0" hangingPunct="1">
                        <a:lnSpc>
                          <a:spcPct val="100000"/>
                        </a:lnSpc>
                        <a:spcBef>
                          <a:spcPts val="0"/>
                        </a:spcBef>
                        <a:spcAft>
                          <a:spcPts val="0"/>
                        </a:spcAft>
                        <a:buClrTx/>
                        <a:buSzTx/>
                        <a:buFontTx/>
                        <a:buNone/>
                        <a:tabLst/>
                        <a:defRPr/>
                      </a:pPr>
                      <a:r>
                        <a:rPr lang="en-GB" sz="1400" b="0" dirty="0">
                          <a:solidFill>
                            <a:schemeClr val="tx1"/>
                          </a:solidFill>
                          <a:latin typeface="Gill Sans MT" panose="020B0502020104020203" pitchFamily="34" charset="77"/>
                        </a:rPr>
                        <a:t>Patient #04</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6474256"/>
                  </a:ext>
                </a:extLst>
              </a:tr>
              <a:tr h="445008">
                <a:tc>
                  <a:txBody>
                    <a:bodyPr/>
                    <a:lstStyle/>
                    <a:p>
                      <a:pPr marL="0" marR="0" lvl="0" indent="0" algn="l" defTabSz="761970" rtl="0" eaLnBrk="1" fontAlgn="auto" latinLnBrk="0" hangingPunct="1">
                        <a:lnSpc>
                          <a:spcPct val="100000"/>
                        </a:lnSpc>
                        <a:spcBef>
                          <a:spcPts val="0"/>
                        </a:spcBef>
                        <a:spcAft>
                          <a:spcPts val="0"/>
                        </a:spcAft>
                        <a:buClrTx/>
                        <a:buSzTx/>
                        <a:buFontTx/>
                        <a:buNone/>
                        <a:tabLst/>
                        <a:defRPr/>
                      </a:pPr>
                      <a:r>
                        <a:rPr lang="en-GB" sz="1400" b="0" dirty="0">
                          <a:solidFill>
                            <a:schemeClr val="tx1"/>
                          </a:solidFill>
                          <a:latin typeface="Gill Sans MT" panose="020B0502020104020203" pitchFamily="34" charset="77"/>
                        </a:rPr>
                        <a:t>Patient #05</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4291834"/>
                  </a:ext>
                </a:extLst>
              </a:tr>
              <a:tr h="445008">
                <a:tc>
                  <a:txBody>
                    <a:bodyPr/>
                    <a:lstStyle/>
                    <a:p>
                      <a:pPr marL="0" marR="0" lvl="0" indent="0" algn="l" defTabSz="761970" rtl="0" eaLnBrk="1" fontAlgn="auto" latinLnBrk="0" hangingPunct="1">
                        <a:lnSpc>
                          <a:spcPct val="100000"/>
                        </a:lnSpc>
                        <a:spcBef>
                          <a:spcPts val="0"/>
                        </a:spcBef>
                        <a:spcAft>
                          <a:spcPts val="0"/>
                        </a:spcAft>
                        <a:buClrTx/>
                        <a:buSzTx/>
                        <a:buFontTx/>
                        <a:buNone/>
                        <a:tabLst/>
                        <a:defRPr/>
                      </a:pPr>
                      <a:r>
                        <a:rPr lang="en-GB" sz="1400" b="0" dirty="0">
                          <a:solidFill>
                            <a:schemeClr val="tx1"/>
                          </a:solidFill>
                          <a:latin typeface="Gill Sans MT" panose="020B0502020104020203" pitchFamily="34" charset="77"/>
                        </a:rPr>
                        <a:t>Patient #06</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1953551"/>
                  </a:ext>
                </a:extLst>
              </a:tr>
              <a:tr h="445008">
                <a:tc>
                  <a:txBody>
                    <a:bodyPr/>
                    <a:lstStyle/>
                    <a:p>
                      <a:pPr marL="0" marR="0" lvl="0" indent="0" algn="l" defTabSz="761970" rtl="0" eaLnBrk="1" fontAlgn="auto" latinLnBrk="0" hangingPunct="1">
                        <a:lnSpc>
                          <a:spcPct val="100000"/>
                        </a:lnSpc>
                        <a:spcBef>
                          <a:spcPts val="0"/>
                        </a:spcBef>
                        <a:spcAft>
                          <a:spcPts val="0"/>
                        </a:spcAft>
                        <a:buClrTx/>
                        <a:buSzTx/>
                        <a:buFontTx/>
                        <a:buNone/>
                        <a:tabLst/>
                        <a:defRPr/>
                      </a:pPr>
                      <a:r>
                        <a:rPr lang="en-GB" sz="1400" b="0" dirty="0">
                          <a:solidFill>
                            <a:schemeClr val="tx1"/>
                          </a:solidFill>
                          <a:latin typeface="Gill Sans MT" panose="020B0502020104020203" pitchFamily="34" charset="77"/>
                        </a:rPr>
                        <a:t>Patient #07</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4823656"/>
                  </a:ext>
                </a:extLst>
              </a:tr>
              <a:tr h="445008">
                <a:tc>
                  <a:txBody>
                    <a:bodyPr/>
                    <a:lstStyle/>
                    <a:p>
                      <a:pPr marL="0" marR="0" lvl="0" indent="0" algn="l" defTabSz="761970" rtl="0" eaLnBrk="1" fontAlgn="auto" latinLnBrk="0" hangingPunct="1">
                        <a:lnSpc>
                          <a:spcPct val="100000"/>
                        </a:lnSpc>
                        <a:spcBef>
                          <a:spcPts val="0"/>
                        </a:spcBef>
                        <a:spcAft>
                          <a:spcPts val="0"/>
                        </a:spcAft>
                        <a:buClrTx/>
                        <a:buSzTx/>
                        <a:buFontTx/>
                        <a:buNone/>
                        <a:tabLst/>
                        <a:defRPr/>
                      </a:pPr>
                      <a:r>
                        <a:rPr lang="en-GB" sz="1400" b="0" dirty="0">
                          <a:solidFill>
                            <a:schemeClr val="tx1"/>
                          </a:solidFill>
                          <a:latin typeface="Gill Sans MT" panose="020B0502020104020203" pitchFamily="34" charset="77"/>
                        </a:rPr>
                        <a:t>Patient #08</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515287"/>
                  </a:ext>
                </a:extLst>
              </a:tr>
              <a:tr h="445008">
                <a:tc>
                  <a:txBody>
                    <a:bodyPr/>
                    <a:lstStyle/>
                    <a:p>
                      <a:pPr marL="0" marR="0" lvl="0" indent="0" algn="l" defTabSz="761970" rtl="0" eaLnBrk="1" fontAlgn="auto" latinLnBrk="0" hangingPunct="1">
                        <a:lnSpc>
                          <a:spcPct val="100000"/>
                        </a:lnSpc>
                        <a:spcBef>
                          <a:spcPts val="0"/>
                        </a:spcBef>
                        <a:spcAft>
                          <a:spcPts val="0"/>
                        </a:spcAft>
                        <a:buClrTx/>
                        <a:buSzTx/>
                        <a:buFontTx/>
                        <a:buNone/>
                        <a:tabLst/>
                        <a:defRPr/>
                      </a:pPr>
                      <a:r>
                        <a:rPr lang="en-GB" sz="1400" b="0" dirty="0">
                          <a:solidFill>
                            <a:schemeClr val="tx1"/>
                          </a:solidFill>
                          <a:latin typeface="Gill Sans MT" panose="020B0502020104020203" pitchFamily="34" charset="77"/>
                        </a:rPr>
                        <a:t>Patient #09</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1891794"/>
                  </a:ext>
                </a:extLst>
              </a:tr>
              <a:tr h="445008">
                <a:tc>
                  <a:txBody>
                    <a:bodyPr/>
                    <a:lstStyle/>
                    <a:p>
                      <a:pPr marL="0" marR="0" lvl="0" indent="0" algn="l" defTabSz="761970" rtl="0" eaLnBrk="1" fontAlgn="auto" latinLnBrk="0" hangingPunct="1">
                        <a:lnSpc>
                          <a:spcPct val="100000"/>
                        </a:lnSpc>
                        <a:spcBef>
                          <a:spcPts val="0"/>
                        </a:spcBef>
                        <a:spcAft>
                          <a:spcPts val="0"/>
                        </a:spcAft>
                        <a:buClrTx/>
                        <a:buSzTx/>
                        <a:buFontTx/>
                        <a:buNone/>
                        <a:tabLst/>
                        <a:defRPr/>
                      </a:pPr>
                      <a:r>
                        <a:rPr lang="en-GB" sz="1400" b="0" dirty="0">
                          <a:solidFill>
                            <a:schemeClr val="tx1"/>
                          </a:solidFill>
                          <a:latin typeface="Gill Sans MT" panose="020B0502020104020203" pitchFamily="34" charset="77"/>
                        </a:rPr>
                        <a:t>Patient #10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1</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chemeClr val="tx1"/>
                          </a:solidFill>
                          <a:latin typeface="Gill Sans MT" panose="020B0502020104020203" pitchFamily="34" charset="77"/>
                        </a:rPr>
                        <a:t>0</a:t>
                      </a:r>
                    </a:p>
                  </a:txBody>
                  <a:tcPr marL="108000" marR="109728" marT="54864" marB="5486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1192395"/>
                  </a:ext>
                </a:extLst>
              </a:tr>
            </a:tbl>
          </a:graphicData>
        </a:graphic>
      </p:graphicFrame>
      <p:sp>
        <p:nvSpPr>
          <p:cNvPr id="8" name="TextBox 7">
            <a:extLst>
              <a:ext uri="{FF2B5EF4-FFF2-40B4-BE49-F238E27FC236}">
                <a16:creationId xmlns:a16="http://schemas.microsoft.com/office/drawing/2014/main" id="{D88B9A9C-6AF4-C0E3-C611-0D45273E3542}"/>
              </a:ext>
            </a:extLst>
          </p:cNvPr>
          <p:cNvSpPr txBox="1"/>
          <p:nvPr/>
        </p:nvSpPr>
        <p:spPr>
          <a:xfrm>
            <a:off x="2568716" y="1317395"/>
            <a:ext cx="901209" cy="313932"/>
          </a:xfrm>
          <a:prstGeom prst="rect">
            <a:avLst/>
          </a:prstGeom>
          <a:noFill/>
        </p:spPr>
        <p:txBody>
          <a:bodyPr wrap="none" rtlCol="0">
            <a:spAutoFit/>
          </a:bodyPr>
          <a:lstStyle/>
          <a:p>
            <a:r>
              <a:rPr lang="en-GB" sz="1440" b="1" dirty="0"/>
              <a:t>High BP</a:t>
            </a:r>
          </a:p>
        </p:txBody>
      </p:sp>
      <p:sp>
        <p:nvSpPr>
          <p:cNvPr id="9" name="TextBox 8">
            <a:extLst>
              <a:ext uri="{FF2B5EF4-FFF2-40B4-BE49-F238E27FC236}">
                <a16:creationId xmlns:a16="http://schemas.microsoft.com/office/drawing/2014/main" id="{68572C9B-0D8C-BBAD-C9ED-0DD4D3003473}"/>
              </a:ext>
            </a:extLst>
          </p:cNvPr>
          <p:cNvSpPr txBox="1"/>
          <p:nvPr/>
        </p:nvSpPr>
        <p:spPr>
          <a:xfrm>
            <a:off x="3866383" y="1295855"/>
            <a:ext cx="481222" cy="313932"/>
          </a:xfrm>
          <a:prstGeom prst="rect">
            <a:avLst/>
          </a:prstGeom>
          <a:noFill/>
        </p:spPr>
        <p:txBody>
          <a:bodyPr wrap="none" rtlCol="0">
            <a:spAutoFit/>
          </a:bodyPr>
          <a:lstStyle/>
          <a:p>
            <a:r>
              <a:rPr lang="en-GB" sz="1440" b="1" dirty="0"/>
              <a:t>TBI</a:t>
            </a:r>
          </a:p>
        </p:txBody>
      </p:sp>
      <p:sp>
        <p:nvSpPr>
          <p:cNvPr id="12" name="TextBox 11">
            <a:extLst>
              <a:ext uri="{FF2B5EF4-FFF2-40B4-BE49-F238E27FC236}">
                <a16:creationId xmlns:a16="http://schemas.microsoft.com/office/drawing/2014/main" id="{C07FD6EB-4673-C9DE-6E67-7A412FA4BB0E}"/>
              </a:ext>
            </a:extLst>
          </p:cNvPr>
          <p:cNvSpPr txBox="1"/>
          <p:nvPr/>
        </p:nvSpPr>
        <p:spPr>
          <a:xfrm>
            <a:off x="4895044" y="1279885"/>
            <a:ext cx="881973" cy="313932"/>
          </a:xfrm>
          <a:prstGeom prst="rect">
            <a:avLst/>
          </a:prstGeom>
          <a:noFill/>
        </p:spPr>
        <p:txBody>
          <a:bodyPr wrap="none" rtlCol="0">
            <a:spAutoFit/>
          </a:bodyPr>
          <a:lstStyle/>
          <a:p>
            <a:r>
              <a:rPr lang="en-GB" sz="1440" b="1" dirty="0"/>
              <a:t>Disease</a:t>
            </a:r>
          </a:p>
        </p:txBody>
      </p:sp>
      <p:sp>
        <p:nvSpPr>
          <p:cNvPr id="5" name="TextBox 4">
            <a:extLst>
              <a:ext uri="{FF2B5EF4-FFF2-40B4-BE49-F238E27FC236}">
                <a16:creationId xmlns:a16="http://schemas.microsoft.com/office/drawing/2014/main" id="{A0D55F0F-D4E4-F0E1-DC75-87A6CA5D1AC3}"/>
              </a:ext>
            </a:extLst>
          </p:cNvPr>
          <p:cNvSpPr txBox="1"/>
          <p:nvPr/>
        </p:nvSpPr>
        <p:spPr>
          <a:xfrm>
            <a:off x="1512897" y="6358257"/>
            <a:ext cx="4391843" cy="307777"/>
          </a:xfrm>
          <a:prstGeom prst="rect">
            <a:avLst/>
          </a:prstGeom>
          <a:noFill/>
        </p:spPr>
        <p:txBody>
          <a:bodyPr wrap="none" rtlCol="0">
            <a:spAutoFit/>
          </a:bodyPr>
          <a:lstStyle/>
          <a:p>
            <a:r>
              <a:rPr lang="en-GB" sz="1400" dirty="0">
                <a:latin typeface="Gill Sans MT" panose="020B0502020104020203" pitchFamily="34" charset="77"/>
              </a:rPr>
              <a:t>TBI: History of Traumatic Brain Injury; BP: Bloop Pressure </a:t>
            </a:r>
          </a:p>
        </p:txBody>
      </p:sp>
      <p:pic>
        <p:nvPicPr>
          <p:cNvPr id="10" name="Picture 9">
            <a:extLst>
              <a:ext uri="{FF2B5EF4-FFF2-40B4-BE49-F238E27FC236}">
                <a16:creationId xmlns:a16="http://schemas.microsoft.com/office/drawing/2014/main" id="{C9A91307-B835-05E0-0475-0BBAB68521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62947" y="1168393"/>
            <a:ext cx="5313029" cy="339429"/>
          </a:xfrm>
          <a:prstGeom prst="rect">
            <a:avLst/>
          </a:prstGeom>
        </p:spPr>
      </p:pic>
      <p:sp>
        <p:nvSpPr>
          <p:cNvPr id="11" name="TextBox 10">
            <a:extLst>
              <a:ext uri="{FF2B5EF4-FFF2-40B4-BE49-F238E27FC236}">
                <a16:creationId xmlns:a16="http://schemas.microsoft.com/office/drawing/2014/main" id="{35B0DA76-466C-C717-3F04-3F054F244BF1}"/>
              </a:ext>
            </a:extLst>
          </p:cNvPr>
          <p:cNvSpPr txBox="1"/>
          <p:nvPr/>
        </p:nvSpPr>
        <p:spPr>
          <a:xfrm>
            <a:off x="6662947" y="842275"/>
            <a:ext cx="1646605" cy="261610"/>
          </a:xfrm>
          <a:prstGeom prst="rect">
            <a:avLst/>
          </a:prstGeom>
          <a:noFill/>
        </p:spPr>
        <p:txBody>
          <a:bodyPr wrap="none" rtlCol="0">
            <a:spAutoFit/>
          </a:bodyPr>
          <a:lstStyle/>
          <a:p>
            <a:r>
              <a:rPr lang="en-GB" sz="1100" dirty="0">
                <a:latin typeface="Gill Sans MT" panose="020B0502020104020203" pitchFamily="34" charset="77"/>
              </a:rPr>
              <a:t>P (disease =1) given [0,1]:</a:t>
            </a:r>
          </a:p>
        </p:txBody>
      </p:sp>
      <p:sp>
        <p:nvSpPr>
          <p:cNvPr id="13" name="Title 12">
            <a:extLst>
              <a:ext uri="{FF2B5EF4-FFF2-40B4-BE49-F238E27FC236}">
                <a16:creationId xmlns:a16="http://schemas.microsoft.com/office/drawing/2014/main" id="{470BA2F6-0B7E-A800-BAAE-6DAD1624CEA4}"/>
              </a:ext>
            </a:extLst>
          </p:cNvPr>
          <p:cNvSpPr>
            <a:spLocks noGrp="1"/>
          </p:cNvSpPr>
          <p:nvPr>
            <p:ph type="title"/>
          </p:nvPr>
        </p:nvSpPr>
        <p:spPr/>
        <p:txBody>
          <a:bodyPr/>
          <a:lstStyle/>
          <a:p>
            <a:r>
              <a:rPr lang="en-GB" dirty="0"/>
              <a:t>Naïve Bayes: example</a:t>
            </a:r>
          </a:p>
        </p:txBody>
      </p:sp>
    </p:spTree>
    <p:extLst>
      <p:ext uri="{BB962C8B-B14F-4D97-AF65-F5344CB8AC3E}">
        <p14:creationId xmlns:p14="http://schemas.microsoft.com/office/powerpoint/2010/main" val="26762834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AE53C-CF8B-56BF-BF45-1DA7EFE879D7}"/>
              </a:ext>
            </a:extLst>
          </p:cNvPr>
          <p:cNvSpPr>
            <a:spLocks noGrp="1"/>
          </p:cNvSpPr>
          <p:nvPr>
            <p:ph type="title"/>
          </p:nvPr>
        </p:nvSpPr>
        <p:spPr/>
        <p:txBody>
          <a:bodyPr/>
          <a:lstStyle/>
          <a:p>
            <a:r>
              <a:rPr lang="en-GB" dirty="0"/>
              <a:t>Algorithm for Naïve Bayes (with binary features)</a:t>
            </a:r>
          </a:p>
        </p:txBody>
      </p:sp>
      <p:sp>
        <p:nvSpPr>
          <p:cNvPr id="4" name="Slide Number Placeholder 3">
            <a:extLst>
              <a:ext uri="{FF2B5EF4-FFF2-40B4-BE49-F238E27FC236}">
                <a16:creationId xmlns:a16="http://schemas.microsoft.com/office/drawing/2014/main" id="{8C5E69D9-151B-5315-7C61-6C0264420E8E}"/>
              </a:ext>
            </a:extLst>
          </p:cNvPr>
          <p:cNvSpPr>
            <a:spLocks noGrp="1"/>
          </p:cNvSpPr>
          <p:nvPr>
            <p:ph type="sldNum" sz="quarter" idx="12"/>
          </p:nvPr>
        </p:nvSpPr>
        <p:spPr/>
        <p:txBody>
          <a:bodyPr/>
          <a:lstStyle/>
          <a:p>
            <a:fld id="{44E22EE9-B8A0-0641-9265-052CFE9B95A7}" type="slidenum">
              <a:rPr lang="en-GB" altLang="en-US" smtClean="0"/>
              <a:pPr/>
              <a:t>14</a:t>
            </a:fld>
            <a:endParaRPr lang="en-GB" altLang="en-US" dirty="0"/>
          </a:p>
        </p:txBody>
      </p:sp>
      <p:pic>
        <p:nvPicPr>
          <p:cNvPr id="6" name="Picture 5" descr="Text&#10;&#10;Description automatically generated">
            <a:extLst>
              <a:ext uri="{FF2B5EF4-FFF2-40B4-BE49-F238E27FC236}">
                <a16:creationId xmlns:a16="http://schemas.microsoft.com/office/drawing/2014/main" id="{6B1E83DE-CBB7-BB49-1A75-ADE563030E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7834" y="1441579"/>
            <a:ext cx="6461760" cy="2956560"/>
          </a:xfrm>
          <a:prstGeom prst="rect">
            <a:avLst/>
          </a:prstGeom>
        </p:spPr>
      </p:pic>
    </p:spTree>
    <p:extLst>
      <p:ext uri="{BB962C8B-B14F-4D97-AF65-F5344CB8AC3E}">
        <p14:creationId xmlns:p14="http://schemas.microsoft.com/office/powerpoint/2010/main" val="143630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92FB5-4D93-8A59-23FC-4C4C501C494B}"/>
              </a:ext>
            </a:extLst>
          </p:cNvPr>
          <p:cNvSpPr>
            <a:spLocks noGrp="1"/>
          </p:cNvSpPr>
          <p:nvPr>
            <p:ph type="title"/>
          </p:nvPr>
        </p:nvSpPr>
        <p:spPr/>
        <p:txBody>
          <a:bodyPr/>
          <a:lstStyle/>
          <a:p>
            <a:r>
              <a:rPr lang="en-GB" dirty="0"/>
              <a:t>What about continuous variables?</a:t>
            </a:r>
          </a:p>
        </p:txBody>
      </p:sp>
      <p:sp>
        <p:nvSpPr>
          <p:cNvPr id="3" name="Content Placeholder 2">
            <a:extLst>
              <a:ext uri="{FF2B5EF4-FFF2-40B4-BE49-F238E27FC236}">
                <a16:creationId xmlns:a16="http://schemas.microsoft.com/office/drawing/2014/main" id="{6ED599D5-B4CC-0293-85E6-825FD2A28DEE}"/>
              </a:ext>
            </a:extLst>
          </p:cNvPr>
          <p:cNvSpPr>
            <a:spLocks noGrp="1"/>
          </p:cNvSpPr>
          <p:nvPr>
            <p:ph idx="1"/>
          </p:nvPr>
        </p:nvSpPr>
        <p:spPr/>
        <p:txBody>
          <a:bodyPr/>
          <a:lstStyle/>
          <a:p>
            <a:r>
              <a:rPr lang="en-GB" dirty="0">
                <a:effectLst/>
              </a:rPr>
              <a:t> </a:t>
            </a:r>
            <a:r>
              <a:rPr lang="en-GB" dirty="0"/>
              <a:t>For real-valued features, we typically model them using a Gaussian (normal) distribution:</a:t>
            </a:r>
          </a:p>
          <a:p>
            <a:endParaRPr lang="en-GB" dirty="0"/>
          </a:p>
          <a:p>
            <a:endParaRPr lang="en-GB" dirty="0">
              <a:effectLst/>
            </a:endParaRPr>
          </a:p>
          <a:p>
            <a:endParaRPr lang="en-GB" dirty="0"/>
          </a:p>
        </p:txBody>
      </p:sp>
      <p:sp>
        <p:nvSpPr>
          <p:cNvPr id="4" name="Slide Number Placeholder 3">
            <a:extLst>
              <a:ext uri="{FF2B5EF4-FFF2-40B4-BE49-F238E27FC236}">
                <a16:creationId xmlns:a16="http://schemas.microsoft.com/office/drawing/2014/main" id="{507FF6B8-305B-439D-912F-BC524509883F}"/>
              </a:ext>
            </a:extLst>
          </p:cNvPr>
          <p:cNvSpPr>
            <a:spLocks noGrp="1"/>
          </p:cNvSpPr>
          <p:nvPr>
            <p:ph type="sldNum" sz="quarter" idx="12"/>
          </p:nvPr>
        </p:nvSpPr>
        <p:spPr/>
        <p:txBody>
          <a:bodyPr/>
          <a:lstStyle/>
          <a:p>
            <a:fld id="{44E22EE9-B8A0-0641-9265-052CFE9B95A7}" type="slidenum">
              <a:rPr lang="en-GB" altLang="en-US" smtClean="0"/>
              <a:pPr/>
              <a:t>15</a:t>
            </a:fld>
            <a:endParaRPr lang="en-GB" altLang="en-US" dirty="0"/>
          </a:p>
        </p:txBody>
      </p:sp>
      <p:pic>
        <p:nvPicPr>
          <p:cNvPr id="6" name="Picture 5" descr="Text&#10;&#10;Description automatically generated with low confidence">
            <a:extLst>
              <a:ext uri="{FF2B5EF4-FFF2-40B4-BE49-F238E27FC236}">
                <a16:creationId xmlns:a16="http://schemas.microsoft.com/office/drawing/2014/main" id="{10C3CF87-3D6A-C9CA-61E9-EEE8B11698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2701" y="2824133"/>
            <a:ext cx="1981200" cy="487680"/>
          </a:xfrm>
          <a:prstGeom prst="rect">
            <a:avLst/>
          </a:prstGeom>
        </p:spPr>
      </p:pic>
      <p:pic>
        <p:nvPicPr>
          <p:cNvPr id="8" name="Picture 7">
            <a:extLst>
              <a:ext uri="{FF2B5EF4-FFF2-40B4-BE49-F238E27FC236}">
                <a16:creationId xmlns:a16="http://schemas.microsoft.com/office/drawing/2014/main" id="{A006A8CC-DCBD-1725-E47D-6962FE2B17A9}"/>
              </a:ext>
            </a:extLst>
          </p:cNvPr>
          <p:cNvPicPr>
            <a:picLocks noChangeAspect="1"/>
          </p:cNvPicPr>
          <p:nvPr/>
        </p:nvPicPr>
        <p:blipFill rotWithShape="1">
          <a:blip r:embed="rId3">
            <a:extLst>
              <a:ext uri="{28A0092B-C50C-407E-A947-70E740481C1C}">
                <a14:useLocalDpi xmlns:a14="http://schemas.microsoft.com/office/drawing/2010/main" val="0"/>
              </a:ext>
            </a:extLst>
          </a:blip>
          <a:srcRect r="75912" b="50000"/>
          <a:stretch/>
        </p:blipFill>
        <p:spPr>
          <a:xfrm>
            <a:off x="3417302" y="2948706"/>
            <a:ext cx="2246650" cy="363108"/>
          </a:xfrm>
          <a:prstGeom prst="rect">
            <a:avLst/>
          </a:prstGeom>
        </p:spPr>
      </p:pic>
      <p:grpSp>
        <p:nvGrpSpPr>
          <p:cNvPr id="13" name="Group 12">
            <a:extLst>
              <a:ext uri="{FF2B5EF4-FFF2-40B4-BE49-F238E27FC236}">
                <a16:creationId xmlns:a16="http://schemas.microsoft.com/office/drawing/2014/main" id="{D7B7A055-FCAC-CF8A-86F8-6CCA83277BB6}"/>
              </a:ext>
            </a:extLst>
          </p:cNvPr>
          <p:cNvGrpSpPr/>
          <p:nvPr/>
        </p:nvGrpSpPr>
        <p:grpSpPr>
          <a:xfrm>
            <a:off x="1476971" y="3685228"/>
            <a:ext cx="7925009" cy="726215"/>
            <a:chOff x="722809" y="3071023"/>
            <a:chExt cx="6604174" cy="605179"/>
          </a:xfrm>
        </p:grpSpPr>
        <p:pic>
          <p:nvPicPr>
            <p:cNvPr id="10" name="Picture 9">
              <a:extLst>
                <a:ext uri="{FF2B5EF4-FFF2-40B4-BE49-F238E27FC236}">
                  <a16:creationId xmlns:a16="http://schemas.microsoft.com/office/drawing/2014/main" id="{F4B76BED-E8E0-1819-9CB3-7237B34548C5}"/>
                </a:ext>
              </a:extLst>
            </p:cNvPr>
            <p:cNvPicPr>
              <a:picLocks noChangeAspect="1"/>
            </p:cNvPicPr>
            <p:nvPr/>
          </p:nvPicPr>
          <p:blipFill rotWithShape="1">
            <a:blip r:embed="rId3">
              <a:extLst>
                <a:ext uri="{28A0092B-C50C-407E-A947-70E740481C1C}">
                  <a14:useLocalDpi xmlns:a14="http://schemas.microsoft.com/office/drawing/2010/main" val="0"/>
                </a:ext>
              </a:extLst>
            </a:blip>
            <a:srcRect l="24986"/>
            <a:stretch/>
          </p:blipFill>
          <p:spPr>
            <a:xfrm>
              <a:off x="722809" y="3071023"/>
              <a:ext cx="5830416" cy="605179"/>
            </a:xfrm>
            <a:prstGeom prst="rect">
              <a:avLst/>
            </a:prstGeom>
          </p:spPr>
        </p:pic>
        <p:pic>
          <p:nvPicPr>
            <p:cNvPr id="12" name="Picture 11">
              <a:extLst>
                <a:ext uri="{FF2B5EF4-FFF2-40B4-BE49-F238E27FC236}">
                  <a16:creationId xmlns:a16="http://schemas.microsoft.com/office/drawing/2014/main" id="{C82EFA8A-D7CD-E67D-D946-EF2FE65A13C6}"/>
                </a:ext>
              </a:extLst>
            </p:cNvPr>
            <p:cNvPicPr>
              <a:picLocks noChangeAspect="1"/>
            </p:cNvPicPr>
            <p:nvPr/>
          </p:nvPicPr>
          <p:blipFill rotWithShape="1">
            <a:blip r:embed="rId3">
              <a:extLst>
                <a:ext uri="{28A0092B-C50C-407E-A947-70E740481C1C}">
                  <a14:useLocalDpi xmlns:a14="http://schemas.microsoft.com/office/drawing/2010/main" val="0"/>
                </a:ext>
              </a:extLst>
            </a:blip>
            <a:srcRect l="1391" t="53858" r="88177" b="11204"/>
            <a:stretch/>
          </p:blipFill>
          <p:spPr>
            <a:xfrm>
              <a:off x="6516216" y="3150119"/>
              <a:ext cx="810767" cy="211437"/>
            </a:xfrm>
            <a:prstGeom prst="rect">
              <a:avLst/>
            </a:prstGeom>
          </p:spPr>
        </p:pic>
      </p:grpSp>
    </p:spTree>
    <p:extLst>
      <p:ext uri="{BB962C8B-B14F-4D97-AF65-F5344CB8AC3E}">
        <p14:creationId xmlns:p14="http://schemas.microsoft.com/office/powerpoint/2010/main" val="24411568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69958-3866-3CB1-357C-B593F7011CF5}"/>
              </a:ext>
            </a:extLst>
          </p:cNvPr>
          <p:cNvSpPr>
            <a:spLocks noGrp="1"/>
          </p:cNvSpPr>
          <p:nvPr>
            <p:ph type="title"/>
          </p:nvPr>
        </p:nvSpPr>
        <p:spPr/>
        <p:txBody>
          <a:bodyPr/>
          <a:lstStyle/>
          <a:p>
            <a:r>
              <a:rPr lang="en-GB" dirty="0"/>
              <a:t>Bayesian decision methods </a:t>
            </a:r>
          </a:p>
        </p:txBody>
      </p:sp>
      <p:sp>
        <p:nvSpPr>
          <p:cNvPr id="3" name="Content Placeholder 2">
            <a:extLst>
              <a:ext uri="{FF2B5EF4-FFF2-40B4-BE49-F238E27FC236}">
                <a16:creationId xmlns:a16="http://schemas.microsoft.com/office/drawing/2014/main" id="{A7009983-A9A5-CB4C-2410-58B59F833098}"/>
              </a:ext>
            </a:extLst>
          </p:cNvPr>
          <p:cNvSpPr>
            <a:spLocks noGrp="1"/>
          </p:cNvSpPr>
          <p:nvPr>
            <p:ph idx="1"/>
          </p:nvPr>
        </p:nvSpPr>
        <p:spPr/>
        <p:txBody>
          <a:bodyPr/>
          <a:lstStyle/>
          <a:p>
            <a:r>
              <a:rPr lang="en-GB" dirty="0"/>
              <a:t>Suppose we have an input vector </a:t>
            </a:r>
            <a:r>
              <a:rPr lang="en-GB" dirty="0">
                <a:solidFill>
                  <a:srgbClr val="FF0000"/>
                </a:solidFill>
              </a:rPr>
              <a:t>x</a:t>
            </a:r>
            <a:r>
              <a:rPr lang="en-GB" dirty="0"/>
              <a:t> with a corresponding vector </a:t>
            </a:r>
            <a:r>
              <a:rPr lang="en-GB" dirty="0">
                <a:solidFill>
                  <a:srgbClr val="0070C0"/>
                </a:solidFill>
              </a:rPr>
              <a:t>y</a:t>
            </a:r>
            <a:r>
              <a:rPr lang="en-GB" dirty="0"/>
              <a:t> of target variables.</a:t>
            </a:r>
          </a:p>
          <a:p>
            <a:endParaRPr lang="en-GB" dirty="0"/>
          </a:p>
          <a:p>
            <a:endParaRPr lang="en-GB" dirty="0"/>
          </a:p>
          <a:p>
            <a:endParaRPr lang="en-GB" dirty="0"/>
          </a:p>
          <a:p>
            <a:endParaRPr lang="en-GB" dirty="0"/>
          </a:p>
          <a:p>
            <a:r>
              <a:rPr lang="en-GB" dirty="0"/>
              <a:t>Our goal is to predict y given a new value for x. </a:t>
            </a:r>
          </a:p>
          <a:p>
            <a:r>
              <a:rPr lang="en-GB" dirty="0"/>
              <a:t>For a regression problem, y will contain continuous (real-valued) variables, and for a classification problem, y will represent class labels. </a:t>
            </a:r>
          </a:p>
        </p:txBody>
      </p:sp>
      <p:sp>
        <p:nvSpPr>
          <p:cNvPr id="4" name="Slide Number Placeholder 3">
            <a:extLst>
              <a:ext uri="{FF2B5EF4-FFF2-40B4-BE49-F238E27FC236}">
                <a16:creationId xmlns:a16="http://schemas.microsoft.com/office/drawing/2014/main" id="{27F33239-9A6F-1892-7819-4FE5FC5F6571}"/>
              </a:ext>
            </a:extLst>
          </p:cNvPr>
          <p:cNvSpPr>
            <a:spLocks noGrp="1"/>
          </p:cNvSpPr>
          <p:nvPr>
            <p:ph type="sldNum" sz="quarter" idx="12"/>
          </p:nvPr>
        </p:nvSpPr>
        <p:spPr/>
        <p:txBody>
          <a:bodyPr/>
          <a:lstStyle/>
          <a:p>
            <a:fld id="{44E22EE9-B8A0-0641-9265-052CFE9B95A7}" type="slidenum">
              <a:rPr lang="en-GB" altLang="en-US" smtClean="0"/>
              <a:pPr/>
              <a:t>16</a:t>
            </a:fld>
            <a:endParaRPr lang="en-GB" altLang="en-US" dirty="0"/>
          </a:p>
        </p:txBody>
      </p:sp>
    </p:spTree>
    <p:extLst>
      <p:ext uri="{BB962C8B-B14F-4D97-AF65-F5344CB8AC3E}">
        <p14:creationId xmlns:p14="http://schemas.microsoft.com/office/powerpoint/2010/main" val="1358649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C8F58-B7F7-30CF-319D-03BD61153872}"/>
              </a:ext>
            </a:extLst>
          </p:cNvPr>
          <p:cNvSpPr>
            <a:spLocks noGrp="1"/>
          </p:cNvSpPr>
          <p:nvPr>
            <p:ph type="title"/>
          </p:nvPr>
        </p:nvSpPr>
        <p:spPr/>
        <p:txBody>
          <a:bodyPr/>
          <a:lstStyle/>
          <a:p>
            <a:r>
              <a:rPr lang="en-GB" dirty="0"/>
              <a:t>Joint probability</a:t>
            </a:r>
          </a:p>
        </p:txBody>
      </p:sp>
      <p:sp>
        <p:nvSpPr>
          <p:cNvPr id="3" name="Content Placeholder 2">
            <a:extLst>
              <a:ext uri="{FF2B5EF4-FFF2-40B4-BE49-F238E27FC236}">
                <a16:creationId xmlns:a16="http://schemas.microsoft.com/office/drawing/2014/main" id="{CBC347F6-78A7-5A81-9E2E-4B17B96F9744}"/>
              </a:ext>
            </a:extLst>
          </p:cNvPr>
          <p:cNvSpPr>
            <a:spLocks noGrp="1"/>
          </p:cNvSpPr>
          <p:nvPr>
            <p:ph idx="1"/>
          </p:nvPr>
        </p:nvSpPr>
        <p:spPr/>
        <p:txBody>
          <a:bodyPr/>
          <a:lstStyle/>
          <a:p>
            <a:r>
              <a:rPr lang="en-GB" dirty="0"/>
              <a:t>The joint probability distribution p(</a:t>
            </a:r>
            <a:r>
              <a:rPr lang="en-GB" dirty="0" err="1"/>
              <a:t>x,y</a:t>
            </a:r>
            <a:r>
              <a:rPr lang="en-GB" dirty="0"/>
              <a:t>) provides a summary of the uncertainty associated with these variables. </a:t>
            </a:r>
          </a:p>
          <a:p>
            <a:r>
              <a:rPr lang="en-GB" dirty="0"/>
              <a:t>Determining p(</a:t>
            </a:r>
            <a:r>
              <a:rPr lang="en-GB" dirty="0" err="1"/>
              <a:t>x,y</a:t>
            </a:r>
            <a:r>
              <a:rPr lang="en-GB" dirty="0"/>
              <a:t>) from a set of training data is also referred to as </a:t>
            </a:r>
            <a:r>
              <a:rPr lang="en-GB" i="1" dirty="0">
                <a:solidFill>
                  <a:srgbClr val="FF0000"/>
                </a:solidFill>
              </a:rPr>
              <a:t>inference</a:t>
            </a:r>
            <a:r>
              <a:rPr lang="en-GB" dirty="0"/>
              <a:t>. </a:t>
            </a:r>
          </a:p>
          <a:p>
            <a:endParaRPr lang="en-GB" dirty="0"/>
          </a:p>
          <a:p>
            <a:r>
              <a:rPr lang="en-GB" dirty="0"/>
              <a:t>Consider a medical diagnosis example: We have performed an MRI scan of a patient to determine whether the patient has a specific neurological disorder. </a:t>
            </a:r>
          </a:p>
        </p:txBody>
      </p:sp>
      <p:sp>
        <p:nvSpPr>
          <p:cNvPr id="4" name="Slide Number Placeholder 3">
            <a:extLst>
              <a:ext uri="{FF2B5EF4-FFF2-40B4-BE49-F238E27FC236}">
                <a16:creationId xmlns:a16="http://schemas.microsoft.com/office/drawing/2014/main" id="{09ADA728-D250-0978-F07B-707C5EDB51CD}"/>
              </a:ext>
            </a:extLst>
          </p:cNvPr>
          <p:cNvSpPr>
            <a:spLocks noGrp="1"/>
          </p:cNvSpPr>
          <p:nvPr>
            <p:ph type="sldNum" sz="quarter" idx="12"/>
          </p:nvPr>
        </p:nvSpPr>
        <p:spPr/>
        <p:txBody>
          <a:bodyPr/>
          <a:lstStyle/>
          <a:p>
            <a:fld id="{44E22EE9-B8A0-0641-9265-052CFE9B95A7}" type="slidenum">
              <a:rPr lang="en-GB" altLang="en-US" smtClean="0"/>
              <a:pPr/>
              <a:t>17</a:t>
            </a:fld>
            <a:endParaRPr lang="en-GB" altLang="en-US" dirty="0"/>
          </a:p>
        </p:txBody>
      </p:sp>
    </p:spTree>
    <p:extLst>
      <p:ext uri="{BB962C8B-B14F-4D97-AF65-F5344CB8AC3E}">
        <p14:creationId xmlns:p14="http://schemas.microsoft.com/office/powerpoint/2010/main" val="3288880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01E18-5DB1-4840-D085-0C690508C581}"/>
              </a:ext>
            </a:extLst>
          </p:cNvPr>
          <p:cNvSpPr>
            <a:spLocks noGrp="1"/>
          </p:cNvSpPr>
          <p:nvPr>
            <p:ph type="title"/>
          </p:nvPr>
        </p:nvSpPr>
        <p:spPr/>
        <p:txBody>
          <a:bodyPr/>
          <a:lstStyle/>
          <a:p>
            <a:r>
              <a:rPr lang="en-GB" dirty="0"/>
              <a:t>Medical diagnosis example</a:t>
            </a:r>
          </a:p>
        </p:txBody>
      </p:sp>
      <p:sp>
        <p:nvSpPr>
          <p:cNvPr id="3" name="Content Placeholder 2">
            <a:extLst>
              <a:ext uri="{FF2B5EF4-FFF2-40B4-BE49-F238E27FC236}">
                <a16:creationId xmlns:a16="http://schemas.microsoft.com/office/drawing/2014/main" id="{9E7F7278-E18A-E27D-807D-0B306AC87C0F}"/>
              </a:ext>
            </a:extLst>
          </p:cNvPr>
          <p:cNvSpPr>
            <a:spLocks noGrp="1"/>
          </p:cNvSpPr>
          <p:nvPr>
            <p:ph idx="1"/>
          </p:nvPr>
        </p:nvSpPr>
        <p:spPr/>
        <p:txBody>
          <a:bodyPr/>
          <a:lstStyle/>
          <a:p>
            <a:r>
              <a:rPr lang="en-GB" dirty="0"/>
              <a:t>In the previous example, the input vector </a:t>
            </a:r>
            <a:r>
              <a:rPr lang="en-GB" dirty="0">
                <a:solidFill>
                  <a:srgbClr val="FF0000"/>
                </a:solidFill>
              </a:rPr>
              <a:t>x</a:t>
            </a:r>
            <a:r>
              <a:rPr lang="en-GB" dirty="0"/>
              <a:t> is the set of pixels (or engineered features) from the scan.</a:t>
            </a:r>
          </a:p>
          <a:p>
            <a:r>
              <a:rPr lang="en-GB" dirty="0">
                <a:solidFill>
                  <a:srgbClr val="FF0000"/>
                </a:solidFill>
              </a:rPr>
              <a:t>y</a:t>
            </a:r>
            <a:r>
              <a:rPr lang="en-GB" dirty="0"/>
              <a:t> will represent the presence of the disease; for the presence of the disease, we show it, for example, with </a:t>
            </a:r>
            <a:r>
              <a:rPr lang="en-GB" dirty="0">
                <a:latin typeface="Herculanum" panose="02000505000000020004" pitchFamily="2" charset="77"/>
              </a:rPr>
              <a:t>C</a:t>
            </a:r>
            <a:r>
              <a:rPr lang="en-GB" baseline="-25000" dirty="0">
                <a:latin typeface="Herculanum" panose="02000505000000020004" pitchFamily="2" charset="77"/>
              </a:rPr>
              <a:t>1</a:t>
            </a:r>
            <a:r>
              <a:rPr lang="en-GB" dirty="0"/>
              <a:t>, and for the absence of the disease, we note it as </a:t>
            </a:r>
            <a:r>
              <a:rPr lang="en-GB" dirty="0">
                <a:latin typeface="Herculanum" panose="02000505000000020004" pitchFamily="2" charset="77"/>
              </a:rPr>
              <a:t>C</a:t>
            </a:r>
            <a:r>
              <a:rPr lang="en-GB" baseline="-25000" dirty="0">
                <a:latin typeface="Herculanum" panose="02000505000000020004" pitchFamily="2" charset="77"/>
              </a:rPr>
              <a:t>2.</a:t>
            </a:r>
          </a:p>
          <a:p>
            <a:r>
              <a:rPr lang="en-GB" dirty="0"/>
              <a:t>The general inference problem then involves determining the join distribution p(x, </a:t>
            </a:r>
            <a:r>
              <a:rPr lang="en-GB" dirty="0">
                <a:latin typeface="Herculanum" panose="02000505000000020004" pitchFamily="2" charset="77"/>
              </a:rPr>
              <a:t>C</a:t>
            </a:r>
            <a:r>
              <a:rPr lang="en-GB" baseline="-25000" dirty="0">
                <a:latin typeface="Herculanum" panose="02000505000000020004" pitchFamily="2" charset="77"/>
              </a:rPr>
              <a:t>k</a:t>
            </a:r>
            <a:r>
              <a:rPr lang="en-GB" dirty="0"/>
              <a:t>)</a:t>
            </a:r>
          </a:p>
        </p:txBody>
      </p:sp>
      <p:sp>
        <p:nvSpPr>
          <p:cNvPr id="4" name="Slide Number Placeholder 3">
            <a:extLst>
              <a:ext uri="{FF2B5EF4-FFF2-40B4-BE49-F238E27FC236}">
                <a16:creationId xmlns:a16="http://schemas.microsoft.com/office/drawing/2014/main" id="{74248405-4E18-2CFE-F213-9B401CD1F1B7}"/>
              </a:ext>
            </a:extLst>
          </p:cNvPr>
          <p:cNvSpPr>
            <a:spLocks noGrp="1"/>
          </p:cNvSpPr>
          <p:nvPr>
            <p:ph type="sldNum" sz="quarter" idx="12"/>
          </p:nvPr>
        </p:nvSpPr>
        <p:spPr/>
        <p:txBody>
          <a:bodyPr/>
          <a:lstStyle/>
          <a:p>
            <a:fld id="{44E22EE9-B8A0-0641-9265-052CFE9B95A7}" type="slidenum">
              <a:rPr lang="en-GB" altLang="en-US" smtClean="0"/>
              <a:pPr/>
              <a:t>18</a:t>
            </a:fld>
            <a:endParaRPr lang="en-GB" altLang="en-US" dirty="0"/>
          </a:p>
        </p:txBody>
      </p:sp>
    </p:spTree>
    <p:extLst>
      <p:ext uri="{BB962C8B-B14F-4D97-AF65-F5344CB8AC3E}">
        <p14:creationId xmlns:p14="http://schemas.microsoft.com/office/powerpoint/2010/main" val="41683748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3F5C6-22EB-3E6A-D49A-78BAEC398D02}"/>
              </a:ext>
            </a:extLst>
          </p:cNvPr>
          <p:cNvSpPr>
            <a:spLocks noGrp="1"/>
          </p:cNvSpPr>
          <p:nvPr>
            <p:ph type="title"/>
          </p:nvPr>
        </p:nvSpPr>
        <p:spPr/>
        <p:txBody>
          <a:bodyPr/>
          <a:lstStyle/>
          <a:p>
            <a:r>
              <a:rPr lang="en-GB" dirty="0"/>
              <a:t>Example- applying Bayesian theorem </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06FB4422-6BFF-2859-EB1C-E119C7AFB4E1}"/>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𝒞</m:t>
                              </m:r>
                            </m:e>
                            <m:sub>
                              <m:r>
                                <a:rPr lang="en-GB" b="0" i="1" smtClean="0">
                                  <a:latin typeface="Cambria Math" panose="02040503050406030204" pitchFamily="18" charset="0"/>
                                  <a:ea typeface="Cambria Math" panose="02040503050406030204" pitchFamily="18" charset="0"/>
                                </a:rPr>
                                <m:t>𝓀</m:t>
                              </m:r>
                            </m:sub>
                          </m:sSub>
                        </m:e>
                        <m:e>
                          <m:r>
                            <a:rPr lang="en-GB" b="0" i="1" smtClean="0">
                              <a:latin typeface="Cambria Math" panose="02040503050406030204" pitchFamily="18" charset="0"/>
                            </a:rPr>
                            <m:t>𝑥</m:t>
                          </m:r>
                        </m:e>
                      </m:d>
                      <m:r>
                        <a:rPr lang="en-GB" b="0" i="0"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e>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𝒞</m:t>
                                  </m:r>
                                </m:e>
                                <m:sub>
                                  <m:r>
                                    <a:rPr lang="en-GB" i="1">
                                      <a:latin typeface="Cambria Math" panose="02040503050406030204" pitchFamily="18" charset="0"/>
                                      <a:ea typeface="Cambria Math" panose="02040503050406030204" pitchFamily="18" charset="0"/>
                                    </a:rPr>
                                    <m:t>𝓀</m:t>
                                  </m:r>
                                </m:sub>
                              </m:sSub>
                            </m:e>
                          </m:d>
                          <m:r>
                            <a:rPr lang="en-GB" b="0" i="1" smtClean="0">
                              <a:latin typeface="Cambria Math" panose="02040503050406030204" pitchFamily="18" charset="0"/>
                            </a:rPr>
                            <m:t> </m:t>
                          </m:r>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𝒞</m:t>
                                  </m:r>
                                </m:e>
                                <m:sub>
                                  <m:r>
                                    <a:rPr lang="en-GB" i="1">
                                      <a:latin typeface="Cambria Math" panose="02040503050406030204" pitchFamily="18" charset="0"/>
                                      <a:ea typeface="Cambria Math" panose="02040503050406030204" pitchFamily="18" charset="0"/>
                                    </a:rPr>
                                    <m:t>𝓀</m:t>
                                  </m:r>
                                </m:sub>
                              </m:sSub>
                            </m:e>
                          </m:d>
                        </m:num>
                        <m:den>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𝑥</m:t>
                              </m:r>
                            </m:e>
                          </m:d>
                        </m:den>
                      </m:f>
                    </m:oMath>
                  </m:oMathPara>
                </a14:m>
                <a:endParaRPr lang="en-GB" dirty="0"/>
              </a:p>
              <a:p>
                <a:pPr marL="0" indent="0">
                  <a:buNone/>
                </a:pPr>
                <a:endParaRPr lang="en-GB" dirty="0"/>
              </a:p>
              <a:p>
                <a:pPr marL="0" indent="0">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i="1">
                                <a:latin typeface="Cambria Math" panose="02040503050406030204" pitchFamily="18" charset="0"/>
                              </a:rPr>
                            </m:ctrlPr>
                          </m:sSubPr>
                          <m:e>
                            <m:r>
                              <a:rPr lang="en-GB" i="1">
                                <a:latin typeface="Cambria Math" panose="02040503050406030204" pitchFamily="18" charset="0"/>
                                <a:ea typeface="Cambria Math" panose="02040503050406030204" pitchFamily="18" charset="0"/>
                              </a:rPr>
                              <m:t>𝒞</m:t>
                            </m:r>
                          </m:e>
                          <m:sub>
                            <m:r>
                              <a:rPr lang="en-GB" i="1">
                                <a:latin typeface="Cambria Math" panose="02040503050406030204" pitchFamily="18" charset="0"/>
                                <a:ea typeface="Cambria Math" panose="02040503050406030204" pitchFamily="18" charset="0"/>
                              </a:rPr>
                              <m:t>𝓀</m:t>
                            </m:r>
                          </m:sub>
                        </m:sSub>
                      </m:e>
                    </m:d>
                  </m:oMath>
                </a14:m>
                <a:r>
                  <a:rPr lang="en-GB" dirty="0"/>
                  <a:t> is our prior</a:t>
                </a:r>
              </a:p>
              <a:p>
                <a:pPr marL="0" indent="0">
                  <a:buNone/>
                </a:pPr>
                <a14:m>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ea typeface="Cambria Math" panose="02040503050406030204" pitchFamily="18" charset="0"/>
                              </a:rPr>
                              <m:t>𝒞</m:t>
                            </m:r>
                          </m:e>
                          <m:sub>
                            <m:r>
                              <a:rPr lang="en-GB" b="0" i="1" smtClean="0">
                                <a:latin typeface="Cambria Math" panose="02040503050406030204" pitchFamily="18" charset="0"/>
                                <a:ea typeface="Cambria Math" panose="02040503050406030204" pitchFamily="18" charset="0"/>
                              </a:rPr>
                              <m:t>𝓀</m:t>
                            </m:r>
                          </m:sub>
                        </m:sSub>
                      </m:e>
                      <m:e>
                        <m:r>
                          <a:rPr lang="en-GB" b="0" i="1" smtClean="0">
                            <a:latin typeface="Cambria Math" panose="02040503050406030204" pitchFamily="18" charset="0"/>
                          </a:rPr>
                          <m:t>𝑥</m:t>
                        </m:r>
                      </m:e>
                    </m:d>
                  </m:oMath>
                </a14:m>
                <a:r>
                  <a:rPr lang="en-GB" dirty="0"/>
                  <a:t> is our posterior </a:t>
                </a:r>
              </a:p>
              <a:p>
                <a:pPr marL="0" indent="0">
                  <a:buNone/>
                </a:pPr>
                <a:endParaRPr lang="en-GB" dirty="0"/>
              </a:p>
              <a:p>
                <a:pPr marL="0" indent="0">
                  <a:buNone/>
                </a:pPr>
                <a:r>
                  <a:rPr lang="en-GB" dirty="0"/>
                  <a:t>Posterior = prior </a:t>
                </a:r>
                <a14:m>
                  <m:oMath xmlns:m="http://schemas.openxmlformats.org/officeDocument/2006/math">
                    <m:r>
                      <a:rPr lang="en-GB" i="1" dirty="0" smtClean="0">
                        <a:latin typeface="Cambria Math" panose="02040503050406030204" pitchFamily="18" charset="0"/>
                        <a:ea typeface="Cambria Math" panose="02040503050406030204" pitchFamily="18" charset="0"/>
                      </a:rPr>
                      <m:t>×</m:t>
                    </m:r>
                  </m:oMath>
                </a14:m>
                <a:r>
                  <a:rPr lang="en-GB" dirty="0"/>
                  <a:t> Likelihood / evidence</a:t>
                </a:r>
              </a:p>
              <a:p>
                <a:pPr marL="0" indent="0">
                  <a:buNone/>
                </a:pPr>
                <a:endParaRPr lang="en-GB" dirty="0"/>
              </a:p>
              <a:p>
                <a:pPr marL="0" indent="0">
                  <a:buNone/>
                </a:pPr>
                <a14:m>
                  <m:oMathPara xmlns:m="http://schemas.openxmlformats.org/officeDocument/2006/math">
                    <m:oMathParaPr>
                      <m:jc m:val="left"/>
                    </m:oMathParaPr>
                    <m:oMath xmlns:m="http://schemas.openxmlformats.org/officeDocument/2006/math">
                      <m:r>
                        <m:rPr>
                          <m:sty m:val="p"/>
                        </m:rPr>
                        <a:rPr lang="en-GB">
                          <a:latin typeface="Cambria Math" panose="02040503050406030204" pitchFamily="18" charset="0"/>
                          <a:ea typeface="Cambria Math" panose="02040503050406030204" pitchFamily="18" charset="0"/>
                        </a:rPr>
                        <m:t>P</m:t>
                      </m:r>
                      <m:r>
                        <m:rPr>
                          <m:sty m:val="p"/>
                        </m:rPr>
                        <a:rPr lang="en-GB" b="0" i="0" smtClean="0">
                          <a:latin typeface="Cambria Math" panose="02040503050406030204" pitchFamily="18" charset="0"/>
                          <a:ea typeface="Cambria Math" panose="02040503050406030204" pitchFamily="18" charset="0"/>
                        </a:rPr>
                        <m:t>osterior</m:t>
                      </m:r>
                      <m:r>
                        <a:rPr lang="en-GB" b="0" i="0" smtClean="0">
                          <a:latin typeface="Cambria Math" panose="02040503050406030204" pitchFamily="18" charset="0"/>
                          <a:ea typeface="Cambria Math" panose="02040503050406030204" pitchFamily="18" charset="0"/>
                        </a:rPr>
                        <m:t> </m:t>
                      </m:r>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𝑝𝑟𝑖𝑜𝑟</m:t>
                      </m:r>
                      <m:r>
                        <a:rPr lang="en-GB" b="0" i="1" smtClean="0">
                          <a:latin typeface="Cambria Math" panose="02040503050406030204" pitchFamily="18" charset="0"/>
                          <a:ea typeface="Cambria Math" panose="02040503050406030204" pitchFamily="18" charset="0"/>
                        </a:rPr>
                        <m:t> × </m:t>
                      </m:r>
                      <m:r>
                        <a:rPr lang="en-GB" b="0" i="1" smtClean="0">
                          <a:latin typeface="Cambria Math" panose="02040503050406030204" pitchFamily="18" charset="0"/>
                          <a:ea typeface="Cambria Math" panose="02040503050406030204" pitchFamily="18" charset="0"/>
                        </a:rPr>
                        <m:t>𝐿𝑖𝑘𝑒𝑙𝑖h𝑜𝑜𝑑</m:t>
                      </m:r>
                    </m:oMath>
                  </m:oMathPara>
                </a14:m>
                <a:endParaRPr lang="en-GB" dirty="0"/>
              </a:p>
            </p:txBody>
          </p:sp>
        </mc:Choice>
        <mc:Fallback xmlns="">
          <p:sp>
            <p:nvSpPr>
              <p:cNvPr id="4" name="Content Placeholder 3">
                <a:extLst>
                  <a:ext uri="{FF2B5EF4-FFF2-40B4-BE49-F238E27FC236}">
                    <a16:creationId xmlns:a16="http://schemas.microsoft.com/office/drawing/2014/main" id="{06FB4422-6BFF-2859-EB1C-E119C7AFB4E1}"/>
                  </a:ext>
                </a:extLst>
              </p:cNvPr>
              <p:cNvSpPr>
                <a:spLocks noGrp="1" noRot="1" noChangeAspect="1" noMove="1" noResize="1" noEditPoints="1" noAdjustHandles="1" noChangeArrowheads="1" noChangeShapeType="1" noTextEdit="1"/>
              </p:cNvSpPr>
              <p:nvPr>
                <p:ph idx="1"/>
              </p:nvPr>
            </p:nvSpPr>
            <p:spPr>
              <a:blipFill>
                <a:blip r:embed="rId2"/>
                <a:stretch>
                  <a:fillRect l="-772"/>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A18A7D6E-11E1-A26C-A571-C775987FF1A2}"/>
              </a:ext>
            </a:extLst>
          </p:cNvPr>
          <p:cNvSpPr>
            <a:spLocks noGrp="1"/>
          </p:cNvSpPr>
          <p:nvPr>
            <p:ph type="sldNum" sz="quarter" idx="12"/>
          </p:nvPr>
        </p:nvSpPr>
        <p:spPr/>
        <p:txBody>
          <a:bodyPr/>
          <a:lstStyle/>
          <a:p>
            <a:fld id="{BB98F552-A29D-2D4E-8192-F20670493719}" type="slidenum">
              <a:rPr lang="en-GB" altLang="en-US" smtClean="0"/>
              <a:pPr/>
              <a:t>19</a:t>
            </a:fld>
            <a:endParaRPr lang="en-GB" altLang="en-US" dirty="0"/>
          </a:p>
        </p:txBody>
      </p:sp>
    </p:spTree>
    <p:extLst>
      <p:ext uri="{BB962C8B-B14F-4D97-AF65-F5344CB8AC3E}">
        <p14:creationId xmlns:p14="http://schemas.microsoft.com/office/powerpoint/2010/main" val="607475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D7F2B-548F-984F-6F1A-3B83DC6093F3}"/>
              </a:ext>
            </a:extLst>
          </p:cNvPr>
          <p:cNvSpPr>
            <a:spLocks noGrp="1"/>
          </p:cNvSpPr>
          <p:nvPr>
            <p:ph type="title"/>
          </p:nvPr>
        </p:nvSpPr>
        <p:spPr/>
        <p:txBody>
          <a:bodyPr/>
          <a:lstStyle/>
          <a:p>
            <a:r>
              <a:rPr lang="en-GB" dirty="0"/>
              <a:t>Bayesian inference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504820-5068-F9A1-4DF1-DD1E477CE34A}"/>
                  </a:ext>
                </a:extLst>
              </p:cNvPr>
              <p:cNvSpPr>
                <a:spLocks noGrp="1"/>
              </p:cNvSpPr>
              <p:nvPr>
                <p:ph idx="1"/>
              </p:nvPr>
            </p:nvSpPr>
            <p:spPr/>
            <p:txBody>
              <a:bodyPr/>
              <a:lstStyle/>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𝜃</m:t>
                          </m:r>
                        </m:e>
                        <m:e>
                          <m:r>
                            <a:rPr lang="en-GB" b="0" i="1" smtClean="0">
                              <a:latin typeface="Cambria Math" panose="02040503050406030204" pitchFamily="18" charset="0"/>
                            </a:rPr>
                            <m:t>𝑑𝑎𝑡𝑎</m:t>
                          </m:r>
                        </m:e>
                      </m:d>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i="1">
                              <a:latin typeface="Cambria Math" panose="02040503050406030204" pitchFamily="18" charset="0"/>
                            </a:rPr>
                            <m:t>𝑝</m:t>
                          </m:r>
                          <m:d>
                            <m:dPr>
                              <m:ctrlPr>
                                <a:rPr lang="en-GB" i="1">
                                  <a:latin typeface="Cambria Math" panose="02040503050406030204" pitchFamily="18" charset="0"/>
                                </a:rPr>
                              </m:ctrlPr>
                            </m:dPr>
                            <m:e>
                              <m:r>
                                <a:rPr lang="en-GB" b="0" i="1" smtClean="0">
                                  <a:latin typeface="Cambria Math" panose="02040503050406030204" pitchFamily="18" charset="0"/>
                                </a:rPr>
                                <m:t>𝑑𝑎𝑡𝑎</m:t>
                              </m:r>
                            </m:e>
                            <m:e>
                              <m:r>
                                <a:rPr lang="en-GB" i="1">
                                  <a:latin typeface="Cambria Math" panose="02040503050406030204" pitchFamily="18" charset="0"/>
                                  <a:ea typeface="Cambria Math" panose="02040503050406030204" pitchFamily="18" charset="0"/>
                                </a:rPr>
                                <m:t>𝜃</m:t>
                              </m:r>
                            </m:e>
                          </m:d>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𝑝</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𝜃</m:t>
                              </m:r>
                            </m:e>
                          </m:d>
                        </m:num>
                        <m:den>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𝑑𝑎𝑡𝑎</m:t>
                              </m:r>
                            </m:e>
                          </m:d>
                        </m:den>
                      </m:f>
                    </m:oMath>
                  </m:oMathPara>
                </a14:m>
                <a:endParaRPr lang="en-GB" dirty="0"/>
              </a:p>
              <a:p>
                <a:pPr marL="0" indent="0">
                  <a:buNone/>
                </a:pPr>
                <a:endParaRPr lang="en-GB" dirty="0"/>
              </a:p>
              <a:p>
                <a:pPr marL="0" indent="0">
                  <a:buNone/>
                </a:pPr>
                <a:endParaRPr lang="en-GB" b="0" i="1" dirty="0">
                  <a:latin typeface="Cambria Math" panose="02040503050406030204" pitchFamily="18" charset="0"/>
                  <a:ea typeface="Cambria Math" panose="02040503050406030204" pitchFamily="18" charset="0"/>
                </a:endParaRPr>
              </a:p>
              <a:p>
                <a:pPr marL="0" indent="0">
                  <a:buNone/>
                </a:pPr>
                <a14:m>
                  <m:oMath xmlns:m="http://schemas.openxmlformats.org/officeDocument/2006/math">
                    <m:r>
                      <a:rPr lang="en-GB" b="0" i="1" smtClean="0">
                        <a:latin typeface="Cambria Math" panose="02040503050406030204" pitchFamily="18" charset="0"/>
                        <a:ea typeface="Cambria Math" panose="02040503050406030204" pitchFamily="18" charset="0"/>
                      </a:rPr>
                      <m:t>𝜃</m:t>
                    </m:r>
                  </m:oMath>
                </a14:m>
                <a:r>
                  <a:rPr lang="en-GB" dirty="0"/>
                  <a:t> represents the unknown parameter(s) that we want to estimate</a:t>
                </a:r>
              </a:p>
            </p:txBody>
          </p:sp>
        </mc:Choice>
        <mc:Fallback xmlns="">
          <p:sp>
            <p:nvSpPr>
              <p:cNvPr id="3" name="Content Placeholder 2">
                <a:extLst>
                  <a:ext uri="{FF2B5EF4-FFF2-40B4-BE49-F238E27FC236}">
                    <a16:creationId xmlns:a16="http://schemas.microsoft.com/office/drawing/2014/main" id="{73504820-5068-F9A1-4DF1-DD1E477CE34A}"/>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B929186C-8C33-D2DB-11E3-24E6286270A6}"/>
              </a:ext>
            </a:extLst>
          </p:cNvPr>
          <p:cNvSpPr>
            <a:spLocks noGrp="1"/>
          </p:cNvSpPr>
          <p:nvPr>
            <p:ph type="sldNum" sz="quarter" idx="12"/>
          </p:nvPr>
        </p:nvSpPr>
        <p:spPr/>
        <p:txBody>
          <a:bodyPr/>
          <a:lstStyle/>
          <a:p>
            <a:fld id="{44E22EE9-B8A0-0641-9265-052CFE9B95A7}" type="slidenum">
              <a:rPr lang="en-GB" altLang="en-US" smtClean="0"/>
              <a:pPr/>
              <a:t>20</a:t>
            </a:fld>
            <a:endParaRPr lang="en-GB" altLang="en-US" dirty="0"/>
          </a:p>
        </p:txBody>
      </p:sp>
    </p:spTree>
    <p:extLst>
      <p:ext uri="{BB962C8B-B14F-4D97-AF65-F5344CB8AC3E}">
        <p14:creationId xmlns:p14="http://schemas.microsoft.com/office/powerpoint/2010/main" val="18627261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87306-11D0-D945-4203-25A438D717C0}"/>
              </a:ext>
            </a:extLst>
          </p:cNvPr>
          <p:cNvSpPr>
            <a:spLocks noGrp="1"/>
          </p:cNvSpPr>
          <p:nvPr>
            <p:ph type="title"/>
          </p:nvPr>
        </p:nvSpPr>
        <p:spPr/>
        <p:txBody>
          <a:bodyPr/>
          <a:lstStyle/>
          <a:p>
            <a:r>
              <a:rPr lang="en-GB" dirty="0"/>
              <a:t>Likelihood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9A20AC-9902-C1E4-45D9-9B5A0DF8976E}"/>
                  </a:ext>
                </a:extLst>
              </p:cNvPr>
              <p:cNvSpPr>
                <a:spLocks noGrp="1"/>
              </p:cNvSpPr>
              <p:nvPr>
                <p:ph idx="1"/>
              </p:nvPr>
            </p:nvSpPr>
            <p:spPr/>
            <p:txBody>
              <a:bodyPr/>
              <a:lstStyle/>
              <a:p>
                <a14:m>
                  <m:oMath xmlns:m="http://schemas.openxmlformats.org/officeDocument/2006/math">
                    <m:r>
                      <a:rPr lang="en-GB" i="1" smtClean="0">
                        <a:latin typeface="Cambria Math" panose="02040503050406030204" pitchFamily="18" charset="0"/>
                      </a:rPr>
                      <m:t>𝑝</m:t>
                    </m:r>
                    <m:d>
                      <m:dPr>
                        <m:ctrlPr>
                          <a:rPr lang="en-GB" i="1">
                            <a:latin typeface="Cambria Math" panose="02040503050406030204" pitchFamily="18" charset="0"/>
                          </a:rPr>
                        </m:ctrlPr>
                      </m:dPr>
                      <m:e>
                        <m:r>
                          <a:rPr lang="en-GB" b="0" i="1" smtClean="0">
                            <a:latin typeface="Cambria Math" panose="02040503050406030204" pitchFamily="18" charset="0"/>
                          </a:rPr>
                          <m:t>𝑑𝑎𝑡𝑎</m:t>
                        </m:r>
                      </m:e>
                      <m:e>
                        <m:r>
                          <a:rPr lang="en-GB" i="1">
                            <a:latin typeface="Cambria Math" panose="02040503050406030204" pitchFamily="18" charset="0"/>
                            <a:ea typeface="Cambria Math" panose="02040503050406030204" pitchFamily="18" charset="0"/>
                          </a:rPr>
                          <m:t>𝜃</m:t>
                        </m:r>
                      </m:e>
                    </m:d>
                  </m:oMath>
                </a14:m>
                <a:r>
                  <a:rPr lang="en-GB" dirty="0"/>
                  <a:t> is called likelihood.</a:t>
                </a:r>
              </a:p>
              <a:p>
                <a:r>
                  <a:rPr lang="en-GB" dirty="0"/>
                  <a:t>This means the probability of generating a particular sample if the parameter of our model was equal to </a:t>
                </a: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a:t>
                </a:r>
              </a:p>
              <a:p>
                <a:endParaRPr lang="en-GB" dirty="0"/>
              </a:p>
              <a:p>
                <a:r>
                  <a:rPr lang="en-GB" dirty="0"/>
                  <a:t>For example, if our data includes samples from a population with features that indicate if they had high blood pressure and if they had a history of TBI (X) associated with the target variable as having Alzheimer’s disease or not (y):</a:t>
                </a:r>
              </a:p>
              <a:p>
                <a:pPr lvl="1"/>
                <a:r>
                  <a:rPr lang="en-GB" sz="2400" dirty="0"/>
                  <a:t>Then the likelihood would present, if someone had Alzheimer’s disease, what is the probability that they had high blood pressure and/or a history of TBI (depending on what likelihood we are interested in).  </a:t>
                </a:r>
              </a:p>
            </p:txBody>
          </p:sp>
        </mc:Choice>
        <mc:Fallback>
          <p:sp>
            <p:nvSpPr>
              <p:cNvPr id="3" name="Content Placeholder 2">
                <a:extLst>
                  <a:ext uri="{FF2B5EF4-FFF2-40B4-BE49-F238E27FC236}">
                    <a16:creationId xmlns:a16="http://schemas.microsoft.com/office/drawing/2014/main" id="{B99A20AC-9902-C1E4-45D9-9B5A0DF8976E}"/>
                  </a:ext>
                </a:extLst>
              </p:cNvPr>
              <p:cNvSpPr>
                <a:spLocks noGrp="1" noRot="1" noChangeAspect="1" noMove="1" noResize="1" noEditPoints="1" noAdjustHandles="1" noChangeArrowheads="1" noChangeShapeType="1" noTextEdit="1"/>
              </p:cNvSpPr>
              <p:nvPr>
                <p:ph idx="1"/>
              </p:nvPr>
            </p:nvSpPr>
            <p:spPr>
              <a:blipFill>
                <a:blip r:embed="rId2"/>
                <a:stretch>
                  <a:fillRect l="-925" t="-1018" r="-116"/>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0D8B2D6B-7553-A12C-1CD6-746EECFD10C2}"/>
              </a:ext>
            </a:extLst>
          </p:cNvPr>
          <p:cNvSpPr>
            <a:spLocks noGrp="1"/>
          </p:cNvSpPr>
          <p:nvPr>
            <p:ph type="sldNum" sz="quarter" idx="12"/>
          </p:nvPr>
        </p:nvSpPr>
        <p:spPr/>
        <p:txBody>
          <a:bodyPr/>
          <a:lstStyle/>
          <a:p>
            <a:fld id="{44E22EE9-B8A0-0641-9265-052CFE9B95A7}" type="slidenum">
              <a:rPr lang="en-GB" altLang="en-US" smtClean="0"/>
              <a:pPr/>
              <a:t>21</a:t>
            </a:fld>
            <a:endParaRPr lang="en-GB" altLang="en-US" dirty="0"/>
          </a:p>
        </p:txBody>
      </p:sp>
    </p:spTree>
    <p:extLst>
      <p:ext uri="{BB962C8B-B14F-4D97-AF65-F5344CB8AC3E}">
        <p14:creationId xmlns:p14="http://schemas.microsoft.com/office/powerpoint/2010/main" val="839755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F9421-9CBD-A994-12B5-C143F4FE51D0}"/>
              </a:ext>
            </a:extLst>
          </p:cNvPr>
          <p:cNvSpPr>
            <a:spLocks noGrp="1"/>
          </p:cNvSpPr>
          <p:nvPr>
            <p:ph type="title"/>
          </p:nvPr>
        </p:nvSpPr>
        <p:spPr/>
        <p:txBody>
          <a:bodyPr/>
          <a:lstStyle/>
          <a:p>
            <a:r>
              <a:rPr lang="en-GB" dirty="0"/>
              <a:t>Maximum likelihood*</a:t>
            </a:r>
          </a:p>
        </p:txBody>
      </p:sp>
      <p:sp>
        <p:nvSpPr>
          <p:cNvPr id="3" name="Content Placeholder 2">
            <a:extLst>
              <a:ext uri="{FF2B5EF4-FFF2-40B4-BE49-F238E27FC236}">
                <a16:creationId xmlns:a16="http://schemas.microsoft.com/office/drawing/2014/main" id="{8ACD8BE1-D8B2-010D-74D8-6476DA1BA99B}"/>
              </a:ext>
            </a:extLst>
          </p:cNvPr>
          <p:cNvSpPr>
            <a:spLocks noGrp="1"/>
          </p:cNvSpPr>
          <p:nvPr>
            <p:ph idx="1"/>
          </p:nvPr>
        </p:nvSpPr>
        <p:spPr/>
        <p:txBody>
          <a:bodyPr/>
          <a:lstStyle/>
          <a:p>
            <a:r>
              <a:rPr lang="en-GB" dirty="0"/>
              <a:t>In principle, we define the likelihood function and then calculate the parameter values that maximise the likelihood of observing our data.</a:t>
            </a:r>
          </a:p>
          <a:p>
            <a:pPr marL="0" indent="0">
              <a:buNone/>
            </a:pPr>
            <a:endParaRPr lang="en-GB" dirty="0"/>
          </a:p>
          <a:p>
            <a:r>
              <a:rPr lang="en-GB" dirty="0"/>
              <a:t>In other words, in the previous example, p(data│</a:t>
            </a:r>
            <a:r>
              <a:rPr lang="el-GR" dirty="0"/>
              <a:t>θ), </a:t>
            </a:r>
            <a:r>
              <a:rPr lang="en-GB" dirty="0"/>
              <a:t>we assumed we knew the parameter </a:t>
            </a:r>
            <a:r>
              <a:rPr lang="el-GR" dirty="0"/>
              <a:t>θ, </a:t>
            </a:r>
            <a:r>
              <a:rPr lang="en-GB" dirty="0"/>
              <a:t>but what if we used a method to identify the value(s) of </a:t>
            </a:r>
            <a:r>
              <a:rPr lang="el-GR" dirty="0"/>
              <a:t>θ </a:t>
            </a:r>
            <a:r>
              <a:rPr lang="en-GB" dirty="0"/>
              <a:t>that maximise the likelihood of obtaining the data?</a:t>
            </a:r>
          </a:p>
          <a:p>
            <a:endParaRPr lang="en-GB" dirty="0"/>
          </a:p>
          <a:p>
            <a:r>
              <a:rPr lang="en-GB" dirty="0"/>
              <a:t>For example, in the case of a disease, we may not know its prevalence in the population in advance. </a:t>
            </a:r>
          </a:p>
        </p:txBody>
      </p:sp>
      <p:sp>
        <p:nvSpPr>
          <p:cNvPr id="4" name="Slide Number Placeholder 3">
            <a:extLst>
              <a:ext uri="{FF2B5EF4-FFF2-40B4-BE49-F238E27FC236}">
                <a16:creationId xmlns:a16="http://schemas.microsoft.com/office/drawing/2014/main" id="{D48ED51F-7342-B378-4590-615150200DC2}"/>
              </a:ext>
            </a:extLst>
          </p:cNvPr>
          <p:cNvSpPr>
            <a:spLocks noGrp="1"/>
          </p:cNvSpPr>
          <p:nvPr>
            <p:ph type="sldNum" sz="quarter" idx="12"/>
          </p:nvPr>
        </p:nvSpPr>
        <p:spPr/>
        <p:txBody>
          <a:bodyPr/>
          <a:lstStyle/>
          <a:p>
            <a:fld id="{44E22EE9-B8A0-0641-9265-052CFE9B95A7}" type="slidenum">
              <a:rPr lang="en-GB" altLang="en-US" smtClean="0"/>
              <a:pPr/>
              <a:t>22</a:t>
            </a:fld>
            <a:endParaRPr lang="en-GB" altLang="en-US" dirty="0"/>
          </a:p>
        </p:txBody>
      </p:sp>
    </p:spTree>
    <p:extLst>
      <p:ext uri="{BB962C8B-B14F-4D97-AF65-F5344CB8AC3E}">
        <p14:creationId xmlns:p14="http://schemas.microsoft.com/office/powerpoint/2010/main" val="22378651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46F77-4C09-63B8-00ED-08D0948C777B}"/>
              </a:ext>
            </a:extLst>
          </p:cNvPr>
          <p:cNvSpPr>
            <a:spLocks noGrp="1"/>
          </p:cNvSpPr>
          <p:nvPr>
            <p:ph type="title"/>
          </p:nvPr>
        </p:nvSpPr>
        <p:spPr/>
        <p:txBody>
          <a:bodyPr/>
          <a:lstStyle/>
          <a:p>
            <a:r>
              <a:rPr lang="en-GB" dirty="0"/>
              <a:t>Estimating the maximum likelihood*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E27ABCA-874C-104B-3C92-093FAC45962E}"/>
                  </a:ext>
                </a:extLst>
              </p:cNvPr>
              <p:cNvSpPr>
                <a:spLocks noGrp="1"/>
              </p:cNvSpPr>
              <p:nvPr>
                <p:ph idx="1"/>
              </p:nvPr>
            </p:nvSpPr>
            <p:spPr/>
            <p:txBody>
              <a:bodyPr/>
              <a:lstStyle/>
              <a:p>
                <a:r>
                  <a:rPr lang="en-GB" dirty="0"/>
                  <a:t>For example, let’s assume in a sample of 100 individuals with a neurological condition, we have observed that 10 of them have a specific symptom. </a:t>
                </a:r>
              </a:p>
              <a:p>
                <a:r>
                  <a:rPr lang="en-GB" dirty="0"/>
                  <a:t>This means that the overall likelihood of having this symptom is given by: </a:t>
                </a:r>
              </a:p>
              <a:p>
                <a:endParaRPr lang="en-GB" dirty="0"/>
              </a:p>
              <a:p>
                <a:pPr marL="0" indent="0">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ℒ</m:t>
                      </m:r>
                      <m:d>
                        <m:dPr>
                          <m:ctrlPr>
                            <a:rPr lang="en-GB" i="1" smtClean="0">
                              <a:latin typeface="Cambria Math" panose="02040503050406030204" pitchFamily="18" charset="0"/>
                              <a:ea typeface="Cambria Math" panose="02040503050406030204" pitchFamily="18" charset="0"/>
                            </a:rPr>
                          </m:ctrlPr>
                        </m:dPr>
                        <m:e>
                          <m:r>
                            <a:rPr lang="en-GB" i="1" smtClean="0">
                              <a:latin typeface="Cambria Math" panose="02040503050406030204" pitchFamily="18" charset="0"/>
                              <a:ea typeface="Cambria Math" panose="02040503050406030204" pitchFamily="18" charset="0"/>
                            </a:rPr>
                            <m:t>𝜃</m:t>
                          </m:r>
                        </m:e>
                        <m:e>
                          <m:r>
                            <a:rPr lang="en-GB" b="0" i="1" smtClean="0">
                              <a:latin typeface="Cambria Math" panose="02040503050406030204" pitchFamily="18" charset="0"/>
                              <a:ea typeface="Cambria Math" panose="02040503050406030204" pitchFamily="18" charset="0"/>
                            </a:rPr>
                            <m:t>𝑋</m:t>
                          </m:r>
                          <m:r>
                            <a:rPr lang="en-GB" b="0" i="1" smtClean="0">
                              <a:latin typeface="Cambria Math" panose="02040503050406030204" pitchFamily="18" charset="0"/>
                              <a:ea typeface="Cambria Math" panose="02040503050406030204" pitchFamily="18" charset="0"/>
                            </a:rPr>
                            <m:t>=10, </m:t>
                          </m:r>
                          <m:r>
                            <a:rPr lang="en-GB" b="0" i="1" smtClean="0">
                              <a:latin typeface="Cambria Math" panose="02040503050406030204" pitchFamily="18" charset="0"/>
                              <a:ea typeface="Cambria Math" panose="02040503050406030204" pitchFamily="18" charset="0"/>
                            </a:rPr>
                            <m:t>𝑁</m:t>
                          </m:r>
                          <m:r>
                            <a:rPr lang="en-GB" b="0" i="1" smtClean="0">
                              <a:latin typeface="Cambria Math" panose="02040503050406030204" pitchFamily="18" charset="0"/>
                              <a:ea typeface="Cambria Math" panose="02040503050406030204" pitchFamily="18" charset="0"/>
                            </a:rPr>
                            <m:t>=100</m:t>
                          </m:r>
                        </m:e>
                      </m:d>
                      <m:r>
                        <a:rPr lang="en-GB" b="0" i="1" smtClean="0">
                          <a:latin typeface="Cambria Math" panose="02040503050406030204" pitchFamily="18" charset="0"/>
                          <a:ea typeface="Cambria Math" panose="02040503050406030204" pitchFamily="18" charset="0"/>
                        </a:rPr>
                        <m:t>= </m:t>
                      </m:r>
                      <m:d>
                        <m:dPr>
                          <m:ctrlPr>
                            <a:rPr lang="en-GB" b="0" i="1" smtClean="0">
                              <a:latin typeface="Cambria Math" panose="02040503050406030204" pitchFamily="18" charset="0"/>
                              <a:ea typeface="Cambria Math" panose="02040503050406030204" pitchFamily="18" charset="0"/>
                            </a:rPr>
                          </m:ctrlPr>
                        </m:dPr>
                        <m:e>
                          <m:f>
                            <m:fPr>
                              <m:type m:val="noBa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100</m:t>
                              </m:r>
                            </m:num>
                            <m:den>
                              <m:r>
                                <a:rPr lang="en-GB" b="0" i="1" smtClean="0">
                                  <a:latin typeface="Cambria Math" panose="02040503050406030204" pitchFamily="18" charset="0"/>
                                  <a:ea typeface="Cambria Math" panose="02040503050406030204" pitchFamily="18" charset="0"/>
                                </a:rPr>
                                <m:t>10</m:t>
                              </m:r>
                            </m:den>
                          </m:f>
                        </m:e>
                      </m:d>
                      <m:r>
                        <a:rPr lang="en-GB" b="0" i="1" smtClean="0">
                          <a:latin typeface="Cambria Math" panose="02040503050406030204" pitchFamily="18" charset="0"/>
                          <a:ea typeface="Cambria Math" panose="02040503050406030204" pitchFamily="18" charset="0"/>
                        </a:rPr>
                        <m:t> </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𝜃</m:t>
                          </m:r>
                        </m:e>
                        <m:sup>
                          <m:r>
                            <a:rPr lang="en-GB" b="0" i="1" smtClean="0">
                              <a:latin typeface="Cambria Math" panose="02040503050406030204" pitchFamily="18" charset="0"/>
                              <a:ea typeface="Cambria Math" panose="02040503050406030204" pitchFamily="18" charset="0"/>
                            </a:rPr>
                            <m:t>10</m:t>
                          </m:r>
                        </m:sup>
                      </m:sSup>
                      <m:sSup>
                        <m:sSupPr>
                          <m:ctrlPr>
                            <a:rPr lang="en-GB" b="0" i="1" smtClean="0">
                              <a:latin typeface="Cambria Math" panose="02040503050406030204" pitchFamily="18" charset="0"/>
                              <a:ea typeface="Cambria Math" panose="02040503050406030204" pitchFamily="18" charset="0"/>
                            </a:rPr>
                          </m:ctrlPr>
                        </m:sSupPr>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ea typeface="Cambria Math" panose="02040503050406030204" pitchFamily="18" charset="0"/>
                                </a:rPr>
                                <m:t>𝜃</m:t>
                              </m:r>
                            </m:e>
                          </m:d>
                        </m:e>
                        <m:sup>
                          <m:r>
                            <a:rPr lang="en-GB" b="0" i="1" smtClean="0">
                              <a:latin typeface="Cambria Math" panose="02040503050406030204" pitchFamily="18" charset="0"/>
                              <a:ea typeface="Cambria Math" panose="02040503050406030204" pitchFamily="18" charset="0"/>
                            </a:rPr>
                            <m:t>90</m:t>
                          </m:r>
                        </m:sup>
                      </m:sSup>
                    </m:oMath>
                  </m:oMathPara>
                </a14:m>
                <a:endParaRPr lang="en-GB" dirty="0"/>
              </a:p>
              <a:p>
                <a:pPr marL="0" indent="0">
                  <a:buNone/>
                </a:pPr>
                <a:endParaRPr lang="en-GB" dirty="0"/>
              </a:p>
              <a:p>
                <a:pPr marL="0" indent="0">
                  <a:buNone/>
                </a:pPr>
                <a:r>
                  <a:rPr lang="en-GB" dirty="0"/>
                  <a:t>- Note that since we are varying </a:t>
                </a:r>
                <a14:m>
                  <m:oMath xmlns:m="http://schemas.openxmlformats.org/officeDocument/2006/math">
                    <m:r>
                      <a:rPr lang="en-GB" b="0" i="1" smtClean="0">
                        <a:latin typeface="Cambria Math" panose="02040503050406030204" pitchFamily="18" charset="0"/>
                        <a:ea typeface="Cambria Math" panose="02040503050406030204" pitchFamily="18" charset="0"/>
                      </a:rPr>
                      <m:t>𝜃</m:t>
                    </m:r>
                    <m:r>
                      <a:rPr lang="en-GB" b="0" i="0" smtClean="0">
                        <a:latin typeface="Cambria Math" panose="02040503050406030204" pitchFamily="18" charset="0"/>
                        <a:ea typeface="Cambria Math" panose="02040503050406030204" pitchFamily="18" charset="0"/>
                      </a:rPr>
                      <m:t>; </m:t>
                    </m:r>
                  </m:oMath>
                </a14:m>
                <a:r>
                  <a:rPr lang="en-GB" dirty="0"/>
                  <a:t>assuming data is constant, this is a likelihood and not a probability. </a:t>
                </a:r>
              </a:p>
            </p:txBody>
          </p:sp>
        </mc:Choice>
        <mc:Fallback>
          <p:sp>
            <p:nvSpPr>
              <p:cNvPr id="3" name="Content Placeholder 2">
                <a:extLst>
                  <a:ext uri="{FF2B5EF4-FFF2-40B4-BE49-F238E27FC236}">
                    <a16:creationId xmlns:a16="http://schemas.microsoft.com/office/drawing/2014/main" id="{7E27ABCA-874C-104B-3C92-093FAC45962E}"/>
                  </a:ext>
                </a:extLst>
              </p:cNvPr>
              <p:cNvSpPr>
                <a:spLocks noGrp="1" noRot="1" noChangeAspect="1" noMove="1" noResize="1" noEditPoints="1" noAdjustHandles="1" noChangeArrowheads="1" noChangeShapeType="1" noTextEdit="1"/>
              </p:cNvSpPr>
              <p:nvPr>
                <p:ph idx="1"/>
              </p:nvPr>
            </p:nvSpPr>
            <p:spPr>
              <a:blipFill>
                <a:blip r:embed="rId2"/>
                <a:stretch>
                  <a:fillRect l="-925" t="-1018"/>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71FF0A73-4C36-E661-F6C3-FC15284E788E}"/>
              </a:ext>
            </a:extLst>
          </p:cNvPr>
          <p:cNvSpPr>
            <a:spLocks noGrp="1"/>
          </p:cNvSpPr>
          <p:nvPr>
            <p:ph type="sldNum" sz="quarter" idx="12"/>
          </p:nvPr>
        </p:nvSpPr>
        <p:spPr/>
        <p:txBody>
          <a:bodyPr/>
          <a:lstStyle/>
          <a:p>
            <a:fld id="{44E22EE9-B8A0-0641-9265-052CFE9B95A7}" type="slidenum">
              <a:rPr lang="en-GB" altLang="en-US" smtClean="0"/>
              <a:pPr/>
              <a:t>23</a:t>
            </a:fld>
            <a:endParaRPr lang="en-GB" altLang="en-US" dirty="0"/>
          </a:p>
        </p:txBody>
      </p:sp>
    </p:spTree>
    <p:extLst>
      <p:ext uri="{BB962C8B-B14F-4D97-AF65-F5344CB8AC3E}">
        <p14:creationId xmlns:p14="http://schemas.microsoft.com/office/powerpoint/2010/main" val="2372210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74DFF-42FF-5D6B-09A9-BEA6C05A0E27}"/>
              </a:ext>
            </a:extLst>
          </p:cNvPr>
          <p:cNvSpPr>
            <a:spLocks noGrp="1"/>
          </p:cNvSpPr>
          <p:nvPr>
            <p:ph type="title"/>
          </p:nvPr>
        </p:nvSpPr>
        <p:spPr/>
        <p:txBody>
          <a:bodyPr/>
          <a:lstStyle/>
          <a:p>
            <a:r>
              <a:rPr lang="en-GB" dirty="0"/>
              <a:t>Estimating the maximum likelihood*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2BF9741-2011-9DB3-A8BA-0A8C95DCA858}"/>
                  </a:ext>
                </a:extLst>
              </p:cNvPr>
              <p:cNvSpPr>
                <a:spLocks noGrp="1"/>
              </p:cNvSpPr>
              <p:nvPr>
                <p:ph idx="1"/>
              </p:nvPr>
            </p:nvSpPr>
            <p:spPr/>
            <p:txBody>
              <a:bodyPr/>
              <a:lstStyle/>
              <a:p>
                <a:r>
                  <a:rPr lang="en-GB" dirty="0"/>
                  <a:t>We are now interested in finding the value of </a:t>
                </a:r>
                <a14:m>
                  <m:oMath xmlns:m="http://schemas.openxmlformats.org/officeDocument/2006/math">
                    <m:r>
                      <a:rPr lang="en-GB" b="0" i="1" smtClean="0">
                        <a:latin typeface="Cambria Math" panose="02040503050406030204" pitchFamily="18" charset="0"/>
                        <a:ea typeface="Cambria Math" panose="02040503050406030204" pitchFamily="18" charset="0"/>
                      </a:rPr>
                      <m:t>𝜃</m:t>
                    </m:r>
                  </m:oMath>
                </a14:m>
                <a:r>
                  <a:rPr lang="en-GB" dirty="0"/>
                  <a:t> that maximises the likelihood function. </a:t>
                </a:r>
              </a:p>
              <a:p>
                <a:r>
                  <a:rPr lang="en-GB" dirty="0">
                    <a:solidFill>
                      <a:srgbClr val="FF0000"/>
                    </a:solidFill>
                  </a:rPr>
                  <a:t>This is called maximum likelihood</a:t>
                </a:r>
                <a:r>
                  <a:rPr lang="en-GB" dirty="0"/>
                  <a:t>. </a:t>
                </a:r>
              </a:p>
              <a:p>
                <a:r>
                  <a:rPr lang="en-GB" dirty="0"/>
                  <a:t>This is often used in probabilistic machine learning models to find the parameters for the model that will maximise the likelihood function and find the optimum parameters for our model to make predictions in the future.  </a:t>
                </a:r>
              </a:p>
              <a:p>
                <a:r>
                  <a:rPr lang="en-GB" dirty="0"/>
                  <a:t>Reminder: </a:t>
                </a:r>
                <a:endParaRPr lang="en-GB" dirty="0">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m:rPr>
                          <m:sty m:val="p"/>
                        </m:rPr>
                        <a:rPr lang="en-GB" smtClean="0">
                          <a:latin typeface="Cambria Math" panose="02040503050406030204" pitchFamily="18" charset="0"/>
                          <a:ea typeface="Cambria Math" panose="02040503050406030204" pitchFamily="18" charset="0"/>
                        </a:rPr>
                        <m:t>P</m:t>
                      </m:r>
                      <m:r>
                        <m:rPr>
                          <m:sty m:val="p"/>
                        </m:rPr>
                        <a:rPr lang="en-GB" b="0" i="0" smtClean="0">
                          <a:latin typeface="Cambria Math" panose="02040503050406030204" pitchFamily="18" charset="0"/>
                          <a:ea typeface="Cambria Math" panose="02040503050406030204" pitchFamily="18" charset="0"/>
                        </a:rPr>
                        <m:t>osterior</m:t>
                      </m:r>
                      <m:r>
                        <a:rPr lang="en-GB" b="0" i="0" smtClean="0">
                          <a:latin typeface="Cambria Math" panose="02040503050406030204" pitchFamily="18" charset="0"/>
                          <a:ea typeface="Cambria Math" panose="02040503050406030204" pitchFamily="18" charset="0"/>
                        </a:rPr>
                        <m:t> </m:t>
                      </m:r>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𝐿𝑖𝑘𝑒𝑙𝑖h𝑜𝑜𝑑</m:t>
                      </m:r>
                      <m:r>
                        <a:rPr lang="en-GB" b="0" i="1" smtClean="0">
                          <a:latin typeface="Cambria Math" panose="02040503050406030204" pitchFamily="18" charset="0"/>
                          <a:ea typeface="Cambria Math" panose="02040503050406030204" pitchFamily="18" charset="0"/>
                        </a:rPr>
                        <m:t> × </m:t>
                      </m:r>
                      <m:r>
                        <a:rPr lang="en-GB" i="1">
                          <a:latin typeface="Cambria Math" panose="02040503050406030204" pitchFamily="18" charset="0"/>
                          <a:ea typeface="Cambria Math" panose="02040503050406030204" pitchFamily="18" charset="0"/>
                        </a:rPr>
                        <m:t>𝑝𝑟𝑖𝑜𝑟</m:t>
                      </m:r>
                    </m:oMath>
                  </m:oMathPara>
                </a14:m>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𝜃</m:t>
                          </m:r>
                        </m:e>
                        <m:e>
                          <m:r>
                            <a:rPr lang="en-GB" b="0" i="1" smtClean="0">
                              <a:latin typeface="Cambria Math" panose="02040503050406030204" pitchFamily="18" charset="0"/>
                            </a:rPr>
                            <m:t>𝑑𝑎𝑡𝑎</m:t>
                          </m:r>
                        </m:e>
                      </m:d>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i="1">
                              <a:latin typeface="Cambria Math" panose="02040503050406030204" pitchFamily="18" charset="0"/>
                            </a:rPr>
                            <m:t>𝑝</m:t>
                          </m:r>
                          <m:d>
                            <m:dPr>
                              <m:ctrlPr>
                                <a:rPr lang="en-GB" i="1">
                                  <a:latin typeface="Cambria Math" panose="02040503050406030204" pitchFamily="18" charset="0"/>
                                </a:rPr>
                              </m:ctrlPr>
                            </m:dPr>
                            <m:e>
                              <m:r>
                                <a:rPr lang="en-GB" b="0" i="1" smtClean="0">
                                  <a:latin typeface="Cambria Math" panose="02040503050406030204" pitchFamily="18" charset="0"/>
                                </a:rPr>
                                <m:t>𝑑𝑎𝑡𝑎</m:t>
                              </m:r>
                            </m:e>
                            <m:e>
                              <m:r>
                                <a:rPr lang="en-GB" i="1">
                                  <a:latin typeface="Cambria Math" panose="02040503050406030204" pitchFamily="18" charset="0"/>
                                  <a:ea typeface="Cambria Math" panose="02040503050406030204" pitchFamily="18" charset="0"/>
                                </a:rPr>
                                <m:t>𝜃</m:t>
                              </m:r>
                            </m:e>
                          </m:d>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𝑝</m:t>
                          </m:r>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𝜃</m:t>
                              </m:r>
                            </m:e>
                          </m:d>
                        </m:num>
                        <m:den>
                          <m:r>
                            <a:rPr lang="en-GB" b="0" i="1" smtClean="0">
                              <a:latin typeface="Cambria Math" panose="02040503050406030204" pitchFamily="18" charset="0"/>
                            </a:rPr>
                            <m:t>𝑝</m:t>
                          </m:r>
                          <m:d>
                            <m:dPr>
                              <m:ctrlPr>
                                <a:rPr lang="en-GB" b="0" i="1" smtClean="0">
                                  <a:latin typeface="Cambria Math" panose="02040503050406030204" pitchFamily="18" charset="0"/>
                                </a:rPr>
                              </m:ctrlPr>
                            </m:dPr>
                            <m:e>
                              <m:r>
                                <a:rPr lang="en-GB" b="0" i="1" smtClean="0">
                                  <a:latin typeface="Cambria Math" panose="02040503050406030204" pitchFamily="18" charset="0"/>
                                </a:rPr>
                                <m:t>𝑑𝑎𝑡𝑎</m:t>
                              </m:r>
                            </m:e>
                          </m:d>
                        </m:den>
                      </m:f>
                    </m:oMath>
                  </m:oMathPara>
                </a14:m>
                <a:endParaRPr lang="en-GB" dirty="0"/>
              </a:p>
              <a:p>
                <a:pPr marL="0" indent="0">
                  <a:buNone/>
                </a:pPr>
                <a:r>
                  <a:rPr lang="en-GB" dirty="0"/>
                  <a:t> </a:t>
                </a:r>
              </a:p>
            </p:txBody>
          </p:sp>
        </mc:Choice>
        <mc:Fallback>
          <p:sp>
            <p:nvSpPr>
              <p:cNvPr id="3" name="Content Placeholder 2">
                <a:extLst>
                  <a:ext uri="{FF2B5EF4-FFF2-40B4-BE49-F238E27FC236}">
                    <a16:creationId xmlns:a16="http://schemas.microsoft.com/office/drawing/2014/main" id="{C2BF9741-2011-9DB3-A8BA-0A8C95DCA858}"/>
                  </a:ext>
                </a:extLst>
              </p:cNvPr>
              <p:cNvSpPr>
                <a:spLocks noGrp="1" noRot="1" noChangeAspect="1" noMove="1" noResize="1" noEditPoints="1" noAdjustHandles="1" noChangeArrowheads="1" noChangeShapeType="1" noTextEdit="1"/>
              </p:cNvSpPr>
              <p:nvPr>
                <p:ph idx="1"/>
              </p:nvPr>
            </p:nvSpPr>
            <p:spPr>
              <a:blipFill>
                <a:blip r:embed="rId2"/>
                <a:stretch>
                  <a:fillRect l="-925" t="-1018"/>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0DB04907-2FA3-1018-4D9E-698CA1D01371}"/>
              </a:ext>
            </a:extLst>
          </p:cNvPr>
          <p:cNvSpPr>
            <a:spLocks noGrp="1"/>
          </p:cNvSpPr>
          <p:nvPr>
            <p:ph type="sldNum" sz="quarter" idx="12"/>
          </p:nvPr>
        </p:nvSpPr>
        <p:spPr/>
        <p:txBody>
          <a:bodyPr/>
          <a:lstStyle/>
          <a:p>
            <a:fld id="{44E22EE9-B8A0-0641-9265-052CFE9B95A7}" type="slidenum">
              <a:rPr lang="en-GB" altLang="en-US" smtClean="0"/>
              <a:pPr/>
              <a:t>24</a:t>
            </a:fld>
            <a:endParaRPr lang="en-GB" altLang="en-US" dirty="0"/>
          </a:p>
        </p:txBody>
      </p:sp>
    </p:spTree>
    <p:extLst>
      <p:ext uri="{BB962C8B-B14F-4D97-AF65-F5344CB8AC3E}">
        <p14:creationId xmlns:p14="http://schemas.microsoft.com/office/powerpoint/2010/main" val="27611559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9D25D-4926-11C9-2D64-1F34FE5E86D2}"/>
              </a:ext>
            </a:extLst>
          </p:cNvPr>
          <p:cNvSpPr>
            <a:spLocks noGrp="1"/>
          </p:cNvSpPr>
          <p:nvPr>
            <p:ph type="title"/>
          </p:nvPr>
        </p:nvSpPr>
        <p:spPr/>
        <p:txBody>
          <a:bodyPr/>
          <a:lstStyle/>
          <a:p>
            <a:r>
              <a:rPr lang="en-GB" dirty="0"/>
              <a:t>Repeating our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3DC6169-717B-9585-4249-2ACF00156FC4}"/>
                  </a:ext>
                </a:extLst>
              </p:cNvPr>
              <p:cNvSpPr>
                <a:spLocks noGrp="1"/>
              </p:cNvSpPr>
              <p:nvPr>
                <p:ph idx="1"/>
              </p:nvPr>
            </p:nvSpPr>
            <p:spPr/>
            <p:txBody>
              <a:bodyPr/>
              <a:lstStyle/>
              <a:p>
                <a:r>
                  <a:rPr lang="en-GB" dirty="0"/>
                  <a:t>For example, let’s assume in a sample of 100 individuals with a neurological condition, we have observed that 10 of them have a specific symptom. </a:t>
                </a:r>
              </a:p>
              <a:p>
                <a:r>
                  <a:rPr lang="en-GB" dirty="0"/>
                  <a:t>This means that the overall likelihood of having this symptom is given by: </a:t>
                </a:r>
              </a:p>
              <a:p>
                <a:endParaRPr lang="en-GB" dirty="0"/>
              </a:p>
              <a:p>
                <a:pPr marL="0" indent="0">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ℒ</m:t>
                      </m:r>
                      <m:d>
                        <m:dPr>
                          <m:ctrlPr>
                            <a:rPr lang="en-GB" i="1" smtClean="0">
                              <a:latin typeface="Cambria Math" panose="02040503050406030204" pitchFamily="18" charset="0"/>
                              <a:ea typeface="Cambria Math" panose="02040503050406030204" pitchFamily="18" charset="0"/>
                            </a:rPr>
                          </m:ctrlPr>
                        </m:dPr>
                        <m:e>
                          <m:r>
                            <a:rPr lang="en-GB" i="1" smtClean="0">
                              <a:latin typeface="Cambria Math" panose="02040503050406030204" pitchFamily="18" charset="0"/>
                              <a:ea typeface="Cambria Math" panose="02040503050406030204" pitchFamily="18" charset="0"/>
                            </a:rPr>
                            <m:t>𝜃</m:t>
                          </m:r>
                        </m:e>
                        <m:e>
                          <m:r>
                            <a:rPr lang="en-GB" b="0" i="1" smtClean="0">
                              <a:latin typeface="Cambria Math" panose="02040503050406030204" pitchFamily="18" charset="0"/>
                              <a:ea typeface="Cambria Math" panose="02040503050406030204" pitchFamily="18" charset="0"/>
                            </a:rPr>
                            <m:t>𝑋</m:t>
                          </m:r>
                          <m:r>
                            <a:rPr lang="en-GB" b="0" i="1" smtClean="0">
                              <a:latin typeface="Cambria Math" panose="02040503050406030204" pitchFamily="18" charset="0"/>
                              <a:ea typeface="Cambria Math" panose="02040503050406030204" pitchFamily="18" charset="0"/>
                            </a:rPr>
                            <m:t>=10, </m:t>
                          </m:r>
                          <m:r>
                            <a:rPr lang="en-GB" b="0" i="1" smtClean="0">
                              <a:latin typeface="Cambria Math" panose="02040503050406030204" pitchFamily="18" charset="0"/>
                              <a:ea typeface="Cambria Math" panose="02040503050406030204" pitchFamily="18" charset="0"/>
                            </a:rPr>
                            <m:t>𝑁</m:t>
                          </m:r>
                          <m:r>
                            <a:rPr lang="en-GB" b="0" i="1" smtClean="0">
                              <a:latin typeface="Cambria Math" panose="02040503050406030204" pitchFamily="18" charset="0"/>
                              <a:ea typeface="Cambria Math" panose="02040503050406030204" pitchFamily="18" charset="0"/>
                            </a:rPr>
                            <m:t>=100</m:t>
                          </m:r>
                        </m:e>
                      </m:d>
                      <m:r>
                        <a:rPr lang="en-GB" b="0" i="1" smtClean="0">
                          <a:latin typeface="Cambria Math" panose="02040503050406030204" pitchFamily="18" charset="0"/>
                          <a:ea typeface="Cambria Math" panose="02040503050406030204" pitchFamily="18" charset="0"/>
                        </a:rPr>
                        <m:t>= </m:t>
                      </m:r>
                      <m:d>
                        <m:dPr>
                          <m:ctrlPr>
                            <a:rPr lang="en-GB" b="0" i="1" smtClean="0">
                              <a:latin typeface="Cambria Math" panose="02040503050406030204" pitchFamily="18" charset="0"/>
                              <a:ea typeface="Cambria Math" panose="02040503050406030204" pitchFamily="18" charset="0"/>
                            </a:rPr>
                          </m:ctrlPr>
                        </m:dPr>
                        <m:e>
                          <m:f>
                            <m:fPr>
                              <m:type m:val="noBa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100</m:t>
                              </m:r>
                            </m:num>
                            <m:den>
                              <m:r>
                                <a:rPr lang="en-GB" b="0" i="1" smtClean="0">
                                  <a:latin typeface="Cambria Math" panose="02040503050406030204" pitchFamily="18" charset="0"/>
                                  <a:ea typeface="Cambria Math" panose="02040503050406030204" pitchFamily="18" charset="0"/>
                                </a:rPr>
                                <m:t>10</m:t>
                              </m:r>
                            </m:den>
                          </m:f>
                        </m:e>
                      </m:d>
                      <m:r>
                        <a:rPr lang="en-GB" b="0" i="1" smtClean="0">
                          <a:latin typeface="Cambria Math" panose="02040503050406030204" pitchFamily="18" charset="0"/>
                          <a:ea typeface="Cambria Math" panose="02040503050406030204" pitchFamily="18" charset="0"/>
                        </a:rPr>
                        <m:t> </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𝜃</m:t>
                          </m:r>
                        </m:e>
                        <m:sup>
                          <m:r>
                            <a:rPr lang="en-GB" b="0" i="1" smtClean="0">
                              <a:latin typeface="Cambria Math" panose="02040503050406030204" pitchFamily="18" charset="0"/>
                              <a:ea typeface="Cambria Math" panose="02040503050406030204" pitchFamily="18" charset="0"/>
                            </a:rPr>
                            <m:t>10</m:t>
                          </m:r>
                        </m:sup>
                      </m:sSup>
                      <m:sSup>
                        <m:sSupPr>
                          <m:ctrlPr>
                            <a:rPr lang="en-GB" b="0" i="1" smtClean="0">
                              <a:latin typeface="Cambria Math" panose="02040503050406030204" pitchFamily="18" charset="0"/>
                              <a:ea typeface="Cambria Math" panose="02040503050406030204" pitchFamily="18" charset="0"/>
                            </a:rPr>
                          </m:ctrlPr>
                        </m:sSupPr>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ea typeface="Cambria Math" panose="02040503050406030204" pitchFamily="18" charset="0"/>
                                </a:rPr>
                                <m:t>𝜃</m:t>
                              </m:r>
                            </m:e>
                          </m:d>
                        </m:e>
                        <m:sup>
                          <m:r>
                            <a:rPr lang="en-GB" b="0" i="1" smtClean="0">
                              <a:latin typeface="Cambria Math" panose="02040503050406030204" pitchFamily="18" charset="0"/>
                              <a:ea typeface="Cambria Math" panose="02040503050406030204" pitchFamily="18" charset="0"/>
                            </a:rPr>
                            <m:t>90</m:t>
                          </m:r>
                        </m:sup>
                      </m:sSup>
                    </m:oMath>
                  </m:oMathPara>
                </a14:m>
                <a:endParaRPr lang="en-GB" dirty="0"/>
              </a:p>
              <a:p>
                <a:pPr marL="0" indent="0">
                  <a:buNone/>
                </a:pPr>
                <a:endParaRPr lang="en-GB" dirty="0"/>
              </a:p>
              <a:p>
                <a:pPr marL="0" indent="0">
                  <a:buNone/>
                </a:pPr>
                <a:r>
                  <a:rPr lang="en-GB" dirty="0"/>
                  <a:t>- How to find what value for theta (</a:t>
                </a:r>
                <a14:m>
                  <m:oMath xmlns:m="http://schemas.openxmlformats.org/officeDocument/2006/math">
                    <m:r>
                      <a:rPr lang="en-GB" i="1" smtClean="0">
                        <a:latin typeface="Cambria Math" panose="02040503050406030204" pitchFamily="18" charset="0"/>
                        <a:ea typeface="Cambria Math" panose="02040503050406030204" pitchFamily="18" charset="0"/>
                      </a:rPr>
                      <m:t>𝜃</m:t>
                    </m:r>
                  </m:oMath>
                </a14:m>
                <a:r>
                  <a:rPr lang="en-GB" dirty="0"/>
                  <a:t>) will maximise this?</a:t>
                </a:r>
              </a:p>
            </p:txBody>
          </p:sp>
        </mc:Choice>
        <mc:Fallback>
          <p:sp>
            <p:nvSpPr>
              <p:cNvPr id="3" name="Content Placeholder 2">
                <a:extLst>
                  <a:ext uri="{FF2B5EF4-FFF2-40B4-BE49-F238E27FC236}">
                    <a16:creationId xmlns:a16="http://schemas.microsoft.com/office/drawing/2014/main" id="{93DC6169-717B-9585-4249-2ACF00156FC4}"/>
                  </a:ext>
                </a:extLst>
              </p:cNvPr>
              <p:cNvSpPr>
                <a:spLocks noGrp="1" noRot="1" noChangeAspect="1" noMove="1" noResize="1" noEditPoints="1" noAdjustHandles="1" noChangeArrowheads="1" noChangeShapeType="1" noTextEdit="1"/>
              </p:cNvSpPr>
              <p:nvPr>
                <p:ph idx="1"/>
              </p:nvPr>
            </p:nvSpPr>
            <p:spPr>
              <a:blipFill>
                <a:blip r:embed="rId2"/>
                <a:stretch>
                  <a:fillRect l="-925" t="-1018"/>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54AE097F-BFA2-E515-6891-5E83FC560C3A}"/>
              </a:ext>
            </a:extLst>
          </p:cNvPr>
          <p:cNvSpPr>
            <a:spLocks noGrp="1"/>
          </p:cNvSpPr>
          <p:nvPr>
            <p:ph type="sldNum" sz="quarter" idx="12"/>
          </p:nvPr>
        </p:nvSpPr>
        <p:spPr/>
        <p:txBody>
          <a:bodyPr/>
          <a:lstStyle/>
          <a:p>
            <a:fld id="{44E22EE9-B8A0-0641-9265-052CFE9B95A7}" type="slidenum">
              <a:rPr lang="en-GB" altLang="en-US" smtClean="0"/>
              <a:pPr/>
              <a:t>25</a:t>
            </a:fld>
            <a:endParaRPr lang="en-GB" altLang="en-US" dirty="0"/>
          </a:p>
        </p:txBody>
      </p:sp>
    </p:spTree>
    <p:extLst>
      <p:ext uri="{BB962C8B-B14F-4D97-AF65-F5344CB8AC3E}">
        <p14:creationId xmlns:p14="http://schemas.microsoft.com/office/powerpoint/2010/main" val="3281958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B3611-F7AA-9C67-B1F0-1BD88771D533}"/>
              </a:ext>
            </a:extLst>
          </p:cNvPr>
          <p:cNvSpPr>
            <a:spLocks noGrp="1"/>
          </p:cNvSpPr>
          <p:nvPr>
            <p:ph type="title"/>
          </p:nvPr>
        </p:nvSpPr>
        <p:spPr/>
        <p:txBody>
          <a:bodyPr/>
          <a:lstStyle/>
          <a:p>
            <a:r>
              <a:rPr lang="en-GB" dirty="0"/>
              <a:t>Log likelihood*</a:t>
            </a:r>
          </a:p>
        </p:txBody>
      </p:sp>
      <p:sp>
        <p:nvSpPr>
          <p:cNvPr id="3" name="Content Placeholder 2">
            <a:extLst>
              <a:ext uri="{FF2B5EF4-FFF2-40B4-BE49-F238E27FC236}">
                <a16:creationId xmlns:a16="http://schemas.microsoft.com/office/drawing/2014/main" id="{72F73833-7209-8E6F-F152-D47F5A3659DB}"/>
              </a:ext>
            </a:extLst>
          </p:cNvPr>
          <p:cNvSpPr>
            <a:spLocks noGrp="1"/>
          </p:cNvSpPr>
          <p:nvPr>
            <p:ph idx="1"/>
          </p:nvPr>
        </p:nvSpPr>
        <p:spPr/>
        <p:txBody>
          <a:bodyPr/>
          <a:lstStyle/>
          <a:p>
            <a:r>
              <a:rPr lang="en-GB" dirty="0"/>
              <a:t>Before we continue with the next few slides:</a:t>
            </a:r>
          </a:p>
          <a:p>
            <a:r>
              <a:rPr lang="en-GB" dirty="0"/>
              <a:t>I don’t expect you to know or use the maths discussed here- this is just added for your information and for those who might be interested in pursuing Bayesian methods further. </a:t>
            </a:r>
          </a:p>
          <a:p>
            <a:r>
              <a:rPr lang="en-GB" dirty="0"/>
              <a:t>Most modern libraries will automatically train/learn your model and optimise its parameters, including the models we will use in our lab experiments. </a:t>
            </a:r>
          </a:p>
          <a:p>
            <a:pPr marL="0" indent="0">
              <a:buNone/>
            </a:pPr>
            <a:endParaRPr lang="en-GB" dirty="0"/>
          </a:p>
        </p:txBody>
      </p:sp>
      <p:sp>
        <p:nvSpPr>
          <p:cNvPr id="4" name="Slide Number Placeholder 3">
            <a:extLst>
              <a:ext uri="{FF2B5EF4-FFF2-40B4-BE49-F238E27FC236}">
                <a16:creationId xmlns:a16="http://schemas.microsoft.com/office/drawing/2014/main" id="{048FD614-85A3-8011-B581-6F45052BD021}"/>
              </a:ext>
            </a:extLst>
          </p:cNvPr>
          <p:cNvSpPr>
            <a:spLocks noGrp="1"/>
          </p:cNvSpPr>
          <p:nvPr>
            <p:ph type="sldNum" sz="quarter" idx="12"/>
          </p:nvPr>
        </p:nvSpPr>
        <p:spPr/>
        <p:txBody>
          <a:bodyPr/>
          <a:lstStyle/>
          <a:p>
            <a:fld id="{44E22EE9-B8A0-0641-9265-052CFE9B95A7}" type="slidenum">
              <a:rPr lang="en-GB" altLang="en-US" smtClean="0"/>
              <a:pPr/>
              <a:t>26</a:t>
            </a:fld>
            <a:endParaRPr lang="en-GB" altLang="en-US" dirty="0"/>
          </a:p>
        </p:txBody>
      </p:sp>
    </p:spTree>
    <p:extLst>
      <p:ext uri="{BB962C8B-B14F-4D97-AF65-F5344CB8AC3E}">
        <p14:creationId xmlns:p14="http://schemas.microsoft.com/office/powerpoint/2010/main" val="3708407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83292-FCFE-9369-C044-FBA807F76D65}"/>
              </a:ext>
            </a:extLst>
          </p:cNvPr>
          <p:cNvSpPr>
            <a:spLocks noGrp="1"/>
          </p:cNvSpPr>
          <p:nvPr>
            <p:ph type="title"/>
          </p:nvPr>
        </p:nvSpPr>
        <p:spPr/>
        <p:txBody>
          <a:bodyPr/>
          <a:lstStyle/>
          <a:p>
            <a:r>
              <a:rPr lang="en-GB" dirty="0"/>
              <a:t>Log likelihood*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4DB8D1-DBEA-EA80-62FA-47B144471D63}"/>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ℒ</m:t>
                      </m:r>
                      <m:d>
                        <m:dPr>
                          <m:ctrlPr>
                            <a:rPr lang="en-GB" i="1" smtClean="0">
                              <a:latin typeface="Cambria Math" panose="02040503050406030204" pitchFamily="18" charset="0"/>
                              <a:ea typeface="Cambria Math" panose="02040503050406030204" pitchFamily="18" charset="0"/>
                            </a:rPr>
                          </m:ctrlPr>
                        </m:dPr>
                        <m:e>
                          <m:r>
                            <a:rPr lang="en-GB" i="1" smtClean="0">
                              <a:latin typeface="Cambria Math" panose="02040503050406030204" pitchFamily="18" charset="0"/>
                              <a:ea typeface="Cambria Math" panose="02040503050406030204" pitchFamily="18" charset="0"/>
                            </a:rPr>
                            <m:t>𝜃</m:t>
                          </m:r>
                        </m:e>
                        <m:e>
                          <m:r>
                            <a:rPr lang="en-GB" b="0" i="1" smtClean="0">
                              <a:latin typeface="Cambria Math" panose="02040503050406030204" pitchFamily="18" charset="0"/>
                              <a:ea typeface="Cambria Math" panose="02040503050406030204" pitchFamily="18" charset="0"/>
                            </a:rPr>
                            <m:t>𝑋</m:t>
                          </m:r>
                          <m:r>
                            <a:rPr lang="en-GB" b="0" i="1" smtClean="0">
                              <a:latin typeface="Cambria Math" panose="02040503050406030204" pitchFamily="18" charset="0"/>
                              <a:ea typeface="Cambria Math" panose="02040503050406030204" pitchFamily="18" charset="0"/>
                            </a:rPr>
                            <m:t>=10, </m:t>
                          </m:r>
                          <m:r>
                            <a:rPr lang="en-GB" b="0" i="1" smtClean="0">
                              <a:latin typeface="Cambria Math" panose="02040503050406030204" pitchFamily="18" charset="0"/>
                              <a:ea typeface="Cambria Math" panose="02040503050406030204" pitchFamily="18" charset="0"/>
                            </a:rPr>
                            <m:t>𝑁</m:t>
                          </m:r>
                          <m:r>
                            <a:rPr lang="en-GB" b="0" i="1" smtClean="0">
                              <a:latin typeface="Cambria Math" panose="02040503050406030204" pitchFamily="18" charset="0"/>
                              <a:ea typeface="Cambria Math" panose="02040503050406030204" pitchFamily="18" charset="0"/>
                            </a:rPr>
                            <m:t>=100</m:t>
                          </m:r>
                        </m:e>
                      </m:d>
                      <m:r>
                        <a:rPr lang="en-GB" b="0" i="1" smtClean="0">
                          <a:latin typeface="Cambria Math" panose="02040503050406030204" pitchFamily="18" charset="0"/>
                          <a:ea typeface="Cambria Math" panose="02040503050406030204" pitchFamily="18" charset="0"/>
                        </a:rPr>
                        <m:t>= </m:t>
                      </m:r>
                      <m:d>
                        <m:dPr>
                          <m:ctrlPr>
                            <a:rPr lang="en-GB" b="0" i="1" smtClean="0">
                              <a:latin typeface="Cambria Math" panose="02040503050406030204" pitchFamily="18" charset="0"/>
                              <a:ea typeface="Cambria Math" panose="02040503050406030204" pitchFamily="18" charset="0"/>
                            </a:rPr>
                          </m:ctrlPr>
                        </m:dPr>
                        <m:e>
                          <m:f>
                            <m:fPr>
                              <m:type m:val="noBar"/>
                              <m:ctrlPr>
                                <a:rPr lang="en-GB" b="0" i="1" smtClean="0">
                                  <a:latin typeface="Cambria Math" panose="02040503050406030204" pitchFamily="18" charset="0"/>
                                  <a:ea typeface="Cambria Math" panose="02040503050406030204" pitchFamily="18" charset="0"/>
                                </a:rPr>
                              </m:ctrlPr>
                            </m:fPr>
                            <m:num>
                              <m:r>
                                <a:rPr lang="en-GB" b="0" i="1" smtClean="0">
                                  <a:latin typeface="Cambria Math" panose="02040503050406030204" pitchFamily="18" charset="0"/>
                                  <a:ea typeface="Cambria Math" panose="02040503050406030204" pitchFamily="18" charset="0"/>
                                </a:rPr>
                                <m:t>100</m:t>
                              </m:r>
                            </m:num>
                            <m:den>
                              <m:r>
                                <a:rPr lang="en-GB" b="0" i="1" smtClean="0">
                                  <a:latin typeface="Cambria Math" panose="02040503050406030204" pitchFamily="18" charset="0"/>
                                  <a:ea typeface="Cambria Math" panose="02040503050406030204" pitchFamily="18" charset="0"/>
                                </a:rPr>
                                <m:t>10</m:t>
                              </m:r>
                            </m:den>
                          </m:f>
                        </m:e>
                      </m:d>
                      <m:r>
                        <a:rPr lang="en-GB" b="0" i="1" smtClean="0">
                          <a:latin typeface="Cambria Math" panose="02040503050406030204" pitchFamily="18" charset="0"/>
                          <a:ea typeface="Cambria Math" panose="02040503050406030204" pitchFamily="18" charset="0"/>
                        </a:rPr>
                        <m:t> </m:t>
                      </m:r>
                      <m:sSup>
                        <m:sSupPr>
                          <m:ctrlPr>
                            <a:rPr lang="en-GB" b="0" i="1" smtClean="0">
                              <a:latin typeface="Cambria Math" panose="02040503050406030204" pitchFamily="18" charset="0"/>
                              <a:ea typeface="Cambria Math" panose="02040503050406030204" pitchFamily="18" charset="0"/>
                            </a:rPr>
                          </m:ctrlPr>
                        </m:sSupPr>
                        <m:e>
                          <m:r>
                            <a:rPr lang="en-GB" b="0" i="1" smtClean="0">
                              <a:latin typeface="Cambria Math" panose="02040503050406030204" pitchFamily="18" charset="0"/>
                              <a:ea typeface="Cambria Math" panose="02040503050406030204" pitchFamily="18" charset="0"/>
                            </a:rPr>
                            <m:t>𝜃</m:t>
                          </m:r>
                        </m:e>
                        <m:sup>
                          <m:r>
                            <a:rPr lang="en-GB" b="0" i="1" smtClean="0">
                              <a:latin typeface="Cambria Math" panose="02040503050406030204" pitchFamily="18" charset="0"/>
                              <a:ea typeface="Cambria Math" panose="02040503050406030204" pitchFamily="18" charset="0"/>
                            </a:rPr>
                            <m:t>10</m:t>
                          </m:r>
                        </m:sup>
                      </m:sSup>
                      <m:sSup>
                        <m:sSupPr>
                          <m:ctrlPr>
                            <a:rPr lang="en-GB" b="0" i="1" smtClean="0">
                              <a:latin typeface="Cambria Math" panose="02040503050406030204" pitchFamily="18" charset="0"/>
                              <a:ea typeface="Cambria Math" panose="02040503050406030204" pitchFamily="18" charset="0"/>
                            </a:rPr>
                          </m:ctrlPr>
                        </m:sSupPr>
                        <m:e>
                          <m:d>
                            <m:dPr>
                              <m:ctrlPr>
                                <a:rPr lang="en-GB" b="0" i="1" smtClean="0">
                                  <a:latin typeface="Cambria Math" panose="02040503050406030204" pitchFamily="18" charset="0"/>
                                  <a:ea typeface="Cambria Math" panose="02040503050406030204" pitchFamily="18" charset="0"/>
                                </a:rPr>
                              </m:ctrlPr>
                            </m:dPr>
                            <m:e>
                              <m:r>
                                <a:rPr lang="en-GB" b="0" i="1" smtClean="0">
                                  <a:latin typeface="Cambria Math" panose="02040503050406030204" pitchFamily="18" charset="0"/>
                                  <a:ea typeface="Cambria Math" panose="02040503050406030204" pitchFamily="18" charset="0"/>
                                </a:rPr>
                                <m:t>1−</m:t>
                              </m:r>
                              <m:r>
                                <a:rPr lang="en-GB" b="0" i="1" smtClean="0">
                                  <a:latin typeface="Cambria Math" panose="02040503050406030204" pitchFamily="18" charset="0"/>
                                  <a:ea typeface="Cambria Math" panose="02040503050406030204" pitchFamily="18" charset="0"/>
                                </a:rPr>
                                <m:t>𝜃</m:t>
                              </m:r>
                            </m:e>
                          </m:d>
                        </m:e>
                        <m:sup>
                          <m:r>
                            <a:rPr lang="en-GB" b="0" i="1" smtClean="0">
                              <a:latin typeface="Cambria Math" panose="02040503050406030204" pitchFamily="18" charset="0"/>
                              <a:ea typeface="Cambria Math" panose="02040503050406030204" pitchFamily="18" charset="0"/>
                            </a:rPr>
                            <m:t>90</m:t>
                          </m:r>
                        </m:sup>
                      </m:sSup>
                    </m:oMath>
                  </m:oMathPara>
                </a14:m>
                <a:endParaRPr lang="en-GB" dirty="0"/>
              </a:p>
              <a:p>
                <a:r>
                  <a:rPr lang="en-GB" dirty="0"/>
                  <a:t>How to find what value for theta will maximise this?</a:t>
                </a:r>
              </a:p>
              <a:p>
                <a:endParaRPr lang="en-GB" dirty="0"/>
              </a:p>
              <a:p>
                <a:r>
                  <a:rPr lang="en-GB" dirty="0"/>
                  <a:t>These three rules are going to help us:</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func>
                        <m:funcPr>
                          <m:ctrlPr>
                            <a:rPr lang="en-GB" i="1" smtClean="0">
                              <a:latin typeface="Cambria Math" panose="02040503050406030204" pitchFamily="18" charset="0"/>
                            </a:rPr>
                          </m:ctrlPr>
                        </m:funcPr>
                        <m:fName>
                          <m:r>
                            <m:rPr>
                              <m:sty m:val="p"/>
                            </m:rPr>
                            <a:rPr lang="en-GB" i="0" smtClean="0">
                              <a:latin typeface="Cambria Math" panose="02040503050406030204" pitchFamily="18" charset="0"/>
                            </a:rPr>
                            <m:t>log</m:t>
                          </m:r>
                        </m:fName>
                        <m:e>
                          <m:d>
                            <m:dPr>
                              <m:ctrlPr>
                                <a:rPr lang="en-GB" i="1" smtClean="0">
                                  <a:latin typeface="Cambria Math" panose="02040503050406030204" pitchFamily="18" charset="0"/>
                                </a:rPr>
                              </m:ctrlPr>
                            </m:dPr>
                            <m:e>
                              <m:r>
                                <a:rPr lang="en-GB" b="0" i="1" smtClean="0">
                                  <a:latin typeface="Cambria Math" panose="02040503050406030204" pitchFamily="18" charset="0"/>
                                </a:rPr>
                                <m:t>𝑎𝑏</m:t>
                              </m:r>
                            </m:e>
                          </m:d>
                          <m:r>
                            <a:rPr lang="en-GB" b="0" i="1" smtClean="0">
                              <a:latin typeface="Cambria Math" panose="02040503050406030204" pitchFamily="18" charset="0"/>
                            </a:rPr>
                            <m:t>=</m:t>
                          </m:r>
                          <m:func>
                            <m:funcPr>
                              <m:ctrlPr>
                                <a:rPr lang="en-GB" i="1">
                                  <a:latin typeface="Cambria Math" panose="02040503050406030204" pitchFamily="18" charset="0"/>
                                </a:rPr>
                              </m:ctrlPr>
                            </m:funcPr>
                            <m:fName>
                              <m:r>
                                <m:rPr>
                                  <m:sty m:val="p"/>
                                </m:rPr>
                                <a:rPr lang="en-GB">
                                  <a:latin typeface="Cambria Math" panose="02040503050406030204" pitchFamily="18" charset="0"/>
                                </a:rPr>
                                <m:t>log</m:t>
                              </m:r>
                            </m:fName>
                            <m:e>
                              <m:d>
                                <m:dPr>
                                  <m:ctrlPr>
                                    <a:rPr lang="en-GB" i="1">
                                      <a:latin typeface="Cambria Math" panose="02040503050406030204" pitchFamily="18" charset="0"/>
                                    </a:rPr>
                                  </m:ctrlPr>
                                </m:dPr>
                                <m:e>
                                  <m:r>
                                    <a:rPr lang="en-GB" i="1">
                                      <a:latin typeface="Cambria Math" panose="02040503050406030204" pitchFamily="18" charset="0"/>
                                    </a:rPr>
                                    <m:t>𝑎</m:t>
                                  </m:r>
                                </m:e>
                              </m:d>
                              <m:r>
                                <a:rPr lang="en-GB" b="0" i="1" smtClean="0">
                                  <a:latin typeface="Cambria Math" panose="02040503050406030204" pitchFamily="18" charset="0"/>
                                </a:rPr>
                                <m:t>+</m:t>
                              </m:r>
                              <m:func>
                                <m:funcPr>
                                  <m:ctrlPr>
                                    <a:rPr lang="en-GB" i="1">
                                      <a:latin typeface="Cambria Math" panose="02040503050406030204" pitchFamily="18" charset="0"/>
                                    </a:rPr>
                                  </m:ctrlPr>
                                </m:funcPr>
                                <m:fName>
                                  <m:r>
                                    <m:rPr>
                                      <m:sty m:val="p"/>
                                    </m:rPr>
                                    <a:rPr lang="en-GB">
                                      <a:latin typeface="Cambria Math" panose="02040503050406030204" pitchFamily="18" charset="0"/>
                                    </a:rPr>
                                    <m:t>log</m:t>
                                  </m:r>
                                </m:fName>
                                <m:e>
                                  <m:d>
                                    <m:dPr>
                                      <m:ctrlPr>
                                        <a:rPr lang="en-GB" i="1">
                                          <a:latin typeface="Cambria Math" panose="02040503050406030204" pitchFamily="18" charset="0"/>
                                        </a:rPr>
                                      </m:ctrlPr>
                                    </m:dPr>
                                    <m:e>
                                      <m:r>
                                        <a:rPr lang="en-GB" i="1">
                                          <a:latin typeface="Cambria Math" panose="02040503050406030204" pitchFamily="18" charset="0"/>
                                        </a:rPr>
                                        <m:t>𝑏</m:t>
                                      </m:r>
                                    </m:e>
                                  </m:d>
                                  <m:r>
                                    <a:rPr lang="en-GB" i="1">
                                      <a:latin typeface="Cambria Math" panose="02040503050406030204" pitchFamily="18" charset="0"/>
                                    </a:rPr>
                                    <m:t> </m:t>
                                  </m:r>
                                </m:e>
                              </m:func>
                              <m:r>
                                <m:rPr>
                                  <m:nor/>
                                </m:rPr>
                                <a:rPr lang="en-GB" dirty="0"/>
                                <m:t> </m:t>
                              </m:r>
                            </m:e>
                          </m:func>
                          <m:r>
                            <m:rPr>
                              <m:nor/>
                            </m:rPr>
                            <a:rPr lang="en-GB" dirty="0"/>
                            <m:t> </m:t>
                          </m:r>
                        </m:e>
                      </m:func>
                    </m:oMath>
                  </m:oMathPara>
                </a14:m>
                <a:endParaRPr lang="en-GB" dirty="0"/>
              </a:p>
              <a:p>
                <a:pPr marL="0" indent="0">
                  <a:buNone/>
                </a:pPr>
                <a14:m>
                  <m:oMathPara xmlns:m="http://schemas.openxmlformats.org/officeDocument/2006/math">
                    <m:oMathParaPr>
                      <m:jc m:val="centerGroup"/>
                    </m:oMathParaPr>
                    <m:oMath xmlns:m="http://schemas.openxmlformats.org/officeDocument/2006/math">
                      <m:func>
                        <m:funcPr>
                          <m:ctrlPr>
                            <a:rPr lang="en-GB" i="1" smtClean="0">
                              <a:latin typeface="Cambria Math" panose="02040503050406030204" pitchFamily="18" charset="0"/>
                            </a:rPr>
                          </m:ctrlPr>
                        </m:funcPr>
                        <m:fName>
                          <m:r>
                            <m:rPr>
                              <m:sty m:val="p"/>
                            </m:rPr>
                            <a:rPr lang="en-GB" i="0" smtClean="0">
                              <a:latin typeface="Cambria Math" panose="02040503050406030204" pitchFamily="18" charset="0"/>
                            </a:rPr>
                            <m:t>log</m:t>
                          </m:r>
                        </m:fName>
                        <m:e>
                          <m:d>
                            <m:dPr>
                              <m:ctrlPr>
                                <a:rPr lang="en-GB" i="1" smtClean="0">
                                  <a:latin typeface="Cambria Math" panose="02040503050406030204" pitchFamily="18" charset="0"/>
                                </a:rPr>
                              </m:ctrlPr>
                            </m:dPr>
                            <m:e>
                              <m:sSup>
                                <m:sSupPr>
                                  <m:ctrlPr>
                                    <a:rPr lang="en-GB" i="1" smtClean="0">
                                      <a:latin typeface="Cambria Math" panose="02040503050406030204" pitchFamily="18" charset="0"/>
                                    </a:rPr>
                                  </m:ctrlPr>
                                </m:sSupPr>
                                <m:e>
                                  <m:r>
                                    <a:rPr lang="en-GB" b="0" i="1" smtClean="0">
                                      <a:latin typeface="Cambria Math" panose="02040503050406030204" pitchFamily="18" charset="0"/>
                                    </a:rPr>
                                    <m:t>𝑎</m:t>
                                  </m:r>
                                </m:e>
                                <m:sup>
                                  <m:r>
                                    <a:rPr lang="en-GB" b="0" i="1" smtClean="0">
                                      <a:latin typeface="Cambria Math" panose="02040503050406030204" pitchFamily="18" charset="0"/>
                                    </a:rPr>
                                    <m:t>𝑏</m:t>
                                  </m:r>
                                </m:sup>
                              </m:sSup>
                            </m:e>
                          </m:d>
                          <m:r>
                            <a:rPr lang="en-GB" b="0" i="1" smtClean="0">
                              <a:latin typeface="Cambria Math" panose="02040503050406030204" pitchFamily="18" charset="0"/>
                            </a:rPr>
                            <m:t>=</m:t>
                          </m:r>
                          <m:func>
                            <m:funcPr>
                              <m:ctrlPr>
                                <a:rPr lang="en-GB" i="1">
                                  <a:latin typeface="Cambria Math" panose="02040503050406030204" pitchFamily="18" charset="0"/>
                                </a:rPr>
                              </m:ctrlPr>
                            </m:funcPr>
                            <m:fName>
                              <m:r>
                                <m:rPr>
                                  <m:sty m:val="p"/>
                                </m:rPr>
                                <a:rPr lang="en-GB" b="0" i="0" smtClean="0">
                                  <a:latin typeface="Cambria Math" panose="02040503050406030204" pitchFamily="18" charset="0"/>
                                </a:rPr>
                                <m:t>b</m:t>
                              </m:r>
                              <m:r>
                                <a:rPr lang="en-GB" b="0" i="0" smtClean="0">
                                  <a:latin typeface="Cambria Math" panose="02040503050406030204" pitchFamily="18" charset="0"/>
                                </a:rPr>
                                <m:t> </m:t>
                              </m:r>
                              <m:r>
                                <m:rPr>
                                  <m:sty m:val="p"/>
                                </m:rPr>
                                <a:rPr lang="en-GB">
                                  <a:latin typeface="Cambria Math" panose="02040503050406030204" pitchFamily="18" charset="0"/>
                                </a:rPr>
                                <m:t>log</m:t>
                              </m:r>
                            </m:fName>
                            <m:e>
                              <m:d>
                                <m:dPr>
                                  <m:ctrlPr>
                                    <a:rPr lang="en-GB" i="1">
                                      <a:latin typeface="Cambria Math" panose="02040503050406030204" pitchFamily="18" charset="0"/>
                                    </a:rPr>
                                  </m:ctrlPr>
                                </m:dPr>
                                <m:e>
                                  <m:r>
                                    <a:rPr lang="en-GB" i="1">
                                      <a:latin typeface="Cambria Math" panose="02040503050406030204" pitchFamily="18" charset="0"/>
                                    </a:rPr>
                                    <m:t>𝑎</m:t>
                                  </m:r>
                                </m:e>
                              </m:d>
                            </m:e>
                          </m:func>
                          <m:r>
                            <m:rPr>
                              <m:nor/>
                            </m:rPr>
                            <a:rPr lang="en-GB" dirty="0"/>
                            <m:t> </m:t>
                          </m:r>
                        </m:e>
                      </m:func>
                    </m:oMath>
                  </m:oMathPara>
                </a14:m>
                <a:endParaRPr lang="en-GB" dirty="0"/>
              </a:p>
              <a:p>
                <a:pPr marL="0" indent="0">
                  <a:buNone/>
                </a:pPr>
                <a14:m>
                  <m:oMathPara xmlns:m="http://schemas.openxmlformats.org/officeDocument/2006/math">
                    <m:oMathParaPr>
                      <m:jc m:val="centerGroup"/>
                    </m:oMathParaPr>
                    <m:oMath xmlns:m="http://schemas.openxmlformats.org/officeDocument/2006/math">
                      <m:f>
                        <m:fPr>
                          <m:ctrlPr>
                            <a:rPr lang="en-GB" b="0" i="1" smtClean="0">
                              <a:latin typeface="Cambria Math" panose="02040503050406030204" pitchFamily="18" charset="0"/>
                            </a:rPr>
                          </m:ctrlPr>
                        </m:fPr>
                        <m:num>
                          <m:r>
                            <a:rPr lang="en-GB" b="0" i="1" smtClean="0">
                              <a:latin typeface="Cambria Math" panose="02040503050406030204" pitchFamily="18" charset="0"/>
                            </a:rPr>
                            <m:t>𝑑</m:t>
                          </m:r>
                        </m:num>
                        <m:den>
                          <m:r>
                            <a:rPr lang="en-GB" b="0" i="1" smtClean="0">
                              <a:latin typeface="Cambria Math" panose="02040503050406030204" pitchFamily="18" charset="0"/>
                            </a:rPr>
                            <m:t>𝑑𝑥</m:t>
                          </m:r>
                        </m:den>
                      </m:f>
                      <m:d>
                        <m:dPr>
                          <m:ctrlPr>
                            <a:rPr lang="en-GB" b="0" i="1" smtClean="0">
                              <a:latin typeface="Cambria Math" panose="02040503050406030204" pitchFamily="18" charset="0"/>
                            </a:rPr>
                          </m:ctrlPr>
                        </m:dPr>
                        <m:e>
                          <m:func>
                            <m:funcPr>
                              <m:ctrlPr>
                                <a:rPr lang="en-GB" b="0" i="1" smtClean="0">
                                  <a:latin typeface="Cambria Math" panose="02040503050406030204" pitchFamily="18" charset="0"/>
                                </a:rPr>
                              </m:ctrlPr>
                            </m:funcPr>
                            <m:fName>
                              <m:sSub>
                                <m:sSubPr>
                                  <m:ctrlPr>
                                    <a:rPr lang="en-GB" b="0" i="1" smtClean="0">
                                      <a:latin typeface="Cambria Math" panose="02040503050406030204" pitchFamily="18" charset="0"/>
                                    </a:rPr>
                                  </m:ctrlPr>
                                </m:sSubPr>
                                <m:e>
                                  <m:r>
                                    <m:rPr>
                                      <m:sty m:val="p"/>
                                    </m:rPr>
                                    <a:rPr lang="en-GB" b="0" i="0" smtClean="0">
                                      <a:latin typeface="Cambria Math" panose="02040503050406030204" pitchFamily="18" charset="0"/>
                                    </a:rPr>
                                    <m:t>log</m:t>
                                  </m:r>
                                </m:e>
                                <m:sub>
                                  <m:r>
                                    <a:rPr lang="en-GB" b="0" i="1" smtClean="0">
                                      <a:latin typeface="Cambria Math" panose="02040503050406030204" pitchFamily="18" charset="0"/>
                                    </a:rPr>
                                    <m:t>𝑎</m:t>
                                  </m:r>
                                </m:sub>
                              </m:sSub>
                            </m:fName>
                            <m:e>
                              <m:r>
                                <a:rPr lang="en-GB" b="0" i="1" smtClean="0">
                                  <a:latin typeface="Cambria Math" panose="02040503050406030204" pitchFamily="18" charset="0"/>
                                </a:rPr>
                                <m:t>𝑥</m:t>
                              </m:r>
                            </m:e>
                          </m:func>
                        </m:e>
                      </m:d>
                      <m:r>
                        <a:rPr lang="en-GB" b="0" i="1" smtClean="0">
                          <a:latin typeface="Cambria Math" panose="02040503050406030204" pitchFamily="18" charset="0"/>
                        </a:rPr>
                        <m:t>=</m:t>
                      </m:r>
                      <m:f>
                        <m:fPr>
                          <m:ctrlPr>
                            <a:rPr lang="en-GB" b="0" i="1" smtClean="0">
                              <a:latin typeface="Cambria Math" panose="02040503050406030204" pitchFamily="18" charset="0"/>
                            </a:rPr>
                          </m:ctrlPr>
                        </m:fPr>
                        <m:num>
                          <m:r>
                            <a:rPr lang="en-GB" b="0" i="1" smtClean="0">
                              <a:latin typeface="Cambria Math" panose="02040503050406030204" pitchFamily="18" charset="0"/>
                            </a:rPr>
                            <m:t>1</m:t>
                          </m:r>
                        </m:num>
                        <m:den>
                          <m:r>
                            <a:rPr lang="en-GB" b="0" i="1" smtClean="0">
                              <a:latin typeface="Cambria Math" panose="02040503050406030204" pitchFamily="18" charset="0"/>
                            </a:rPr>
                            <m:t>𝑥</m:t>
                          </m:r>
                          <m:func>
                            <m:funcPr>
                              <m:ctrlPr>
                                <a:rPr lang="en-GB" b="0" i="1" smtClean="0">
                                  <a:latin typeface="Cambria Math" panose="02040503050406030204" pitchFamily="18" charset="0"/>
                                </a:rPr>
                              </m:ctrlPr>
                            </m:funcPr>
                            <m:fName>
                              <m:r>
                                <m:rPr>
                                  <m:sty m:val="p"/>
                                </m:rPr>
                                <a:rPr lang="en-GB" b="0" i="0" smtClean="0">
                                  <a:latin typeface="Cambria Math" panose="02040503050406030204" pitchFamily="18" charset="0"/>
                                </a:rPr>
                                <m:t>ln</m:t>
                              </m:r>
                            </m:fName>
                            <m:e>
                              <m:r>
                                <a:rPr lang="en-GB" b="0" i="1" smtClean="0">
                                  <a:latin typeface="Cambria Math" panose="02040503050406030204" pitchFamily="18" charset="0"/>
                                </a:rPr>
                                <m:t>𝑎</m:t>
                              </m:r>
                            </m:e>
                          </m:func>
                        </m:den>
                      </m:f>
                    </m:oMath>
                  </m:oMathPara>
                </a14:m>
                <a:endParaRPr lang="en-GB" dirty="0"/>
              </a:p>
            </p:txBody>
          </p:sp>
        </mc:Choice>
        <mc:Fallback xmlns="">
          <p:sp>
            <p:nvSpPr>
              <p:cNvPr id="3" name="Content Placeholder 2">
                <a:extLst>
                  <a:ext uri="{FF2B5EF4-FFF2-40B4-BE49-F238E27FC236}">
                    <a16:creationId xmlns:a16="http://schemas.microsoft.com/office/drawing/2014/main" id="{914DB8D1-DBEA-EA80-62FA-47B144471D63}"/>
                  </a:ext>
                </a:extLst>
              </p:cNvPr>
              <p:cNvSpPr>
                <a:spLocks noGrp="1" noRot="1" noChangeAspect="1" noMove="1" noResize="1" noEditPoints="1" noAdjustHandles="1" noChangeArrowheads="1" noChangeShapeType="1" noTextEdit="1"/>
              </p:cNvSpPr>
              <p:nvPr>
                <p:ph idx="1"/>
              </p:nvPr>
            </p:nvSpPr>
            <p:spPr>
              <a:blipFill>
                <a:blip r:embed="rId2"/>
                <a:stretch>
                  <a:fillRect l="-772"/>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975BA719-E2A5-C700-5B89-5C5EBA8890D5}"/>
              </a:ext>
            </a:extLst>
          </p:cNvPr>
          <p:cNvSpPr>
            <a:spLocks noGrp="1"/>
          </p:cNvSpPr>
          <p:nvPr>
            <p:ph type="sldNum" sz="quarter" idx="12"/>
          </p:nvPr>
        </p:nvSpPr>
        <p:spPr/>
        <p:txBody>
          <a:bodyPr/>
          <a:lstStyle/>
          <a:p>
            <a:fld id="{44E22EE9-B8A0-0641-9265-052CFE9B95A7}" type="slidenum">
              <a:rPr lang="en-GB" altLang="en-US" smtClean="0"/>
              <a:pPr/>
              <a:t>27</a:t>
            </a:fld>
            <a:endParaRPr lang="en-GB" altLang="en-US" dirty="0"/>
          </a:p>
        </p:txBody>
      </p:sp>
    </p:spTree>
    <p:extLst>
      <p:ext uri="{BB962C8B-B14F-4D97-AF65-F5344CB8AC3E}">
        <p14:creationId xmlns:p14="http://schemas.microsoft.com/office/powerpoint/2010/main" val="31996661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F649-21B7-502F-B40B-424D311E8A3D}"/>
              </a:ext>
            </a:extLst>
          </p:cNvPr>
          <p:cNvSpPr>
            <a:spLocks noGrp="1"/>
          </p:cNvSpPr>
          <p:nvPr>
            <p:ph type="title"/>
          </p:nvPr>
        </p:nvSpPr>
        <p:spPr/>
        <p:txBody>
          <a:bodyPr/>
          <a:lstStyle/>
          <a:p>
            <a:r>
              <a:rPr lang="en-GB" dirty="0"/>
              <a:t>Maximising the Log likelihood*</a:t>
            </a:r>
          </a:p>
        </p:txBody>
      </p:sp>
      <p:sp>
        <p:nvSpPr>
          <p:cNvPr id="3" name="Content Placeholder 2">
            <a:extLst>
              <a:ext uri="{FF2B5EF4-FFF2-40B4-BE49-F238E27FC236}">
                <a16:creationId xmlns:a16="http://schemas.microsoft.com/office/drawing/2014/main" id="{B89FE3B7-C2B9-23D9-597E-080BB717DCDF}"/>
              </a:ext>
            </a:extLst>
          </p:cNvPr>
          <p:cNvSpPr>
            <a:spLocks noGrp="1"/>
          </p:cNvSpPr>
          <p:nvPr>
            <p:ph idx="1"/>
          </p:nvPr>
        </p:nvSpPr>
        <p:spPr/>
        <p:txBody>
          <a:bodyPr/>
          <a:lstStyle/>
          <a:p>
            <a:r>
              <a:rPr lang="en-GB" dirty="0"/>
              <a:t>To maximise the likelihood, calculate the log-likelihood, take the derivative and then set it equal to zero.</a:t>
            </a:r>
          </a:p>
          <a:p>
            <a:r>
              <a:rPr lang="en-GB" dirty="0"/>
              <a:t>We calculate the log-likelihood for simplicity of working with sums (+) instead of multiplications (x) [needed for the step below]</a:t>
            </a:r>
          </a:p>
          <a:p>
            <a:r>
              <a:rPr lang="en-GB" dirty="0"/>
              <a:t>We take the first derivative and set it to zero because the first derivative will give us the slope of change;</a:t>
            </a:r>
          </a:p>
          <a:p>
            <a:r>
              <a:rPr lang="en-GB" dirty="0"/>
              <a:t>And setting it to zero will give you the point that the point that the function is maximised. </a:t>
            </a:r>
          </a:p>
        </p:txBody>
      </p:sp>
      <p:sp>
        <p:nvSpPr>
          <p:cNvPr id="4" name="Slide Number Placeholder 3">
            <a:extLst>
              <a:ext uri="{FF2B5EF4-FFF2-40B4-BE49-F238E27FC236}">
                <a16:creationId xmlns:a16="http://schemas.microsoft.com/office/drawing/2014/main" id="{D5CAF33C-20EC-28F9-D33F-A5F77040F73E}"/>
              </a:ext>
            </a:extLst>
          </p:cNvPr>
          <p:cNvSpPr>
            <a:spLocks noGrp="1"/>
          </p:cNvSpPr>
          <p:nvPr>
            <p:ph type="sldNum" sz="quarter" idx="12"/>
          </p:nvPr>
        </p:nvSpPr>
        <p:spPr/>
        <p:txBody>
          <a:bodyPr/>
          <a:lstStyle/>
          <a:p>
            <a:fld id="{44E22EE9-B8A0-0641-9265-052CFE9B95A7}" type="slidenum">
              <a:rPr lang="en-GB" altLang="en-US" smtClean="0"/>
              <a:pPr/>
              <a:t>28</a:t>
            </a:fld>
            <a:endParaRPr lang="en-GB" altLang="en-US" dirty="0"/>
          </a:p>
        </p:txBody>
      </p:sp>
    </p:spTree>
    <p:extLst>
      <p:ext uri="{BB962C8B-B14F-4D97-AF65-F5344CB8AC3E}">
        <p14:creationId xmlns:p14="http://schemas.microsoft.com/office/powerpoint/2010/main" val="1316636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DEF1-A825-1B19-F0C0-633ACD9B26E1}"/>
              </a:ext>
            </a:extLst>
          </p:cNvPr>
          <p:cNvSpPr>
            <a:spLocks noGrp="1"/>
          </p:cNvSpPr>
          <p:nvPr>
            <p:ph type="title"/>
          </p:nvPr>
        </p:nvSpPr>
        <p:spPr/>
        <p:txBody>
          <a:bodyPr/>
          <a:lstStyle/>
          <a:p>
            <a:r>
              <a:rPr lang="en-GB" dirty="0"/>
              <a:t>Why do we take the first derivative and set it to zero?</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85B4035-1B19-0C37-4303-4FEA87F8744F}"/>
                  </a:ext>
                </a:extLst>
              </p:cNvPr>
              <p:cNvSpPr>
                <a:spLocks noGrp="1"/>
              </p:cNvSpPr>
              <p:nvPr>
                <p:ph idx="1"/>
              </p:nvPr>
            </p:nvSpPr>
            <p:spPr/>
            <p:txBody>
              <a:bodyPr/>
              <a:lstStyle/>
              <a:p>
                <a:r>
                  <a:rPr lang="en-GB" kern="1200" dirty="0"/>
                  <a:t>Imagine the likelihood function as a hill. The top of the hill is where the likelihood is highest.</a:t>
                </a:r>
              </a:p>
              <a:p>
                <a:r>
                  <a:rPr lang="en-GB" kern="1200" dirty="0"/>
                  <a:t>That’s the parameter value we want. To find the top, we look at the slope of the hill. When you’re climbing up, the slope is positive; when you’re going down, it’s negative. At the very peak, the slope is flat, zero.</a:t>
                </a:r>
              </a:p>
              <a:p>
                <a:r>
                  <a:rPr lang="en-GB" kern="1200" dirty="0"/>
                  <a:t>The first derivative tells us the slope. So, by taking the derivative of the log-likelihood and setting it to zero, we’re finding the point where the slope is flat, the maximum. This is why solving</a:t>
                </a:r>
              </a:p>
              <a:p>
                <a:pPr lvl="1"/>
                <a14:m>
                  <m:oMath xmlns:m="http://schemas.openxmlformats.org/officeDocument/2006/math">
                    <m:f>
                      <m:fPr>
                        <m:ctrlPr>
                          <a:rPr lang="ar-AE" i="1" kern="1200">
                            <a:latin typeface="Cambria Math" panose="02040503050406030204" pitchFamily="18" charset="0"/>
                          </a:rPr>
                        </m:ctrlPr>
                      </m:fPr>
                      <m:num>
                        <m:r>
                          <a:rPr lang="ar-AE" i="1" kern="1200">
                            <a:latin typeface="Cambria Math" panose="02040503050406030204" pitchFamily="18" charset="0"/>
                          </a:rPr>
                          <m:t>𝑑</m:t>
                        </m:r>
                        <m:r>
                          <a:rPr lang="ar-AE" kern="1200">
                            <a:latin typeface="Cambria Math" panose="02040503050406030204" pitchFamily="18" charset="0"/>
                          </a:rPr>
                          <m:t>ℓ</m:t>
                        </m:r>
                        <m:d>
                          <m:dPr>
                            <m:ctrlPr>
                              <a:rPr lang="ar-AE" i="1" kern="1200">
                                <a:latin typeface="Cambria Math" panose="02040503050406030204" pitchFamily="18" charset="0"/>
                              </a:rPr>
                            </m:ctrlPr>
                          </m:dPr>
                          <m:e>
                            <m:r>
                              <a:rPr lang="ar-AE" i="1" kern="1200">
                                <a:latin typeface="Cambria Math" panose="02040503050406030204" pitchFamily="18" charset="0"/>
                              </a:rPr>
                              <m:t>𝜃</m:t>
                            </m:r>
                          </m:e>
                        </m:d>
                      </m:num>
                      <m:den>
                        <m:r>
                          <a:rPr lang="ar-AE" i="1" kern="1200">
                            <a:latin typeface="Cambria Math" panose="02040503050406030204" pitchFamily="18" charset="0"/>
                          </a:rPr>
                          <m:t>𝑑</m:t>
                        </m:r>
                        <m:r>
                          <a:rPr lang="ar-AE" i="1" kern="1200">
                            <a:latin typeface="Cambria Math" panose="02040503050406030204" pitchFamily="18" charset="0"/>
                          </a:rPr>
                          <m:t>𝜃</m:t>
                        </m:r>
                      </m:den>
                    </m:f>
                    <m:r>
                      <a:rPr lang="ar-AE" kern="1200">
                        <a:latin typeface="Cambria Math" panose="02040503050406030204" pitchFamily="18" charset="0"/>
                      </a:rPr>
                      <m:t>=0</m:t>
                    </m:r>
                  </m:oMath>
                </a14:m>
                <a:endParaRPr lang="ar-AE" dirty="0"/>
              </a:p>
              <a:p>
                <a:pPr lvl="1"/>
                <a:r>
                  <a:rPr lang="en-GB" kern="1200" dirty="0"/>
                  <a:t>gives us the Maximum Likelihood Estimate.</a:t>
                </a:r>
              </a:p>
              <a:p>
                <a:endParaRPr lang="en-GB" dirty="0"/>
              </a:p>
              <a:p>
                <a:endParaRPr lang="en-GB" dirty="0"/>
              </a:p>
              <a:p>
                <a:pPr marL="0" indent="0">
                  <a:buNone/>
                </a:pPr>
                <a:r>
                  <a:rPr lang="en-GB" dirty="0"/>
                  <a:t> </a:t>
                </a:r>
              </a:p>
            </p:txBody>
          </p:sp>
        </mc:Choice>
        <mc:Fallback>
          <p:sp>
            <p:nvSpPr>
              <p:cNvPr id="3" name="Content Placeholder 2">
                <a:extLst>
                  <a:ext uri="{FF2B5EF4-FFF2-40B4-BE49-F238E27FC236}">
                    <a16:creationId xmlns:a16="http://schemas.microsoft.com/office/drawing/2014/main" id="{685B4035-1B19-0C37-4303-4FEA87F8744F}"/>
                  </a:ext>
                </a:extLst>
              </p:cNvPr>
              <p:cNvSpPr>
                <a:spLocks noGrp="1" noRot="1" noChangeAspect="1" noMove="1" noResize="1" noEditPoints="1" noAdjustHandles="1" noChangeArrowheads="1" noChangeShapeType="1" noTextEdit="1"/>
              </p:cNvSpPr>
              <p:nvPr>
                <p:ph idx="1"/>
              </p:nvPr>
            </p:nvSpPr>
            <p:spPr>
              <a:blipFill>
                <a:blip r:embed="rId3"/>
                <a:stretch>
                  <a:fillRect l="-925" t="-1018" r="-1503"/>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8715B3B7-4F8C-0F23-C2F6-3F979DDC826B}"/>
              </a:ext>
            </a:extLst>
          </p:cNvPr>
          <p:cNvSpPr>
            <a:spLocks noGrp="1"/>
          </p:cNvSpPr>
          <p:nvPr>
            <p:ph type="sldNum" sz="quarter" idx="12"/>
          </p:nvPr>
        </p:nvSpPr>
        <p:spPr/>
        <p:txBody>
          <a:bodyPr/>
          <a:lstStyle/>
          <a:p>
            <a:fld id="{44E22EE9-B8A0-0641-9265-052CFE9B95A7}" type="slidenum">
              <a:rPr lang="en-GB" altLang="en-US" smtClean="0"/>
              <a:pPr/>
              <a:t>29</a:t>
            </a:fld>
            <a:endParaRPr lang="en-GB" altLang="en-US" dirty="0"/>
          </a:p>
        </p:txBody>
      </p:sp>
    </p:spTree>
    <p:extLst>
      <p:ext uri="{BB962C8B-B14F-4D97-AF65-F5344CB8AC3E}">
        <p14:creationId xmlns:p14="http://schemas.microsoft.com/office/powerpoint/2010/main" val="2535071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4DB74-6FAE-CB8A-31FD-59057114A743}"/>
              </a:ext>
            </a:extLst>
          </p:cNvPr>
          <p:cNvSpPr>
            <a:spLocks noGrp="1"/>
          </p:cNvSpPr>
          <p:nvPr>
            <p:ph type="title"/>
          </p:nvPr>
        </p:nvSpPr>
        <p:spPr/>
        <p:txBody>
          <a:bodyPr/>
          <a:lstStyle/>
          <a:p>
            <a:r>
              <a:rPr lang="en-GB" dirty="0"/>
              <a:t>Maximising the Log likelihood*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07A92C4-9B19-CA9D-8A6D-FD1F61212B48}"/>
                  </a:ext>
                </a:extLst>
              </p:cNvPr>
              <p:cNvSpPr>
                <a:spLocks noGrp="1"/>
              </p:cNvSpPr>
              <p:nvPr>
                <p:ph idx="1"/>
              </p:nvPr>
            </p:nvSpPr>
            <p:spPr/>
            <p:txBody>
              <a:bodyPr/>
              <a:lstStyle/>
              <a:p>
                <a:pPr marL="0" indent="0">
                  <a:buNone/>
                </a:pPr>
                <a14:m>
                  <m:oMathPara xmlns:m="http://schemas.openxmlformats.org/officeDocument/2006/math">
                    <m:oMathParaPr>
                      <m:jc m:val="centerGroup"/>
                    </m:oMathParaPr>
                    <m:oMath xmlns:m="http://schemas.openxmlformats.org/officeDocument/2006/math">
                      <m:r>
                        <a:rPr lang="en-GB" sz="2000" i="1" smtClean="0">
                          <a:latin typeface="Cambria Math" panose="02040503050406030204" pitchFamily="18" charset="0"/>
                          <a:ea typeface="Cambria Math" panose="02040503050406030204" pitchFamily="18" charset="0"/>
                        </a:rPr>
                        <m:t>ℒ</m:t>
                      </m:r>
                      <m:d>
                        <m:dPr>
                          <m:ctrlPr>
                            <a:rPr lang="en-GB" sz="2000" i="1" smtClean="0">
                              <a:latin typeface="Cambria Math" panose="02040503050406030204" pitchFamily="18" charset="0"/>
                              <a:ea typeface="Cambria Math" panose="02040503050406030204" pitchFamily="18" charset="0"/>
                            </a:rPr>
                          </m:ctrlPr>
                        </m:dPr>
                        <m:e>
                          <m:r>
                            <a:rPr lang="en-GB" sz="2000" i="1" smtClean="0">
                              <a:latin typeface="Cambria Math" panose="02040503050406030204" pitchFamily="18" charset="0"/>
                              <a:ea typeface="Cambria Math" panose="02040503050406030204" pitchFamily="18" charset="0"/>
                            </a:rPr>
                            <m:t>𝜃</m:t>
                          </m:r>
                        </m:e>
                        <m:e>
                          <m:r>
                            <a:rPr lang="en-GB" sz="2000" b="0" i="1" smtClean="0">
                              <a:latin typeface="Cambria Math" panose="02040503050406030204" pitchFamily="18" charset="0"/>
                              <a:ea typeface="Cambria Math" panose="02040503050406030204" pitchFamily="18" charset="0"/>
                            </a:rPr>
                            <m:t>𝑋</m:t>
                          </m:r>
                          <m:r>
                            <a:rPr lang="en-GB" sz="2000" b="0" i="1" smtClean="0">
                              <a:latin typeface="Cambria Math" panose="02040503050406030204" pitchFamily="18" charset="0"/>
                              <a:ea typeface="Cambria Math" panose="02040503050406030204" pitchFamily="18" charset="0"/>
                            </a:rPr>
                            <m:t>=10, </m:t>
                          </m:r>
                          <m:r>
                            <a:rPr lang="en-GB" sz="2000" b="0" i="1" smtClean="0">
                              <a:latin typeface="Cambria Math" panose="02040503050406030204" pitchFamily="18" charset="0"/>
                              <a:ea typeface="Cambria Math" panose="02040503050406030204" pitchFamily="18" charset="0"/>
                            </a:rPr>
                            <m:t>𝑁</m:t>
                          </m:r>
                          <m:r>
                            <a:rPr lang="en-GB" sz="2000" b="0" i="1" smtClean="0">
                              <a:latin typeface="Cambria Math" panose="02040503050406030204" pitchFamily="18" charset="0"/>
                              <a:ea typeface="Cambria Math" panose="02040503050406030204" pitchFamily="18" charset="0"/>
                            </a:rPr>
                            <m:t>=100</m:t>
                          </m:r>
                        </m:e>
                      </m:d>
                      <m:r>
                        <a:rPr lang="en-GB" sz="2000" b="0" i="1" smtClean="0">
                          <a:latin typeface="Cambria Math" panose="02040503050406030204" pitchFamily="18" charset="0"/>
                          <a:ea typeface="Cambria Math" panose="02040503050406030204" pitchFamily="18" charset="0"/>
                        </a:rPr>
                        <m:t>= </m:t>
                      </m:r>
                      <m:d>
                        <m:dPr>
                          <m:ctrlPr>
                            <a:rPr lang="en-GB" sz="2000" b="0" i="1" smtClean="0">
                              <a:latin typeface="Cambria Math" panose="02040503050406030204" pitchFamily="18" charset="0"/>
                              <a:ea typeface="Cambria Math" panose="02040503050406030204" pitchFamily="18" charset="0"/>
                            </a:rPr>
                          </m:ctrlPr>
                        </m:dPr>
                        <m:e>
                          <m:f>
                            <m:fPr>
                              <m:type m:val="noBar"/>
                              <m:ctrlPr>
                                <a:rPr lang="en-GB" sz="2000" b="0" i="1" smtClean="0">
                                  <a:latin typeface="Cambria Math" panose="02040503050406030204" pitchFamily="18" charset="0"/>
                                  <a:ea typeface="Cambria Math" panose="02040503050406030204" pitchFamily="18" charset="0"/>
                                </a:rPr>
                              </m:ctrlPr>
                            </m:fPr>
                            <m:num>
                              <m:r>
                                <a:rPr lang="en-GB" sz="2000" b="0" i="1" smtClean="0">
                                  <a:latin typeface="Cambria Math" panose="02040503050406030204" pitchFamily="18" charset="0"/>
                                  <a:ea typeface="Cambria Math" panose="02040503050406030204" pitchFamily="18" charset="0"/>
                                </a:rPr>
                                <m:t>100</m:t>
                              </m:r>
                            </m:num>
                            <m:den>
                              <m:r>
                                <a:rPr lang="en-GB" sz="2000" b="0" i="1" smtClean="0">
                                  <a:latin typeface="Cambria Math" panose="02040503050406030204" pitchFamily="18" charset="0"/>
                                  <a:ea typeface="Cambria Math" panose="02040503050406030204" pitchFamily="18" charset="0"/>
                                </a:rPr>
                                <m:t>10</m:t>
                              </m:r>
                            </m:den>
                          </m:f>
                        </m:e>
                      </m:d>
                      <m:r>
                        <a:rPr lang="en-GB" sz="2000" b="0" i="1" smtClean="0">
                          <a:latin typeface="Cambria Math" panose="02040503050406030204" pitchFamily="18" charset="0"/>
                          <a:ea typeface="Cambria Math" panose="02040503050406030204" pitchFamily="18" charset="0"/>
                        </a:rPr>
                        <m:t> </m:t>
                      </m:r>
                      <m:sSup>
                        <m:sSupPr>
                          <m:ctrlPr>
                            <a:rPr lang="en-GB" sz="2000" b="0" i="1" smtClean="0">
                              <a:latin typeface="Cambria Math" panose="02040503050406030204" pitchFamily="18" charset="0"/>
                              <a:ea typeface="Cambria Math" panose="02040503050406030204" pitchFamily="18" charset="0"/>
                            </a:rPr>
                          </m:ctrlPr>
                        </m:sSupPr>
                        <m:e>
                          <m:r>
                            <a:rPr lang="en-GB" sz="2000" b="0" i="1" smtClean="0">
                              <a:latin typeface="Cambria Math" panose="02040503050406030204" pitchFamily="18" charset="0"/>
                              <a:ea typeface="Cambria Math" panose="02040503050406030204" pitchFamily="18" charset="0"/>
                            </a:rPr>
                            <m:t>𝜃</m:t>
                          </m:r>
                        </m:e>
                        <m:sup>
                          <m:r>
                            <a:rPr lang="en-GB" sz="2000" b="0" i="1" smtClean="0">
                              <a:latin typeface="Cambria Math" panose="02040503050406030204" pitchFamily="18" charset="0"/>
                              <a:ea typeface="Cambria Math" panose="02040503050406030204" pitchFamily="18" charset="0"/>
                            </a:rPr>
                            <m:t>10</m:t>
                          </m:r>
                        </m:sup>
                      </m:sSup>
                      <m:sSup>
                        <m:sSupPr>
                          <m:ctrlPr>
                            <a:rPr lang="en-GB" sz="2000" b="0" i="1" smtClean="0">
                              <a:latin typeface="Cambria Math" panose="02040503050406030204" pitchFamily="18" charset="0"/>
                              <a:ea typeface="Cambria Math" panose="02040503050406030204" pitchFamily="18" charset="0"/>
                            </a:rPr>
                          </m:ctrlPr>
                        </m:sSupPr>
                        <m:e>
                          <m:d>
                            <m:dPr>
                              <m:ctrlPr>
                                <a:rPr lang="en-GB" sz="2000" b="0" i="1" smtClean="0">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1−</m:t>
                              </m:r>
                              <m:r>
                                <a:rPr lang="en-GB" sz="2000" b="0" i="1" smtClean="0">
                                  <a:latin typeface="Cambria Math" panose="02040503050406030204" pitchFamily="18" charset="0"/>
                                  <a:ea typeface="Cambria Math" panose="02040503050406030204" pitchFamily="18" charset="0"/>
                                </a:rPr>
                                <m:t>𝜃</m:t>
                              </m:r>
                            </m:e>
                          </m:d>
                        </m:e>
                        <m:sup>
                          <m:r>
                            <a:rPr lang="en-GB" sz="2000" b="0" i="1" smtClean="0">
                              <a:latin typeface="Cambria Math" panose="02040503050406030204" pitchFamily="18" charset="0"/>
                              <a:ea typeface="Cambria Math" panose="02040503050406030204" pitchFamily="18" charset="0"/>
                            </a:rPr>
                            <m:t>90</m:t>
                          </m:r>
                        </m:sup>
                      </m:sSup>
                    </m:oMath>
                  </m:oMathPara>
                </a14:m>
                <a:endParaRPr lang="en-GB" sz="2000" b="0" dirty="0">
                  <a:ea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func>
                        <m:funcPr>
                          <m:ctrlPr>
                            <a:rPr lang="en-GB" sz="1800" i="1">
                              <a:latin typeface="Cambria Math" panose="02040503050406030204" pitchFamily="18" charset="0"/>
                            </a:rPr>
                          </m:ctrlPr>
                        </m:funcPr>
                        <m:fName>
                          <m:r>
                            <m:rPr>
                              <m:sty m:val="p"/>
                            </m:rPr>
                            <a:rPr lang="en-GB" sz="1800">
                              <a:latin typeface="Cambria Math" panose="02040503050406030204" pitchFamily="18" charset="0"/>
                            </a:rPr>
                            <m:t>log</m:t>
                          </m:r>
                        </m:fName>
                        <m:e>
                          <m:d>
                            <m:dPr>
                              <m:ctrlPr>
                                <a:rPr lang="en-GB" sz="1800" i="1">
                                  <a:latin typeface="Cambria Math" panose="02040503050406030204" pitchFamily="18" charset="0"/>
                                </a:rPr>
                              </m:ctrlPr>
                            </m:dPr>
                            <m:e>
                              <m:r>
                                <a:rPr lang="en-GB" sz="1800" i="1">
                                  <a:latin typeface="Cambria Math" panose="02040503050406030204" pitchFamily="18" charset="0"/>
                                </a:rPr>
                                <m:t>𝑎𝑏</m:t>
                              </m:r>
                            </m:e>
                          </m:d>
                          <m:r>
                            <a:rPr lang="en-GB" sz="1800" i="1">
                              <a:latin typeface="Cambria Math" panose="02040503050406030204" pitchFamily="18" charset="0"/>
                            </a:rPr>
                            <m:t>=</m:t>
                          </m:r>
                          <m:func>
                            <m:funcPr>
                              <m:ctrlPr>
                                <a:rPr lang="en-GB" sz="1800" i="1">
                                  <a:latin typeface="Cambria Math" panose="02040503050406030204" pitchFamily="18" charset="0"/>
                                </a:rPr>
                              </m:ctrlPr>
                            </m:funcPr>
                            <m:fName>
                              <m:r>
                                <m:rPr>
                                  <m:sty m:val="p"/>
                                </m:rPr>
                                <a:rPr lang="en-GB" sz="1800">
                                  <a:latin typeface="Cambria Math" panose="02040503050406030204" pitchFamily="18" charset="0"/>
                                </a:rPr>
                                <m:t>log</m:t>
                              </m:r>
                            </m:fName>
                            <m:e>
                              <m:d>
                                <m:dPr>
                                  <m:ctrlPr>
                                    <a:rPr lang="en-GB" sz="1800" i="1">
                                      <a:latin typeface="Cambria Math" panose="02040503050406030204" pitchFamily="18" charset="0"/>
                                    </a:rPr>
                                  </m:ctrlPr>
                                </m:dPr>
                                <m:e>
                                  <m:r>
                                    <a:rPr lang="en-GB" sz="1800" i="1">
                                      <a:latin typeface="Cambria Math" panose="02040503050406030204" pitchFamily="18" charset="0"/>
                                    </a:rPr>
                                    <m:t>𝑎</m:t>
                                  </m:r>
                                </m:e>
                              </m:d>
                              <m:r>
                                <a:rPr lang="en-GB" sz="1800" i="1">
                                  <a:latin typeface="Cambria Math" panose="02040503050406030204" pitchFamily="18" charset="0"/>
                                </a:rPr>
                                <m:t>+</m:t>
                              </m:r>
                              <m:func>
                                <m:funcPr>
                                  <m:ctrlPr>
                                    <a:rPr lang="en-GB" sz="1800" i="1">
                                      <a:latin typeface="Cambria Math" panose="02040503050406030204" pitchFamily="18" charset="0"/>
                                    </a:rPr>
                                  </m:ctrlPr>
                                </m:funcPr>
                                <m:fName>
                                  <m:r>
                                    <m:rPr>
                                      <m:sty m:val="p"/>
                                    </m:rPr>
                                    <a:rPr lang="en-GB" sz="1800">
                                      <a:latin typeface="Cambria Math" panose="02040503050406030204" pitchFamily="18" charset="0"/>
                                    </a:rPr>
                                    <m:t>log</m:t>
                                  </m:r>
                                </m:fName>
                                <m:e>
                                  <m:d>
                                    <m:dPr>
                                      <m:ctrlPr>
                                        <a:rPr lang="en-GB" sz="1800" i="1">
                                          <a:latin typeface="Cambria Math" panose="02040503050406030204" pitchFamily="18" charset="0"/>
                                        </a:rPr>
                                      </m:ctrlPr>
                                    </m:dPr>
                                    <m:e>
                                      <m:r>
                                        <a:rPr lang="en-GB" sz="1800" i="1">
                                          <a:latin typeface="Cambria Math" panose="02040503050406030204" pitchFamily="18" charset="0"/>
                                        </a:rPr>
                                        <m:t>𝑏</m:t>
                                      </m:r>
                                    </m:e>
                                  </m:d>
                                  <m:r>
                                    <a:rPr lang="en-GB" sz="1800" i="1">
                                      <a:latin typeface="Cambria Math" panose="02040503050406030204" pitchFamily="18" charset="0"/>
                                    </a:rPr>
                                    <m:t> </m:t>
                                  </m:r>
                                </m:e>
                              </m:func>
                              <m:r>
                                <m:rPr>
                                  <m:nor/>
                                </m:rPr>
                                <a:rPr lang="en-GB" sz="1800" dirty="0"/>
                                <m:t> </m:t>
                              </m:r>
                            </m:e>
                          </m:func>
                          <m:r>
                            <m:rPr>
                              <m:nor/>
                            </m:rPr>
                            <a:rPr lang="en-GB" sz="1800" dirty="0"/>
                            <m:t> </m:t>
                          </m:r>
                        </m:e>
                      </m:func>
                    </m:oMath>
                  </m:oMathPara>
                </a14:m>
                <a:endParaRPr lang="en-GB" sz="1800" dirty="0"/>
              </a:p>
              <a:p>
                <a:pPr marL="0" indent="0">
                  <a:buNone/>
                </a:pPr>
                <a14:m>
                  <m:oMathPara xmlns:m="http://schemas.openxmlformats.org/officeDocument/2006/math">
                    <m:oMathParaPr>
                      <m:jc m:val="centerGroup"/>
                    </m:oMathParaPr>
                    <m:oMath xmlns:m="http://schemas.openxmlformats.org/officeDocument/2006/math">
                      <m:func>
                        <m:funcPr>
                          <m:ctrlPr>
                            <a:rPr lang="en-GB" sz="1800" i="1">
                              <a:latin typeface="Cambria Math" panose="02040503050406030204" pitchFamily="18" charset="0"/>
                            </a:rPr>
                          </m:ctrlPr>
                        </m:funcPr>
                        <m:fName>
                          <m:r>
                            <m:rPr>
                              <m:sty m:val="p"/>
                            </m:rPr>
                            <a:rPr lang="en-GB" sz="1800">
                              <a:latin typeface="Cambria Math" panose="02040503050406030204" pitchFamily="18" charset="0"/>
                            </a:rPr>
                            <m:t>log</m:t>
                          </m:r>
                        </m:fName>
                        <m:e>
                          <m:d>
                            <m:dPr>
                              <m:ctrlPr>
                                <a:rPr lang="en-GB" sz="1800" i="1">
                                  <a:latin typeface="Cambria Math" panose="02040503050406030204" pitchFamily="18" charset="0"/>
                                </a:rPr>
                              </m:ctrlPr>
                            </m:dPr>
                            <m:e>
                              <m:sSup>
                                <m:sSupPr>
                                  <m:ctrlPr>
                                    <a:rPr lang="en-GB" sz="1800" i="1">
                                      <a:latin typeface="Cambria Math" panose="02040503050406030204" pitchFamily="18" charset="0"/>
                                    </a:rPr>
                                  </m:ctrlPr>
                                </m:sSupPr>
                                <m:e>
                                  <m:r>
                                    <a:rPr lang="en-GB" sz="1800" i="1">
                                      <a:latin typeface="Cambria Math" panose="02040503050406030204" pitchFamily="18" charset="0"/>
                                    </a:rPr>
                                    <m:t>𝑎</m:t>
                                  </m:r>
                                </m:e>
                                <m:sup>
                                  <m:r>
                                    <a:rPr lang="en-GB" sz="1800" i="1">
                                      <a:latin typeface="Cambria Math" panose="02040503050406030204" pitchFamily="18" charset="0"/>
                                    </a:rPr>
                                    <m:t>𝑏</m:t>
                                  </m:r>
                                </m:sup>
                              </m:sSup>
                            </m:e>
                          </m:d>
                          <m:r>
                            <a:rPr lang="en-GB" sz="1800" i="1">
                              <a:latin typeface="Cambria Math" panose="02040503050406030204" pitchFamily="18" charset="0"/>
                            </a:rPr>
                            <m:t>=</m:t>
                          </m:r>
                          <m:func>
                            <m:funcPr>
                              <m:ctrlPr>
                                <a:rPr lang="en-GB" sz="1800" i="1">
                                  <a:latin typeface="Cambria Math" panose="02040503050406030204" pitchFamily="18" charset="0"/>
                                </a:rPr>
                              </m:ctrlPr>
                            </m:funcPr>
                            <m:fName>
                              <m:r>
                                <m:rPr>
                                  <m:sty m:val="p"/>
                                </m:rPr>
                                <a:rPr lang="en-GB" sz="1800">
                                  <a:latin typeface="Cambria Math" panose="02040503050406030204" pitchFamily="18" charset="0"/>
                                </a:rPr>
                                <m:t>b</m:t>
                              </m:r>
                              <m:r>
                                <a:rPr lang="en-GB" sz="1800">
                                  <a:latin typeface="Cambria Math" panose="02040503050406030204" pitchFamily="18" charset="0"/>
                                </a:rPr>
                                <m:t> </m:t>
                              </m:r>
                              <m:r>
                                <m:rPr>
                                  <m:sty m:val="p"/>
                                </m:rPr>
                                <a:rPr lang="en-GB" sz="1800">
                                  <a:latin typeface="Cambria Math" panose="02040503050406030204" pitchFamily="18" charset="0"/>
                                </a:rPr>
                                <m:t>log</m:t>
                              </m:r>
                            </m:fName>
                            <m:e>
                              <m:d>
                                <m:dPr>
                                  <m:ctrlPr>
                                    <a:rPr lang="en-GB" sz="1800" i="1">
                                      <a:latin typeface="Cambria Math" panose="02040503050406030204" pitchFamily="18" charset="0"/>
                                    </a:rPr>
                                  </m:ctrlPr>
                                </m:dPr>
                                <m:e>
                                  <m:r>
                                    <a:rPr lang="en-GB" sz="1800" i="1">
                                      <a:latin typeface="Cambria Math" panose="02040503050406030204" pitchFamily="18" charset="0"/>
                                    </a:rPr>
                                    <m:t>𝑎</m:t>
                                  </m:r>
                                </m:e>
                              </m:d>
                            </m:e>
                          </m:func>
                          <m:r>
                            <m:rPr>
                              <m:nor/>
                            </m:rPr>
                            <a:rPr lang="en-GB" sz="1800" dirty="0"/>
                            <m:t> </m:t>
                          </m:r>
                        </m:e>
                      </m:func>
                    </m:oMath>
                  </m:oMathPara>
                </a14:m>
                <a:endParaRPr lang="en-GB" sz="1800" dirty="0"/>
              </a:p>
              <a:p>
                <a:pPr marL="0" indent="0" algn="ctr">
                  <a:buNone/>
                </a:pPr>
                <a14:m>
                  <m:oMathPara xmlns:m="http://schemas.openxmlformats.org/officeDocument/2006/math">
                    <m:oMathParaPr>
                      <m:jc m:val="centerGroup"/>
                    </m:oMathParaPr>
                    <m:oMath xmlns:m="http://schemas.openxmlformats.org/officeDocument/2006/math">
                      <m:f>
                        <m:fPr>
                          <m:ctrlPr>
                            <a:rPr lang="en-GB" sz="1800" i="1">
                              <a:latin typeface="Cambria Math" panose="02040503050406030204" pitchFamily="18" charset="0"/>
                            </a:rPr>
                          </m:ctrlPr>
                        </m:fPr>
                        <m:num>
                          <m:r>
                            <a:rPr lang="en-GB" sz="1800" i="1">
                              <a:latin typeface="Cambria Math" panose="02040503050406030204" pitchFamily="18" charset="0"/>
                            </a:rPr>
                            <m:t>𝑑</m:t>
                          </m:r>
                        </m:num>
                        <m:den>
                          <m:r>
                            <a:rPr lang="en-GB" sz="1800" i="1">
                              <a:latin typeface="Cambria Math" panose="02040503050406030204" pitchFamily="18" charset="0"/>
                            </a:rPr>
                            <m:t>𝑑𝑥</m:t>
                          </m:r>
                        </m:den>
                      </m:f>
                      <m:d>
                        <m:dPr>
                          <m:ctrlPr>
                            <a:rPr lang="en-GB" sz="1800" i="1">
                              <a:latin typeface="Cambria Math" panose="02040503050406030204" pitchFamily="18" charset="0"/>
                            </a:rPr>
                          </m:ctrlPr>
                        </m:dPr>
                        <m:e>
                          <m:func>
                            <m:funcPr>
                              <m:ctrlPr>
                                <a:rPr lang="en-GB" sz="1800" i="1">
                                  <a:latin typeface="Cambria Math" panose="02040503050406030204" pitchFamily="18" charset="0"/>
                                </a:rPr>
                              </m:ctrlPr>
                            </m:funcPr>
                            <m:fName>
                              <m:sSub>
                                <m:sSubPr>
                                  <m:ctrlPr>
                                    <a:rPr lang="en-GB" sz="1800" i="1">
                                      <a:latin typeface="Cambria Math" panose="02040503050406030204" pitchFamily="18" charset="0"/>
                                    </a:rPr>
                                  </m:ctrlPr>
                                </m:sSubPr>
                                <m:e>
                                  <m:r>
                                    <m:rPr>
                                      <m:sty m:val="p"/>
                                    </m:rPr>
                                    <a:rPr lang="en-GB" sz="1800">
                                      <a:latin typeface="Cambria Math" panose="02040503050406030204" pitchFamily="18" charset="0"/>
                                    </a:rPr>
                                    <m:t>log</m:t>
                                  </m:r>
                                </m:e>
                                <m:sub>
                                  <m:r>
                                    <a:rPr lang="en-GB" sz="1800" i="1">
                                      <a:latin typeface="Cambria Math" panose="02040503050406030204" pitchFamily="18" charset="0"/>
                                    </a:rPr>
                                    <m:t>𝑎</m:t>
                                  </m:r>
                                </m:sub>
                              </m:sSub>
                            </m:fName>
                            <m:e>
                              <m:r>
                                <a:rPr lang="en-GB" sz="1800" i="1">
                                  <a:latin typeface="Cambria Math" panose="02040503050406030204" pitchFamily="18" charset="0"/>
                                </a:rPr>
                                <m:t>𝑥</m:t>
                              </m:r>
                            </m:e>
                          </m:func>
                        </m:e>
                      </m:d>
                      <m:r>
                        <a:rPr lang="en-GB" sz="1800" i="1">
                          <a:latin typeface="Cambria Math" panose="02040503050406030204" pitchFamily="18" charset="0"/>
                        </a:rPr>
                        <m:t>=</m:t>
                      </m:r>
                      <m:f>
                        <m:fPr>
                          <m:ctrlPr>
                            <a:rPr lang="en-GB" sz="1800" i="1">
                              <a:latin typeface="Cambria Math" panose="02040503050406030204" pitchFamily="18" charset="0"/>
                            </a:rPr>
                          </m:ctrlPr>
                        </m:fPr>
                        <m:num>
                          <m:r>
                            <a:rPr lang="en-GB" sz="1800" i="1">
                              <a:latin typeface="Cambria Math" panose="02040503050406030204" pitchFamily="18" charset="0"/>
                            </a:rPr>
                            <m:t>1</m:t>
                          </m:r>
                        </m:num>
                        <m:den>
                          <m:r>
                            <a:rPr lang="en-GB" sz="1800" i="1">
                              <a:latin typeface="Cambria Math" panose="02040503050406030204" pitchFamily="18" charset="0"/>
                            </a:rPr>
                            <m:t>𝑥</m:t>
                          </m:r>
                          <m:func>
                            <m:funcPr>
                              <m:ctrlPr>
                                <a:rPr lang="en-GB" sz="1800" i="1">
                                  <a:latin typeface="Cambria Math" panose="02040503050406030204" pitchFamily="18" charset="0"/>
                                </a:rPr>
                              </m:ctrlPr>
                            </m:funcPr>
                            <m:fName>
                              <m:r>
                                <m:rPr>
                                  <m:sty m:val="p"/>
                                </m:rPr>
                                <a:rPr lang="en-GB" sz="1800">
                                  <a:latin typeface="Cambria Math" panose="02040503050406030204" pitchFamily="18" charset="0"/>
                                </a:rPr>
                                <m:t>ln</m:t>
                              </m:r>
                            </m:fName>
                            <m:e>
                              <m:r>
                                <a:rPr lang="en-GB" sz="1800" i="1">
                                  <a:latin typeface="Cambria Math" panose="02040503050406030204" pitchFamily="18" charset="0"/>
                                </a:rPr>
                                <m:t>𝑎</m:t>
                              </m:r>
                            </m:e>
                          </m:func>
                        </m:den>
                      </m:f>
                    </m:oMath>
                  </m:oMathPara>
                </a14:m>
                <a:endParaRPr lang="en-GB" sz="2000" dirty="0"/>
              </a:p>
              <a:p>
                <a:pPr marL="0" indent="0">
                  <a:buNone/>
                </a:pPr>
                <a14:m>
                  <m:oMathPara xmlns:m="http://schemas.openxmlformats.org/officeDocument/2006/math">
                    <m:oMathParaPr>
                      <m:jc m:val="centerGroup"/>
                    </m:oMathParaPr>
                    <m:oMath xmlns:m="http://schemas.openxmlformats.org/officeDocument/2006/math">
                      <m:func>
                        <m:funcPr>
                          <m:ctrlPr>
                            <a:rPr lang="en-GB" sz="2000" b="0" i="1" smtClean="0">
                              <a:latin typeface="Cambria Math" panose="02040503050406030204" pitchFamily="18" charset="0"/>
                              <a:ea typeface="Cambria Math" panose="02040503050406030204" pitchFamily="18" charset="0"/>
                            </a:rPr>
                          </m:ctrlPr>
                        </m:funcPr>
                        <m:fName>
                          <m:r>
                            <m:rPr>
                              <m:sty m:val="p"/>
                            </m:rPr>
                            <a:rPr lang="en-GB" sz="2000" b="0" i="0" smtClean="0">
                              <a:latin typeface="Cambria Math" panose="02040503050406030204" pitchFamily="18" charset="0"/>
                              <a:ea typeface="Cambria Math" panose="02040503050406030204" pitchFamily="18" charset="0"/>
                            </a:rPr>
                            <m:t>log</m:t>
                          </m:r>
                        </m:fName>
                        <m:e>
                          <m:r>
                            <a:rPr lang="en-GB" sz="2000" i="1">
                              <a:latin typeface="Cambria Math" panose="02040503050406030204" pitchFamily="18" charset="0"/>
                              <a:ea typeface="Cambria Math" panose="02040503050406030204" pitchFamily="18" charset="0"/>
                            </a:rPr>
                            <m:t>ℒ</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𝜃</m:t>
                              </m:r>
                            </m:e>
                            <m:e>
                              <m:r>
                                <a:rPr lang="en-GB" sz="2000" i="1">
                                  <a:latin typeface="Cambria Math" panose="02040503050406030204" pitchFamily="18" charset="0"/>
                                  <a:ea typeface="Cambria Math" panose="02040503050406030204" pitchFamily="18" charset="0"/>
                                </a:rPr>
                                <m:t>𝑋</m:t>
                              </m:r>
                              <m:r>
                                <a:rPr lang="en-GB" sz="2000" i="1">
                                  <a:latin typeface="Cambria Math" panose="02040503050406030204" pitchFamily="18" charset="0"/>
                                  <a:ea typeface="Cambria Math" panose="02040503050406030204" pitchFamily="18" charset="0"/>
                                </a:rPr>
                                <m:t>=10, </m:t>
                              </m:r>
                              <m:r>
                                <a:rPr lang="en-GB" sz="2000" i="1">
                                  <a:latin typeface="Cambria Math" panose="02040503050406030204" pitchFamily="18" charset="0"/>
                                  <a:ea typeface="Cambria Math" panose="02040503050406030204" pitchFamily="18" charset="0"/>
                                </a:rPr>
                                <m:t>𝑁</m:t>
                              </m:r>
                              <m:r>
                                <a:rPr lang="en-GB" sz="2000" i="1">
                                  <a:latin typeface="Cambria Math" panose="02040503050406030204" pitchFamily="18" charset="0"/>
                                  <a:ea typeface="Cambria Math" panose="02040503050406030204" pitchFamily="18" charset="0"/>
                                </a:rPr>
                                <m:t>=100</m:t>
                              </m:r>
                            </m:e>
                          </m:d>
                        </m:e>
                      </m:func>
                      <m:r>
                        <a:rPr lang="en-GB" sz="2000" b="0" i="1" smtClean="0">
                          <a:latin typeface="Cambria Math" panose="02040503050406030204" pitchFamily="18" charset="0"/>
                          <a:ea typeface="Cambria Math" panose="02040503050406030204" pitchFamily="18" charset="0"/>
                        </a:rPr>
                        <m:t>=</m:t>
                      </m:r>
                      <m:func>
                        <m:funcPr>
                          <m:ctrlPr>
                            <a:rPr lang="en-GB" sz="2000" b="0" i="1" smtClean="0">
                              <a:latin typeface="Cambria Math" panose="02040503050406030204" pitchFamily="18" charset="0"/>
                              <a:ea typeface="Cambria Math" panose="02040503050406030204" pitchFamily="18" charset="0"/>
                            </a:rPr>
                          </m:ctrlPr>
                        </m:funcPr>
                        <m:fName>
                          <m:r>
                            <m:rPr>
                              <m:sty m:val="p"/>
                            </m:rPr>
                            <a:rPr lang="en-GB" sz="2000" b="0" i="0" smtClean="0">
                              <a:latin typeface="Cambria Math" panose="02040503050406030204" pitchFamily="18" charset="0"/>
                              <a:ea typeface="Cambria Math" panose="02040503050406030204" pitchFamily="18" charset="0"/>
                            </a:rPr>
                            <m:t>log</m:t>
                          </m:r>
                        </m:fName>
                        <m:e>
                          <m:d>
                            <m:dPr>
                              <m:ctrlPr>
                                <a:rPr lang="en-GB" sz="2000" i="1">
                                  <a:latin typeface="Cambria Math" panose="02040503050406030204" pitchFamily="18" charset="0"/>
                                  <a:ea typeface="Cambria Math" panose="02040503050406030204" pitchFamily="18" charset="0"/>
                                </a:rPr>
                              </m:ctrlPr>
                            </m:dPr>
                            <m:e>
                              <m:f>
                                <m:fPr>
                                  <m:type m:val="noBar"/>
                                  <m:ctrlPr>
                                    <a:rPr lang="en-GB" sz="2000" i="1">
                                      <a:latin typeface="Cambria Math" panose="02040503050406030204" pitchFamily="18" charset="0"/>
                                      <a:ea typeface="Cambria Math" panose="02040503050406030204" pitchFamily="18" charset="0"/>
                                    </a:rPr>
                                  </m:ctrlPr>
                                </m:fPr>
                                <m:num>
                                  <m:r>
                                    <a:rPr lang="en-GB" sz="2000" i="1">
                                      <a:latin typeface="Cambria Math" panose="02040503050406030204" pitchFamily="18" charset="0"/>
                                      <a:ea typeface="Cambria Math" panose="02040503050406030204" pitchFamily="18" charset="0"/>
                                    </a:rPr>
                                    <m:t>100</m:t>
                                  </m:r>
                                </m:num>
                                <m:den>
                                  <m:r>
                                    <a:rPr lang="en-GB" sz="2000" i="1">
                                      <a:latin typeface="Cambria Math" panose="02040503050406030204" pitchFamily="18" charset="0"/>
                                      <a:ea typeface="Cambria Math" panose="02040503050406030204" pitchFamily="18" charset="0"/>
                                    </a:rPr>
                                    <m:t>10</m:t>
                                  </m:r>
                                </m:den>
                              </m:f>
                            </m:e>
                          </m:d>
                          <m:r>
                            <a:rPr lang="en-GB" sz="2000" b="0" i="1" smtClean="0">
                              <a:latin typeface="Cambria Math" panose="02040503050406030204" pitchFamily="18" charset="0"/>
                              <a:ea typeface="Cambria Math" panose="02040503050406030204" pitchFamily="18" charset="0"/>
                            </a:rPr>
                            <m:t>+</m:t>
                          </m:r>
                        </m:e>
                      </m:func>
                      <m:func>
                        <m:funcPr>
                          <m:ctrlPr>
                            <a:rPr lang="en-GB" sz="2000" b="0" i="1" smtClean="0">
                              <a:latin typeface="Cambria Math" panose="02040503050406030204" pitchFamily="18" charset="0"/>
                              <a:ea typeface="Cambria Math" panose="02040503050406030204" pitchFamily="18" charset="0"/>
                            </a:rPr>
                          </m:ctrlPr>
                        </m:funcPr>
                        <m:fName>
                          <m:r>
                            <m:rPr>
                              <m:sty m:val="p"/>
                            </m:rPr>
                            <a:rPr lang="en-GB" sz="2000" b="0" i="0" smtClean="0">
                              <a:latin typeface="Cambria Math" panose="02040503050406030204" pitchFamily="18" charset="0"/>
                              <a:ea typeface="Cambria Math" panose="02040503050406030204" pitchFamily="18" charset="0"/>
                            </a:rPr>
                            <m:t>log</m:t>
                          </m:r>
                        </m:fName>
                        <m:e>
                          <m:sSup>
                            <m:sSupPr>
                              <m:ctrlPr>
                                <a:rPr lang="en-GB" sz="2000" i="1">
                                  <a:latin typeface="Cambria Math" panose="02040503050406030204" pitchFamily="18" charset="0"/>
                                  <a:ea typeface="Cambria Math" panose="02040503050406030204" pitchFamily="18" charset="0"/>
                                </a:rPr>
                              </m:ctrlPr>
                            </m:sSupPr>
                            <m:e>
                              <m:r>
                                <a:rPr lang="en-GB" sz="2000" i="1">
                                  <a:latin typeface="Cambria Math" panose="02040503050406030204" pitchFamily="18" charset="0"/>
                                  <a:ea typeface="Cambria Math" panose="02040503050406030204" pitchFamily="18" charset="0"/>
                                </a:rPr>
                                <m:t>𝜃</m:t>
                              </m:r>
                            </m:e>
                            <m:sup>
                              <m:r>
                                <a:rPr lang="en-GB" sz="2000" i="1">
                                  <a:latin typeface="Cambria Math" panose="02040503050406030204" pitchFamily="18" charset="0"/>
                                  <a:ea typeface="Cambria Math" panose="02040503050406030204" pitchFamily="18" charset="0"/>
                                </a:rPr>
                                <m:t>10</m:t>
                              </m:r>
                            </m:sup>
                          </m:sSup>
                          <m:r>
                            <a:rPr lang="en-GB" sz="2000" b="0" i="1" smtClean="0">
                              <a:latin typeface="Cambria Math" panose="02040503050406030204" pitchFamily="18" charset="0"/>
                              <a:ea typeface="Cambria Math" panose="02040503050406030204" pitchFamily="18" charset="0"/>
                            </a:rPr>
                            <m:t>+</m:t>
                          </m:r>
                          <m:func>
                            <m:funcPr>
                              <m:ctrlPr>
                                <a:rPr lang="en-GB" sz="2000" b="0" i="1" smtClean="0">
                                  <a:latin typeface="Cambria Math" panose="02040503050406030204" pitchFamily="18" charset="0"/>
                                  <a:ea typeface="Cambria Math" panose="02040503050406030204" pitchFamily="18" charset="0"/>
                                </a:rPr>
                              </m:ctrlPr>
                            </m:funcPr>
                            <m:fName>
                              <m:r>
                                <m:rPr>
                                  <m:sty m:val="p"/>
                                </m:rPr>
                                <a:rPr lang="en-GB" sz="2000" b="0" i="0" smtClean="0">
                                  <a:latin typeface="Cambria Math" panose="02040503050406030204" pitchFamily="18" charset="0"/>
                                  <a:ea typeface="Cambria Math" panose="02040503050406030204" pitchFamily="18" charset="0"/>
                                </a:rPr>
                                <m:t>log</m:t>
                              </m:r>
                            </m:fName>
                            <m:e>
                              <m:sSup>
                                <m:sSupPr>
                                  <m:ctrlPr>
                                    <a:rPr lang="en-GB" sz="2000" i="1">
                                      <a:latin typeface="Cambria Math" panose="02040503050406030204" pitchFamily="18" charset="0"/>
                                      <a:ea typeface="Cambria Math" panose="02040503050406030204" pitchFamily="18" charset="0"/>
                                    </a:rPr>
                                  </m:ctrlPr>
                                </m:sSupPr>
                                <m:e>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1−</m:t>
                                      </m:r>
                                      <m:r>
                                        <a:rPr lang="en-GB" sz="2000" i="1">
                                          <a:latin typeface="Cambria Math" panose="02040503050406030204" pitchFamily="18" charset="0"/>
                                          <a:ea typeface="Cambria Math" panose="02040503050406030204" pitchFamily="18" charset="0"/>
                                        </a:rPr>
                                        <m:t>𝜃</m:t>
                                      </m:r>
                                    </m:e>
                                  </m:d>
                                </m:e>
                                <m:sup>
                                  <m:r>
                                    <a:rPr lang="en-GB" sz="2000" i="1">
                                      <a:latin typeface="Cambria Math" panose="02040503050406030204" pitchFamily="18" charset="0"/>
                                      <a:ea typeface="Cambria Math" panose="02040503050406030204" pitchFamily="18" charset="0"/>
                                    </a:rPr>
                                    <m:t>90</m:t>
                                  </m:r>
                                </m:sup>
                              </m:sSup>
                            </m:e>
                          </m:func>
                        </m:e>
                      </m:func>
                    </m:oMath>
                  </m:oMathPara>
                </a14:m>
                <a:endParaRPr lang="en-GB" sz="2000" dirty="0"/>
              </a:p>
              <a:p>
                <a:pPr marL="0" indent="0" algn="ctr">
                  <a:buNone/>
                </a:pPr>
                <a14:m>
                  <m:oMath xmlns:m="http://schemas.openxmlformats.org/officeDocument/2006/math">
                    <m:f>
                      <m:fPr>
                        <m:ctrlPr>
                          <a:rPr lang="en-GB" sz="2000" i="1" smtClean="0">
                            <a:latin typeface="Cambria Math" panose="02040503050406030204" pitchFamily="18" charset="0"/>
                          </a:rPr>
                        </m:ctrlPr>
                      </m:fPr>
                      <m:num>
                        <m:r>
                          <a:rPr lang="en-GB" sz="2000" i="1" smtClean="0">
                            <a:latin typeface="Cambria Math" panose="02040503050406030204" pitchFamily="18" charset="0"/>
                          </a:rPr>
                          <m:t>𝜕</m:t>
                        </m:r>
                        <m:r>
                          <a:rPr lang="en-GB" sz="2000" b="0" i="1" smtClean="0">
                            <a:latin typeface="Cambria Math" panose="02040503050406030204" pitchFamily="18" charset="0"/>
                          </a:rPr>
                          <m:t>𝑙</m:t>
                        </m:r>
                      </m:num>
                      <m:den>
                        <m:r>
                          <a:rPr lang="en-GB" sz="2000" i="1" smtClean="0">
                            <a:latin typeface="Cambria Math" panose="02040503050406030204" pitchFamily="18" charset="0"/>
                          </a:rPr>
                          <m:t>𝜕</m:t>
                        </m:r>
                        <m:r>
                          <a:rPr lang="en-GB" sz="2000" i="1">
                            <a:latin typeface="Cambria Math" panose="02040503050406030204" pitchFamily="18" charset="0"/>
                            <a:ea typeface="Cambria Math" panose="02040503050406030204" pitchFamily="18" charset="0"/>
                          </a:rPr>
                          <m:t>𝜃</m:t>
                        </m:r>
                      </m:den>
                    </m:f>
                    <m:r>
                      <a:rPr lang="en-GB" sz="2000" b="0" i="0" smtClean="0">
                        <a:latin typeface="Cambria Math" panose="02040503050406030204" pitchFamily="18" charset="0"/>
                      </a:rPr>
                      <m:t>=</m:t>
                    </m:r>
                    <m:r>
                      <m:rPr>
                        <m:sty m:val="p"/>
                      </m:rPr>
                      <a:rPr lang="en-GB" sz="2000" b="0" i="0" smtClean="0">
                        <a:latin typeface="Cambria Math" panose="02040503050406030204" pitchFamily="18" charset="0"/>
                      </a:rPr>
                      <m:t>lna</m:t>
                    </m:r>
                    <m:r>
                      <a:rPr lang="en-GB" sz="2000" b="0" i="0" smtClean="0">
                        <a:latin typeface="Cambria Math" panose="02040503050406030204" pitchFamily="18" charset="0"/>
                      </a:rPr>
                      <m:t>(</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10</m:t>
                        </m:r>
                      </m:num>
                      <m:den>
                        <m:acc>
                          <m:accPr>
                            <m:chr m:val="̂"/>
                            <m:ctrlPr>
                              <a:rPr lang="en-GB" sz="2000" b="0" i="1" smtClean="0">
                                <a:latin typeface="Cambria Math" panose="02040503050406030204" pitchFamily="18" charset="0"/>
                              </a:rPr>
                            </m:ctrlPr>
                          </m:accPr>
                          <m:e>
                            <m:r>
                              <a:rPr lang="en-GB" sz="2000" b="0" i="1" smtClean="0">
                                <a:latin typeface="Cambria Math" panose="02040503050406030204" pitchFamily="18" charset="0"/>
                                <a:ea typeface="Cambria Math" panose="02040503050406030204" pitchFamily="18" charset="0"/>
                              </a:rPr>
                              <m:t>𝜃</m:t>
                            </m:r>
                          </m:e>
                        </m:acc>
                      </m:den>
                    </m:f>
                    <m:r>
                      <a:rPr lang="en-GB" sz="2000" b="0" i="1" smtClean="0">
                        <a:latin typeface="Cambria Math" panose="02040503050406030204" pitchFamily="18" charset="0"/>
                      </a:rPr>
                      <m:t> − </m:t>
                    </m:r>
                    <m:f>
                      <m:fPr>
                        <m:ctrlPr>
                          <a:rPr lang="en-GB" sz="2000" b="0" i="1" smtClean="0">
                            <a:latin typeface="Cambria Math" panose="02040503050406030204" pitchFamily="18" charset="0"/>
                          </a:rPr>
                        </m:ctrlPr>
                      </m:fPr>
                      <m:num>
                        <m:r>
                          <a:rPr lang="en-GB" sz="2000" b="0" i="1" smtClean="0">
                            <a:latin typeface="Cambria Math" panose="02040503050406030204" pitchFamily="18" charset="0"/>
                          </a:rPr>
                          <m:t>90</m:t>
                        </m:r>
                      </m:num>
                      <m:den>
                        <m:r>
                          <a:rPr lang="en-GB" sz="2000" b="0" i="1" smtClean="0">
                            <a:latin typeface="Cambria Math" panose="02040503050406030204" pitchFamily="18" charset="0"/>
                          </a:rPr>
                          <m:t>1− </m:t>
                        </m:r>
                        <m:acc>
                          <m:accPr>
                            <m:chr m:val="̂"/>
                            <m:ctrlPr>
                              <a:rPr lang="en-GB" sz="2000" b="0" i="1" smtClean="0">
                                <a:latin typeface="Cambria Math" panose="02040503050406030204" pitchFamily="18" charset="0"/>
                              </a:rPr>
                            </m:ctrlPr>
                          </m:accPr>
                          <m:e>
                            <m:r>
                              <a:rPr lang="en-GB" sz="2000" b="0" i="1" smtClean="0">
                                <a:latin typeface="Cambria Math" panose="02040503050406030204" pitchFamily="18" charset="0"/>
                                <a:ea typeface="Cambria Math" panose="02040503050406030204" pitchFamily="18" charset="0"/>
                              </a:rPr>
                              <m:t>𝜃</m:t>
                            </m:r>
                          </m:e>
                        </m:acc>
                      </m:den>
                    </m:f>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rPr>
                      <m:t>=0</m:t>
                    </m:r>
                  </m:oMath>
                </a14:m>
                <a:r>
                  <a:rPr lang="en-GB" sz="2000" dirty="0"/>
                  <a:t> </a:t>
                </a:r>
              </a:p>
              <a:p>
                <a:pPr marL="0" indent="0">
                  <a:buNone/>
                </a:pPr>
                <a14:m>
                  <m:oMathPara xmlns:m="http://schemas.openxmlformats.org/officeDocument/2006/math">
                    <m:oMathParaPr>
                      <m:jc m:val="centerGroup"/>
                    </m:oMathParaPr>
                    <m:oMath xmlns:m="http://schemas.openxmlformats.org/officeDocument/2006/math">
                      <m:acc>
                        <m:accPr>
                          <m:chr m:val="̂"/>
                          <m:ctrlPr>
                            <a:rPr lang="en-GB" sz="2000" b="0" i="1" smtClean="0">
                              <a:latin typeface="Cambria Math" panose="02040503050406030204" pitchFamily="18" charset="0"/>
                            </a:rPr>
                          </m:ctrlPr>
                        </m:accPr>
                        <m:e>
                          <m:r>
                            <a:rPr lang="en-GB" sz="2000" b="0" i="1" smtClean="0">
                              <a:latin typeface="Cambria Math" panose="02040503050406030204" pitchFamily="18" charset="0"/>
                              <a:ea typeface="Cambria Math" panose="02040503050406030204" pitchFamily="18" charset="0"/>
                            </a:rPr>
                            <m:t>𝜃</m:t>
                          </m:r>
                        </m:e>
                      </m:acc>
                      <m:r>
                        <a:rPr lang="en-GB" sz="2000" b="0" i="1" smtClean="0">
                          <a:latin typeface="Cambria Math" panose="02040503050406030204" pitchFamily="18" charset="0"/>
                          <a:ea typeface="Cambria Math" panose="02040503050406030204" pitchFamily="18" charset="0"/>
                        </a:rPr>
                        <m:t>=1/10</m:t>
                      </m:r>
                    </m:oMath>
                  </m:oMathPara>
                </a14:m>
                <a:endParaRPr lang="en-GB" sz="2000" dirty="0"/>
              </a:p>
              <a:p>
                <a:pPr marL="0" indent="0">
                  <a:buNone/>
                </a:pPr>
                <a:endParaRPr lang="en-GB" sz="2000" dirty="0"/>
              </a:p>
              <a:p>
                <a:pPr marL="0" indent="0">
                  <a:buNone/>
                </a:pPr>
                <a:r>
                  <a:rPr lang="en-GB" sz="2000" dirty="0"/>
                  <a:t>** We did not define any specific base for the logarithm as it is not important here; overall, </a:t>
                </a:r>
                <a:r>
                  <a:rPr lang="en-GB" sz="2000" dirty="0" err="1"/>
                  <a:t>Log</a:t>
                </a:r>
                <a:r>
                  <a:rPr lang="en-GB" sz="2000" baseline="-25000" dirty="0" err="1"/>
                  <a:t>b</a:t>
                </a:r>
                <a:r>
                  <a:rPr lang="en-GB" sz="2000" dirty="0" err="1"/>
                  <a:t>x</a:t>
                </a:r>
                <a:r>
                  <a:rPr lang="en-GB" sz="2000" dirty="0"/>
                  <a:t> = ln(x)/ln(b)</a:t>
                </a:r>
              </a:p>
            </p:txBody>
          </p:sp>
        </mc:Choice>
        <mc:Fallback xmlns="">
          <p:sp>
            <p:nvSpPr>
              <p:cNvPr id="3" name="Content Placeholder 2">
                <a:extLst>
                  <a:ext uri="{FF2B5EF4-FFF2-40B4-BE49-F238E27FC236}">
                    <a16:creationId xmlns:a16="http://schemas.microsoft.com/office/drawing/2014/main" id="{A07A92C4-9B19-CA9D-8A6D-FD1F61212B48}"/>
                  </a:ext>
                </a:extLst>
              </p:cNvPr>
              <p:cNvSpPr>
                <a:spLocks noGrp="1" noRot="1" noChangeAspect="1" noMove="1" noResize="1" noEditPoints="1" noAdjustHandles="1" noChangeArrowheads="1" noChangeShapeType="1" noTextEdit="1"/>
              </p:cNvSpPr>
              <p:nvPr>
                <p:ph idx="1"/>
              </p:nvPr>
            </p:nvSpPr>
            <p:spPr>
              <a:blipFill>
                <a:blip r:embed="rId2"/>
                <a:stretch>
                  <a:fillRect l="-578" b="-1781"/>
                </a:stretch>
              </a:blipFill>
            </p:spPr>
            <p:txBody>
              <a:bodyPr/>
              <a:lstStyle/>
              <a:p>
                <a:r>
                  <a:rPr lang="en-GB">
                    <a:noFill/>
                  </a:rPr>
                  <a:t> </a:t>
                </a:r>
              </a:p>
            </p:txBody>
          </p:sp>
        </mc:Fallback>
      </mc:AlternateContent>
      <p:sp>
        <p:nvSpPr>
          <p:cNvPr id="4" name="Slide Number Placeholder 3">
            <a:extLst>
              <a:ext uri="{FF2B5EF4-FFF2-40B4-BE49-F238E27FC236}">
                <a16:creationId xmlns:a16="http://schemas.microsoft.com/office/drawing/2014/main" id="{BFEBF779-3A1C-50DA-1CD3-D8543AD3DF04}"/>
              </a:ext>
            </a:extLst>
          </p:cNvPr>
          <p:cNvSpPr>
            <a:spLocks noGrp="1"/>
          </p:cNvSpPr>
          <p:nvPr>
            <p:ph type="sldNum" sz="quarter" idx="12"/>
          </p:nvPr>
        </p:nvSpPr>
        <p:spPr/>
        <p:txBody>
          <a:bodyPr/>
          <a:lstStyle/>
          <a:p>
            <a:fld id="{44E22EE9-B8A0-0641-9265-052CFE9B95A7}" type="slidenum">
              <a:rPr lang="en-GB" altLang="en-US" smtClean="0"/>
              <a:pPr/>
              <a:t>30</a:t>
            </a:fld>
            <a:endParaRPr lang="en-GB" altLang="en-US" dirty="0"/>
          </a:p>
        </p:txBody>
      </p:sp>
    </p:spTree>
    <p:extLst>
      <p:ext uri="{BB962C8B-B14F-4D97-AF65-F5344CB8AC3E}">
        <p14:creationId xmlns:p14="http://schemas.microsoft.com/office/powerpoint/2010/main" val="16973349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3FB89-FC98-D115-B002-1D4E9551EBDC}"/>
              </a:ext>
            </a:extLst>
          </p:cNvPr>
          <p:cNvSpPr>
            <a:spLocks noGrp="1"/>
          </p:cNvSpPr>
          <p:nvPr>
            <p:ph type="title"/>
          </p:nvPr>
        </p:nvSpPr>
        <p:spPr/>
        <p:txBody>
          <a:bodyPr/>
          <a:lstStyle/>
          <a:p>
            <a:r>
              <a:rPr lang="en-GB" dirty="0"/>
              <a:t>Naïve Bayes in python</a:t>
            </a:r>
          </a:p>
        </p:txBody>
      </p:sp>
      <p:sp>
        <p:nvSpPr>
          <p:cNvPr id="5" name="Content Placeholder 4">
            <a:extLst>
              <a:ext uri="{FF2B5EF4-FFF2-40B4-BE49-F238E27FC236}">
                <a16:creationId xmlns:a16="http://schemas.microsoft.com/office/drawing/2014/main" id="{F3077DFA-EC72-C239-1508-0BC995BC84E9}"/>
              </a:ext>
            </a:extLst>
          </p:cNvPr>
          <p:cNvSpPr>
            <a:spLocks noGrp="1"/>
          </p:cNvSpPr>
          <p:nvPr>
            <p:ph idx="1"/>
          </p:nvPr>
        </p:nvSpPr>
        <p:spPr/>
        <p:txBody>
          <a:bodyPr/>
          <a:lstStyle/>
          <a:p>
            <a:r>
              <a:rPr lang="en-GB" dirty="0"/>
              <a:t>It required a small amount of training data to estimate the necessary parameters.</a:t>
            </a:r>
          </a:p>
          <a:p>
            <a:r>
              <a:rPr lang="en-GB" dirty="0"/>
              <a:t>Naïve Bayes learners and classifiers can be very fast compared to more sophisticated methods.</a:t>
            </a:r>
          </a:p>
          <a:p>
            <a:r>
              <a:rPr lang="en-GB" dirty="0"/>
              <a:t>On the other hand, although naïve Bayes is known as a useful classifier, it is </a:t>
            </a:r>
            <a:r>
              <a:rPr lang="en-GB" dirty="0">
                <a:solidFill>
                  <a:srgbClr val="FF0000"/>
                </a:solidFill>
              </a:rPr>
              <a:t>known to be a bad estimator, so the probability </a:t>
            </a:r>
            <a:r>
              <a:rPr lang="en-GB" dirty="0"/>
              <a:t>outputs from </a:t>
            </a:r>
            <a:r>
              <a:rPr lang="en-GB" dirty="0" err="1">
                <a:latin typeface="Courier New" panose="02070309020205020404" pitchFamily="49" charset="0"/>
                <a:cs typeface="Courier New" panose="02070309020205020404" pitchFamily="49" charset="0"/>
              </a:rPr>
              <a:t>predict_proba</a:t>
            </a:r>
            <a:r>
              <a:rPr lang="en-GB" dirty="0">
                <a:latin typeface="Courier New" panose="02070309020205020404" pitchFamily="49" charset="0"/>
                <a:cs typeface="Courier New" panose="02070309020205020404" pitchFamily="49" charset="0"/>
              </a:rPr>
              <a:t> </a:t>
            </a:r>
            <a:r>
              <a:rPr lang="en-GB" dirty="0"/>
              <a:t>(in </a:t>
            </a:r>
            <a:r>
              <a:rPr lang="en-GB" dirty="0" err="1"/>
              <a:t>Pythin</a:t>
            </a:r>
            <a:r>
              <a:rPr lang="en-GB" dirty="0"/>
              <a:t> scikit-learn) are not to be taken too seriously.</a:t>
            </a:r>
          </a:p>
        </p:txBody>
      </p:sp>
      <p:sp>
        <p:nvSpPr>
          <p:cNvPr id="4" name="Slide Number Placeholder 3">
            <a:extLst>
              <a:ext uri="{FF2B5EF4-FFF2-40B4-BE49-F238E27FC236}">
                <a16:creationId xmlns:a16="http://schemas.microsoft.com/office/drawing/2014/main" id="{C6920C62-CC2A-78BF-FFB8-1D3F6A4A678F}"/>
              </a:ext>
            </a:extLst>
          </p:cNvPr>
          <p:cNvSpPr>
            <a:spLocks noGrp="1"/>
          </p:cNvSpPr>
          <p:nvPr>
            <p:ph type="sldNum" sz="quarter" idx="12"/>
          </p:nvPr>
        </p:nvSpPr>
        <p:spPr/>
        <p:txBody>
          <a:bodyPr/>
          <a:lstStyle/>
          <a:p>
            <a:fld id="{44E22EE9-B8A0-0641-9265-052CFE9B95A7}" type="slidenum">
              <a:rPr lang="en-GB" altLang="en-US" smtClean="0"/>
              <a:pPr/>
              <a:t>31</a:t>
            </a:fld>
            <a:endParaRPr lang="en-GB" altLang="en-US" dirty="0"/>
          </a:p>
        </p:txBody>
      </p:sp>
      <p:sp>
        <p:nvSpPr>
          <p:cNvPr id="7" name="TextBox 6">
            <a:extLst>
              <a:ext uri="{FF2B5EF4-FFF2-40B4-BE49-F238E27FC236}">
                <a16:creationId xmlns:a16="http://schemas.microsoft.com/office/drawing/2014/main" id="{54A76910-5994-F52F-1A2E-3DB80D4A3DE4}"/>
              </a:ext>
            </a:extLst>
          </p:cNvPr>
          <p:cNvSpPr txBox="1"/>
          <p:nvPr/>
        </p:nvSpPr>
        <p:spPr>
          <a:xfrm>
            <a:off x="695400" y="6266578"/>
            <a:ext cx="4147661"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scikitlearn.org</a:t>
            </a:r>
            <a:r>
              <a:rPr lang="en-GB" sz="1000" dirty="0">
                <a:latin typeface="Gill Sans MT" panose="020B0502020104020203" pitchFamily="34" charset="77"/>
              </a:rPr>
              <a:t>/stable/modules/</a:t>
            </a:r>
            <a:r>
              <a:rPr lang="en-GB" sz="1000" dirty="0" err="1">
                <a:latin typeface="Gill Sans MT" panose="020B0502020104020203" pitchFamily="34" charset="77"/>
              </a:rPr>
              <a:t>naive_bayes.html</a:t>
            </a:r>
            <a:endParaRPr lang="en-GB" sz="1000" dirty="0">
              <a:latin typeface="Gill Sans MT" panose="020B0502020104020203" pitchFamily="34" charset="77"/>
            </a:endParaRPr>
          </a:p>
        </p:txBody>
      </p:sp>
    </p:spTree>
    <p:extLst>
      <p:ext uri="{BB962C8B-B14F-4D97-AF65-F5344CB8AC3E}">
        <p14:creationId xmlns:p14="http://schemas.microsoft.com/office/powerpoint/2010/main" val="16965426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45F26-EDE2-46AF-4D35-B2034358E656}"/>
              </a:ext>
            </a:extLst>
          </p:cNvPr>
          <p:cNvSpPr>
            <a:spLocks noGrp="1"/>
          </p:cNvSpPr>
          <p:nvPr>
            <p:ph type="title"/>
          </p:nvPr>
        </p:nvSpPr>
        <p:spPr/>
        <p:txBody>
          <a:bodyPr/>
          <a:lstStyle/>
          <a:p>
            <a:r>
              <a:rPr lang="en-GB" dirty="0"/>
              <a:t>Naïve Bayes in python</a:t>
            </a:r>
          </a:p>
        </p:txBody>
      </p:sp>
      <p:sp>
        <p:nvSpPr>
          <p:cNvPr id="3" name="Content Placeholder 2">
            <a:extLst>
              <a:ext uri="{FF2B5EF4-FFF2-40B4-BE49-F238E27FC236}">
                <a16:creationId xmlns:a16="http://schemas.microsoft.com/office/drawing/2014/main" id="{CFBC0F44-751C-0F89-8F6C-2CEEB8CF03AD}"/>
              </a:ext>
            </a:extLst>
          </p:cNvPr>
          <p:cNvSpPr>
            <a:spLocks noGrp="1"/>
          </p:cNvSpPr>
          <p:nvPr>
            <p:ph idx="1"/>
          </p:nvPr>
        </p:nvSpPr>
        <p:spPr/>
        <p:txBody>
          <a:bodyPr/>
          <a:lstStyle/>
          <a:p>
            <a:r>
              <a:rPr lang="en-GB" b="0" i="0" u="none" strike="noStrike" dirty="0">
                <a:solidFill>
                  <a:srgbClr val="212529"/>
                </a:solidFill>
                <a:effectLst/>
              </a:rPr>
              <a:t>Gaussian Naive Bayes: </a:t>
            </a:r>
          </a:p>
          <a:p>
            <a:r>
              <a:rPr lang="en-GB" dirty="0">
                <a:solidFill>
                  <a:srgbClr val="FF0000"/>
                </a:solidFill>
                <a:hlinkClick r:id="rId2" tooltip="sklearn.naive_bayes.GaussianNB">
                  <a:extLst>
                    <a:ext uri="{A12FA001-AC4F-418D-AE19-62706E023703}">
                      <ahyp:hlinkClr xmlns:ahyp="http://schemas.microsoft.com/office/drawing/2018/hyperlinkcolor" val="tx"/>
                    </a:ext>
                  </a:extLst>
                </a:hlinkClick>
              </a:rPr>
              <a:t>GaussianNB</a:t>
            </a:r>
            <a:r>
              <a:rPr lang="en-GB" dirty="0">
                <a:solidFill>
                  <a:srgbClr val="212529"/>
                </a:solidFill>
              </a:rPr>
              <a:t> implements the Gaussian Naive Bayes algorithm for classification. The likelihood of the features is assumed to be Gaussian:</a:t>
            </a:r>
          </a:p>
          <a:p>
            <a:pPr marL="0" indent="0">
              <a:buNone/>
            </a:pPr>
            <a:endParaRPr lang="en-GB" dirty="0">
              <a:solidFill>
                <a:srgbClr val="212529"/>
              </a:solidFill>
            </a:endParaRPr>
          </a:p>
          <a:p>
            <a:pPr marL="0" indent="0">
              <a:buNone/>
            </a:pPr>
            <a:endParaRPr lang="en-GB" dirty="0">
              <a:solidFill>
                <a:srgbClr val="212529"/>
              </a:solidFill>
            </a:endParaRPr>
          </a:p>
          <a:p>
            <a:endParaRPr lang="en-GB" dirty="0">
              <a:solidFill>
                <a:srgbClr val="212529"/>
              </a:solidFill>
            </a:endParaRPr>
          </a:p>
          <a:p>
            <a:r>
              <a:rPr lang="en-GB" b="0" i="0" u="none" strike="noStrike" dirty="0">
                <a:solidFill>
                  <a:srgbClr val="212529"/>
                </a:solidFill>
                <a:effectLst/>
              </a:rPr>
              <a:t>The parameters </a:t>
            </a:r>
            <a:r>
              <a:rPr lang="el-GR" b="0" i="0" u="none" strike="noStrike" dirty="0">
                <a:solidFill>
                  <a:srgbClr val="212529"/>
                </a:solidFill>
                <a:effectLst/>
                <a:latin typeface="-apple-system"/>
              </a:rPr>
              <a:t>σ</a:t>
            </a:r>
            <a:r>
              <a:rPr lang="en-GB" b="0" i="0" u="none" strike="noStrike" baseline="-25000" dirty="0">
                <a:solidFill>
                  <a:srgbClr val="212529"/>
                </a:solidFill>
                <a:effectLst/>
              </a:rPr>
              <a:t>y</a:t>
            </a:r>
            <a:r>
              <a:rPr lang="en-GB" b="0" i="0" u="none" strike="noStrike" dirty="0">
                <a:solidFill>
                  <a:srgbClr val="212529"/>
                </a:solidFill>
                <a:effectLst/>
              </a:rPr>
              <a:t> and </a:t>
            </a:r>
            <a:r>
              <a:rPr lang="el-GR" b="0" i="0" u="none" strike="noStrike" dirty="0">
                <a:solidFill>
                  <a:srgbClr val="212529"/>
                </a:solidFill>
                <a:effectLst/>
                <a:latin typeface="-apple-system"/>
              </a:rPr>
              <a:t>μ</a:t>
            </a:r>
            <a:r>
              <a:rPr lang="en-GB" b="0" i="0" u="none" strike="noStrike" baseline="-25000" dirty="0">
                <a:solidFill>
                  <a:srgbClr val="212529"/>
                </a:solidFill>
                <a:effectLst/>
              </a:rPr>
              <a:t>y</a:t>
            </a:r>
            <a:r>
              <a:rPr lang="en-GB" b="0" i="0" u="none" strike="noStrike" dirty="0">
                <a:solidFill>
                  <a:srgbClr val="212529"/>
                </a:solidFill>
                <a:effectLst/>
              </a:rPr>
              <a:t> are estimated using maximum likelihood.</a:t>
            </a:r>
            <a:endParaRPr lang="en-GB" dirty="0">
              <a:solidFill>
                <a:srgbClr val="212529"/>
              </a:solidFill>
            </a:endParaRPr>
          </a:p>
          <a:p>
            <a:endParaRPr lang="en-GB" dirty="0"/>
          </a:p>
        </p:txBody>
      </p:sp>
      <p:sp>
        <p:nvSpPr>
          <p:cNvPr id="4" name="Slide Number Placeholder 3">
            <a:extLst>
              <a:ext uri="{FF2B5EF4-FFF2-40B4-BE49-F238E27FC236}">
                <a16:creationId xmlns:a16="http://schemas.microsoft.com/office/drawing/2014/main" id="{BF0E413E-D4DD-DC14-52FD-1142D4EF0002}"/>
              </a:ext>
            </a:extLst>
          </p:cNvPr>
          <p:cNvSpPr>
            <a:spLocks noGrp="1"/>
          </p:cNvSpPr>
          <p:nvPr>
            <p:ph type="sldNum" sz="quarter" idx="12"/>
          </p:nvPr>
        </p:nvSpPr>
        <p:spPr/>
        <p:txBody>
          <a:bodyPr/>
          <a:lstStyle/>
          <a:p>
            <a:fld id="{44E22EE9-B8A0-0641-9265-052CFE9B95A7}" type="slidenum">
              <a:rPr lang="en-GB" altLang="en-US" smtClean="0"/>
              <a:pPr/>
              <a:t>32</a:t>
            </a:fld>
            <a:endParaRPr lang="en-GB" altLang="en-US" dirty="0"/>
          </a:p>
        </p:txBody>
      </p:sp>
      <p:pic>
        <p:nvPicPr>
          <p:cNvPr id="6" name="Picture 5" descr="Diagram&#10;&#10;Description automatically generated">
            <a:extLst>
              <a:ext uri="{FF2B5EF4-FFF2-40B4-BE49-F238E27FC236}">
                <a16:creationId xmlns:a16="http://schemas.microsoft.com/office/drawing/2014/main" id="{C3377B90-2709-0558-BCE0-E2BC744187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5620" y="2583180"/>
            <a:ext cx="6080760" cy="1691640"/>
          </a:xfrm>
          <a:prstGeom prst="rect">
            <a:avLst/>
          </a:prstGeom>
        </p:spPr>
      </p:pic>
      <p:sp>
        <p:nvSpPr>
          <p:cNvPr id="7" name="TextBox 6">
            <a:extLst>
              <a:ext uri="{FF2B5EF4-FFF2-40B4-BE49-F238E27FC236}">
                <a16:creationId xmlns:a16="http://schemas.microsoft.com/office/drawing/2014/main" id="{4FD44B81-985B-04FB-F5BD-C070317B92D0}"/>
              </a:ext>
            </a:extLst>
          </p:cNvPr>
          <p:cNvSpPr txBox="1"/>
          <p:nvPr/>
        </p:nvSpPr>
        <p:spPr>
          <a:xfrm>
            <a:off x="611560" y="6381751"/>
            <a:ext cx="4147661"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scikitlearn.org</a:t>
            </a:r>
            <a:r>
              <a:rPr lang="en-GB" sz="1000" dirty="0">
                <a:latin typeface="Gill Sans MT" panose="020B0502020104020203" pitchFamily="34" charset="77"/>
              </a:rPr>
              <a:t>/stable/modules/</a:t>
            </a:r>
            <a:r>
              <a:rPr lang="en-GB" sz="1000" dirty="0" err="1">
                <a:latin typeface="Gill Sans MT" panose="020B0502020104020203" pitchFamily="34" charset="77"/>
              </a:rPr>
              <a:t>naive_bayes.html</a:t>
            </a:r>
            <a:endParaRPr lang="en-GB" sz="1000" dirty="0">
              <a:latin typeface="Gill Sans MT" panose="020B0502020104020203" pitchFamily="34" charset="77"/>
            </a:endParaRPr>
          </a:p>
        </p:txBody>
      </p:sp>
    </p:spTree>
    <p:extLst>
      <p:ext uri="{BB962C8B-B14F-4D97-AF65-F5344CB8AC3E}">
        <p14:creationId xmlns:p14="http://schemas.microsoft.com/office/powerpoint/2010/main" val="32439871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E9E5D-1EB1-2C9A-4073-445BC638D348}"/>
              </a:ext>
            </a:extLst>
          </p:cNvPr>
          <p:cNvSpPr>
            <a:spLocks noGrp="1"/>
          </p:cNvSpPr>
          <p:nvPr>
            <p:ph type="title"/>
          </p:nvPr>
        </p:nvSpPr>
        <p:spPr/>
        <p:txBody>
          <a:bodyPr/>
          <a:lstStyle/>
          <a:p>
            <a:r>
              <a:rPr lang="en-GB" dirty="0"/>
              <a:t>Gaussian Naïve Bayes</a:t>
            </a:r>
          </a:p>
        </p:txBody>
      </p:sp>
      <p:sp>
        <p:nvSpPr>
          <p:cNvPr id="4" name="Slide Number Placeholder 3">
            <a:extLst>
              <a:ext uri="{FF2B5EF4-FFF2-40B4-BE49-F238E27FC236}">
                <a16:creationId xmlns:a16="http://schemas.microsoft.com/office/drawing/2014/main" id="{52B68527-D6F0-4979-109F-A04E38783007}"/>
              </a:ext>
            </a:extLst>
          </p:cNvPr>
          <p:cNvSpPr>
            <a:spLocks noGrp="1"/>
          </p:cNvSpPr>
          <p:nvPr>
            <p:ph type="sldNum" sz="quarter" idx="12"/>
          </p:nvPr>
        </p:nvSpPr>
        <p:spPr/>
        <p:txBody>
          <a:bodyPr/>
          <a:lstStyle/>
          <a:p>
            <a:fld id="{44E22EE9-B8A0-0641-9265-052CFE9B95A7}" type="slidenum">
              <a:rPr lang="en-GB" altLang="en-US" smtClean="0"/>
              <a:pPr/>
              <a:t>33</a:t>
            </a:fld>
            <a:endParaRPr lang="en-GB" altLang="en-US" dirty="0"/>
          </a:p>
        </p:txBody>
      </p:sp>
      <p:pic>
        <p:nvPicPr>
          <p:cNvPr id="6" name="Picture 5" descr="Graphical user interface, text, application&#10;&#10;Description automatically generated">
            <a:extLst>
              <a:ext uri="{FF2B5EF4-FFF2-40B4-BE49-F238E27FC236}">
                <a16:creationId xmlns:a16="http://schemas.microsoft.com/office/drawing/2014/main" id="{807EF4E6-0371-E3DE-3D4B-EF0499347B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7062" y="1527989"/>
            <a:ext cx="9326880" cy="2470843"/>
          </a:xfrm>
          <a:prstGeom prst="rect">
            <a:avLst/>
          </a:prstGeom>
        </p:spPr>
      </p:pic>
      <p:sp>
        <p:nvSpPr>
          <p:cNvPr id="3" name="TextBox 2">
            <a:extLst>
              <a:ext uri="{FF2B5EF4-FFF2-40B4-BE49-F238E27FC236}">
                <a16:creationId xmlns:a16="http://schemas.microsoft.com/office/drawing/2014/main" id="{97B7FC18-8404-FC86-F0ED-669ECD480957}"/>
              </a:ext>
            </a:extLst>
          </p:cNvPr>
          <p:cNvSpPr txBox="1"/>
          <p:nvPr/>
        </p:nvSpPr>
        <p:spPr>
          <a:xfrm>
            <a:off x="611560" y="6381751"/>
            <a:ext cx="4147661"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scikitlearn.org</a:t>
            </a:r>
            <a:r>
              <a:rPr lang="en-GB" sz="1000" dirty="0">
                <a:latin typeface="Gill Sans MT" panose="020B0502020104020203" pitchFamily="34" charset="77"/>
              </a:rPr>
              <a:t>/stable/modules/</a:t>
            </a:r>
            <a:r>
              <a:rPr lang="en-GB" sz="1000" dirty="0" err="1">
                <a:latin typeface="Gill Sans MT" panose="020B0502020104020203" pitchFamily="34" charset="77"/>
              </a:rPr>
              <a:t>naive_bayes.html</a:t>
            </a:r>
            <a:endParaRPr lang="en-GB" sz="1000" dirty="0">
              <a:latin typeface="Gill Sans MT" panose="020B0502020104020203" pitchFamily="34" charset="77"/>
            </a:endParaRPr>
          </a:p>
        </p:txBody>
      </p:sp>
    </p:spTree>
    <p:extLst>
      <p:ext uri="{BB962C8B-B14F-4D97-AF65-F5344CB8AC3E}">
        <p14:creationId xmlns:p14="http://schemas.microsoft.com/office/powerpoint/2010/main" val="2363979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89DB1-0932-4BEA-1E92-816DFE13D26E}"/>
              </a:ext>
            </a:extLst>
          </p:cNvPr>
          <p:cNvSpPr>
            <a:spLocks noGrp="1"/>
          </p:cNvSpPr>
          <p:nvPr>
            <p:ph type="title"/>
          </p:nvPr>
        </p:nvSpPr>
        <p:spPr/>
        <p:txBody>
          <a:bodyPr/>
          <a:lstStyle/>
          <a:p>
            <a:r>
              <a:rPr lang="en-GB" dirty="0"/>
              <a:t>Multinomial Naïve Bayes</a:t>
            </a:r>
          </a:p>
        </p:txBody>
      </p:sp>
      <p:sp>
        <p:nvSpPr>
          <p:cNvPr id="3" name="Content Placeholder 2">
            <a:extLst>
              <a:ext uri="{FF2B5EF4-FFF2-40B4-BE49-F238E27FC236}">
                <a16:creationId xmlns:a16="http://schemas.microsoft.com/office/drawing/2014/main" id="{2DCF1DC2-74C0-B241-0F0F-75C733344DC9}"/>
              </a:ext>
            </a:extLst>
          </p:cNvPr>
          <p:cNvSpPr>
            <a:spLocks noGrp="1"/>
          </p:cNvSpPr>
          <p:nvPr>
            <p:ph idx="1"/>
          </p:nvPr>
        </p:nvSpPr>
        <p:spPr/>
        <p:txBody>
          <a:bodyPr/>
          <a:lstStyle/>
          <a:p>
            <a:r>
              <a:rPr lang="en-GB" b="0" i="0" u="none" strike="noStrike" dirty="0">
                <a:solidFill>
                  <a:srgbClr val="FF0000"/>
                </a:solidFill>
                <a:effectLst/>
                <a:hlinkClick r:id="rId2" tooltip="sklearn.naive_bayes.MultinomialNB">
                  <a:extLst>
                    <a:ext uri="{A12FA001-AC4F-418D-AE19-62706E023703}">
                      <ahyp:hlinkClr xmlns:ahyp="http://schemas.microsoft.com/office/drawing/2018/hyperlinkcolor" val="tx"/>
                    </a:ext>
                  </a:extLst>
                </a:hlinkClick>
              </a:rPr>
              <a:t>MultinomialNB</a:t>
            </a:r>
            <a:r>
              <a:rPr lang="en-GB" b="0" i="0" u="none" strike="noStrike" dirty="0">
                <a:solidFill>
                  <a:srgbClr val="212529"/>
                </a:solidFill>
                <a:effectLst/>
              </a:rPr>
              <a:t> implements the na</a:t>
            </a:r>
            <a:r>
              <a:rPr lang="en-GB" dirty="0"/>
              <a:t>ï</a:t>
            </a:r>
            <a:r>
              <a:rPr lang="en-GB" b="0" i="0" u="none" strike="noStrike" dirty="0">
                <a:solidFill>
                  <a:srgbClr val="212529"/>
                </a:solidFill>
                <a:effectLst/>
              </a:rPr>
              <a:t>ve Bayes algorithm for multinomially distributed data and is one of the two classic na</a:t>
            </a:r>
            <a:r>
              <a:rPr lang="en-GB" dirty="0"/>
              <a:t>ï</a:t>
            </a:r>
            <a:r>
              <a:rPr lang="en-GB" b="0" i="0" u="none" strike="noStrike" dirty="0">
                <a:solidFill>
                  <a:srgbClr val="212529"/>
                </a:solidFill>
                <a:effectLst/>
              </a:rPr>
              <a:t>ve Bayes variants used in text classification. </a:t>
            </a:r>
          </a:p>
          <a:p>
            <a:r>
              <a:rPr lang="en-GB" b="0" i="0" u="none" strike="noStrike" dirty="0">
                <a:solidFill>
                  <a:srgbClr val="212529"/>
                </a:solidFill>
                <a:effectLst/>
              </a:rPr>
              <a:t>The distribution is parametrised by vectors </a:t>
            </a:r>
            <a:r>
              <a:rPr lang="el-GR" b="0" i="0" u="none" strike="noStrike" dirty="0">
                <a:solidFill>
                  <a:srgbClr val="212529"/>
                </a:solidFill>
                <a:effectLst/>
                <a:latin typeface="-apple-system"/>
              </a:rPr>
              <a:t>θ</a:t>
            </a:r>
            <a:r>
              <a:rPr lang="en-GB" b="0" i="0" u="none" strike="noStrike" dirty="0">
                <a:solidFill>
                  <a:srgbClr val="212529"/>
                </a:solidFill>
                <a:effectLst/>
              </a:rPr>
              <a:t>y=(</a:t>
            </a:r>
            <a:r>
              <a:rPr lang="el-GR" b="0" i="0" u="none" strike="noStrike" dirty="0">
                <a:solidFill>
                  <a:srgbClr val="212529"/>
                </a:solidFill>
                <a:effectLst/>
                <a:latin typeface="-apple-system"/>
              </a:rPr>
              <a:t>θ</a:t>
            </a:r>
            <a:r>
              <a:rPr lang="en-GB" b="0" i="0" u="none" strike="noStrike" baseline="-25000" dirty="0">
                <a:solidFill>
                  <a:srgbClr val="212529"/>
                </a:solidFill>
                <a:effectLst/>
              </a:rPr>
              <a:t>y1</a:t>
            </a:r>
            <a:r>
              <a:rPr lang="en-GB" b="0" i="0" u="none" strike="noStrike" dirty="0">
                <a:solidFill>
                  <a:srgbClr val="212529"/>
                </a:solidFill>
                <a:effectLst/>
              </a:rPr>
              <a:t>,…,</a:t>
            </a:r>
            <a:r>
              <a:rPr lang="el-GR" b="0" i="0" u="none" strike="noStrike" dirty="0">
                <a:solidFill>
                  <a:srgbClr val="212529"/>
                </a:solidFill>
                <a:effectLst/>
                <a:latin typeface="-apple-system"/>
              </a:rPr>
              <a:t>θ</a:t>
            </a:r>
            <a:r>
              <a:rPr lang="en-GB" b="0" i="0" u="none" strike="noStrike" baseline="-25000" dirty="0" err="1">
                <a:solidFill>
                  <a:srgbClr val="212529"/>
                </a:solidFill>
                <a:effectLst/>
              </a:rPr>
              <a:t>yn</a:t>
            </a:r>
            <a:r>
              <a:rPr lang="en-GB" b="0" i="0" u="none" strike="noStrike" dirty="0">
                <a:solidFill>
                  <a:srgbClr val="212529"/>
                </a:solidFill>
                <a:effectLst/>
              </a:rPr>
              <a:t>) for each class y, where n is the number of features and </a:t>
            </a:r>
            <a:r>
              <a:rPr lang="el-GR" b="0" i="0" u="none" strike="noStrike" dirty="0">
                <a:solidFill>
                  <a:srgbClr val="212529"/>
                </a:solidFill>
                <a:effectLst/>
                <a:highlight>
                  <a:srgbClr val="FFFF00"/>
                </a:highlight>
                <a:latin typeface="-apple-system"/>
              </a:rPr>
              <a:t>θ</a:t>
            </a:r>
            <a:r>
              <a:rPr lang="en-GB" b="0" i="0" u="none" strike="noStrike" dirty="0" err="1">
                <a:solidFill>
                  <a:srgbClr val="212529"/>
                </a:solidFill>
                <a:effectLst/>
                <a:highlight>
                  <a:srgbClr val="FFFF00"/>
                </a:highlight>
              </a:rPr>
              <a:t>yi</a:t>
            </a:r>
            <a:r>
              <a:rPr lang="en-GB" b="0" i="0" u="none" strike="noStrike" dirty="0">
                <a:solidFill>
                  <a:srgbClr val="212529"/>
                </a:solidFill>
                <a:effectLst/>
                <a:highlight>
                  <a:srgbClr val="FFFF00"/>
                </a:highlight>
              </a:rPr>
              <a:t> </a:t>
            </a:r>
            <a:r>
              <a:rPr lang="en-GB" b="0" i="0" u="none" strike="noStrike" dirty="0">
                <a:solidFill>
                  <a:srgbClr val="212529"/>
                </a:solidFill>
                <a:effectLst/>
              </a:rPr>
              <a:t>is the probability </a:t>
            </a:r>
            <a:r>
              <a:rPr lang="en-GB" b="0" i="0" u="none" strike="noStrike" dirty="0">
                <a:solidFill>
                  <a:srgbClr val="212529"/>
                </a:solidFill>
                <a:effectLst/>
                <a:highlight>
                  <a:srgbClr val="FFFF00"/>
                </a:highlight>
              </a:rPr>
              <a:t>P(</a:t>
            </a:r>
            <a:r>
              <a:rPr lang="en-GB" b="0" i="0" u="none" strike="noStrike" dirty="0" err="1">
                <a:solidFill>
                  <a:srgbClr val="212529"/>
                </a:solidFill>
                <a:effectLst/>
                <a:highlight>
                  <a:srgbClr val="FFFF00"/>
                </a:highlight>
              </a:rPr>
              <a:t>x</a:t>
            </a:r>
            <a:r>
              <a:rPr lang="en-GB" b="0" i="0" u="none" strike="noStrike" baseline="-25000" dirty="0" err="1">
                <a:solidFill>
                  <a:srgbClr val="212529"/>
                </a:solidFill>
                <a:effectLst/>
                <a:highlight>
                  <a:srgbClr val="FFFF00"/>
                </a:highlight>
              </a:rPr>
              <a:t>i</a:t>
            </a:r>
            <a:r>
              <a:rPr lang="en-GB" b="0" i="0" u="none" strike="noStrike" dirty="0" err="1">
                <a:solidFill>
                  <a:srgbClr val="212529"/>
                </a:solidFill>
                <a:effectLst/>
                <a:highlight>
                  <a:srgbClr val="FFFF00"/>
                </a:highlight>
              </a:rPr>
              <a:t>∣y</a:t>
            </a:r>
            <a:r>
              <a:rPr lang="en-GB" b="0" i="0" u="none" strike="noStrike" dirty="0">
                <a:solidFill>
                  <a:srgbClr val="212529"/>
                </a:solidFill>
                <a:effectLst/>
                <a:highlight>
                  <a:srgbClr val="FFFF00"/>
                </a:highlight>
              </a:rPr>
              <a:t>) </a:t>
            </a:r>
            <a:r>
              <a:rPr lang="en-GB" b="0" i="0" u="none" strike="noStrike" dirty="0">
                <a:solidFill>
                  <a:srgbClr val="212529"/>
                </a:solidFill>
                <a:effectLst/>
              </a:rPr>
              <a:t>of feature </a:t>
            </a:r>
            <a:r>
              <a:rPr lang="en-GB" b="0" i="0" u="none" strike="noStrike" dirty="0" err="1">
                <a:solidFill>
                  <a:srgbClr val="212529"/>
                </a:solidFill>
                <a:effectLst/>
                <a:highlight>
                  <a:srgbClr val="FFFF00"/>
                </a:highlight>
              </a:rPr>
              <a:t>i</a:t>
            </a:r>
            <a:r>
              <a:rPr lang="en-GB" b="0" i="0" u="none" strike="noStrike" dirty="0">
                <a:solidFill>
                  <a:srgbClr val="212529"/>
                </a:solidFill>
                <a:effectLst/>
              </a:rPr>
              <a:t> appearing in a sample belonging to class y.</a:t>
            </a:r>
          </a:p>
          <a:p>
            <a:endParaRPr lang="en-GB" dirty="0">
              <a:solidFill>
                <a:srgbClr val="212529"/>
              </a:solidFill>
            </a:endParaRPr>
          </a:p>
          <a:p>
            <a:r>
              <a:rPr lang="en-GB" b="0" i="0" u="none" strike="noStrike" dirty="0">
                <a:solidFill>
                  <a:srgbClr val="212529"/>
                </a:solidFill>
                <a:effectLst/>
              </a:rPr>
              <a:t>The parameters </a:t>
            </a:r>
            <a:r>
              <a:rPr lang="el-GR" b="0" i="0" u="none" strike="noStrike" dirty="0">
                <a:solidFill>
                  <a:srgbClr val="212529"/>
                </a:solidFill>
                <a:effectLst/>
                <a:latin typeface="-apple-system"/>
              </a:rPr>
              <a:t>θ</a:t>
            </a:r>
            <a:r>
              <a:rPr lang="en-GB" b="0" i="0" u="none" strike="noStrike" dirty="0">
                <a:solidFill>
                  <a:srgbClr val="212529"/>
                </a:solidFill>
                <a:effectLst/>
              </a:rPr>
              <a:t>y </a:t>
            </a:r>
            <a:r>
              <a:rPr lang="en-GB" dirty="0">
                <a:solidFill>
                  <a:srgbClr val="212529"/>
                </a:solidFill>
              </a:rPr>
              <a:t> are </a:t>
            </a:r>
            <a:r>
              <a:rPr lang="en-GB" b="0" i="0" u="none" strike="noStrike" dirty="0">
                <a:solidFill>
                  <a:srgbClr val="212529"/>
                </a:solidFill>
                <a:effectLst/>
              </a:rPr>
              <a:t>estimated by a smoothed version of maximum likelihood, i.e. relative frequency counting.</a:t>
            </a:r>
            <a:endParaRPr lang="en-GB" dirty="0"/>
          </a:p>
        </p:txBody>
      </p:sp>
      <p:sp>
        <p:nvSpPr>
          <p:cNvPr id="4" name="Slide Number Placeholder 3">
            <a:extLst>
              <a:ext uri="{FF2B5EF4-FFF2-40B4-BE49-F238E27FC236}">
                <a16:creationId xmlns:a16="http://schemas.microsoft.com/office/drawing/2014/main" id="{D67D169D-7BD9-B1D9-6E82-5ED83CA42AE8}"/>
              </a:ext>
            </a:extLst>
          </p:cNvPr>
          <p:cNvSpPr>
            <a:spLocks noGrp="1"/>
          </p:cNvSpPr>
          <p:nvPr>
            <p:ph type="sldNum" sz="quarter" idx="12"/>
          </p:nvPr>
        </p:nvSpPr>
        <p:spPr/>
        <p:txBody>
          <a:bodyPr/>
          <a:lstStyle/>
          <a:p>
            <a:fld id="{44E22EE9-B8A0-0641-9265-052CFE9B95A7}" type="slidenum">
              <a:rPr lang="en-GB" altLang="en-US" smtClean="0"/>
              <a:pPr/>
              <a:t>34</a:t>
            </a:fld>
            <a:endParaRPr lang="en-GB" altLang="en-US" dirty="0"/>
          </a:p>
        </p:txBody>
      </p:sp>
      <p:sp>
        <p:nvSpPr>
          <p:cNvPr id="6" name="TextBox 5">
            <a:extLst>
              <a:ext uri="{FF2B5EF4-FFF2-40B4-BE49-F238E27FC236}">
                <a16:creationId xmlns:a16="http://schemas.microsoft.com/office/drawing/2014/main" id="{7C4D6230-4F2D-841C-6255-E991C358CC9B}"/>
              </a:ext>
            </a:extLst>
          </p:cNvPr>
          <p:cNvSpPr txBox="1"/>
          <p:nvPr/>
        </p:nvSpPr>
        <p:spPr>
          <a:xfrm>
            <a:off x="611560" y="6381751"/>
            <a:ext cx="4147661"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scikitlearn.org</a:t>
            </a:r>
            <a:r>
              <a:rPr lang="en-GB" sz="1000" dirty="0">
                <a:latin typeface="Gill Sans MT" panose="020B0502020104020203" pitchFamily="34" charset="77"/>
              </a:rPr>
              <a:t>/stable/modules/</a:t>
            </a:r>
            <a:r>
              <a:rPr lang="en-GB" sz="1000" dirty="0" err="1">
                <a:latin typeface="Gill Sans MT" panose="020B0502020104020203" pitchFamily="34" charset="77"/>
              </a:rPr>
              <a:t>naive_bayes.html</a:t>
            </a:r>
            <a:endParaRPr lang="en-GB" sz="1000" dirty="0">
              <a:latin typeface="Gill Sans MT" panose="020B0502020104020203" pitchFamily="34" charset="77"/>
            </a:endParaRPr>
          </a:p>
        </p:txBody>
      </p:sp>
    </p:spTree>
    <p:extLst>
      <p:ext uri="{BB962C8B-B14F-4D97-AF65-F5344CB8AC3E}">
        <p14:creationId xmlns:p14="http://schemas.microsoft.com/office/powerpoint/2010/main" val="6402162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3845E-1FC6-8606-58D5-8DB84C806529}"/>
              </a:ext>
            </a:extLst>
          </p:cNvPr>
          <p:cNvSpPr>
            <a:spLocks noGrp="1"/>
          </p:cNvSpPr>
          <p:nvPr>
            <p:ph type="title"/>
          </p:nvPr>
        </p:nvSpPr>
        <p:spPr/>
        <p:txBody>
          <a:bodyPr/>
          <a:lstStyle/>
          <a:p>
            <a:r>
              <a:rPr lang="en-GB" dirty="0"/>
              <a:t>Multinomial Naïve Bayes*</a:t>
            </a:r>
          </a:p>
        </p:txBody>
      </p:sp>
      <p:sp>
        <p:nvSpPr>
          <p:cNvPr id="3" name="Content Placeholder 2">
            <a:extLst>
              <a:ext uri="{FF2B5EF4-FFF2-40B4-BE49-F238E27FC236}">
                <a16:creationId xmlns:a16="http://schemas.microsoft.com/office/drawing/2014/main" id="{A047307B-3A23-B5C5-45BE-2459C0459F75}"/>
              </a:ext>
            </a:extLst>
          </p:cNvPr>
          <p:cNvSpPr>
            <a:spLocks noGrp="1"/>
          </p:cNvSpPr>
          <p:nvPr>
            <p:ph idx="1"/>
          </p:nvPr>
        </p:nvSpPr>
        <p:spPr/>
        <p:txBody>
          <a:bodyPr/>
          <a:lstStyle/>
          <a:p>
            <a:pPr algn="l"/>
            <a:r>
              <a:rPr lang="en-GB" b="0" i="0" u="none" strike="noStrike" dirty="0">
                <a:solidFill>
                  <a:srgbClr val="212529"/>
                </a:solidFill>
                <a:effectLst/>
                <a:latin typeface="-apple-system"/>
              </a:rPr>
              <a:t>The parameters </a:t>
            </a:r>
            <a:r>
              <a:rPr lang="el-GR" b="0" i="0" u="none" strike="noStrike" dirty="0">
                <a:solidFill>
                  <a:srgbClr val="212529"/>
                </a:solidFill>
                <a:effectLst/>
                <a:latin typeface="-apple-system"/>
              </a:rPr>
              <a:t>θ</a:t>
            </a:r>
            <a:r>
              <a:rPr lang="en-GB" b="0" i="0" u="none" strike="noStrike" dirty="0">
                <a:solidFill>
                  <a:srgbClr val="212529"/>
                </a:solidFill>
                <a:effectLst/>
                <a:latin typeface="-apple-system"/>
              </a:rPr>
              <a:t>y is estimated by a smoothed version of maximum likelihood, i.e. relative frequency counting:</a:t>
            </a:r>
          </a:p>
          <a:p>
            <a:pPr marL="0" indent="0">
              <a:buNone/>
            </a:pPr>
            <a:endParaRPr lang="en-GB" dirty="0"/>
          </a:p>
        </p:txBody>
      </p:sp>
      <p:sp>
        <p:nvSpPr>
          <p:cNvPr id="4" name="Slide Number Placeholder 3">
            <a:extLst>
              <a:ext uri="{FF2B5EF4-FFF2-40B4-BE49-F238E27FC236}">
                <a16:creationId xmlns:a16="http://schemas.microsoft.com/office/drawing/2014/main" id="{744D87F7-CBB0-D112-ECC2-F06411782E6F}"/>
              </a:ext>
            </a:extLst>
          </p:cNvPr>
          <p:cNvSpPr>
            <a:spLocks noGrp="1"/>
          </p:cNvSpPr>
          <p:nvPr>
            <p:ph type="sldNum" sz="quarter" idx="12"/>
          </p:nvPr>
        </p:nvSpPr>
        <p:spPr/>
        <p:txBody>
          <a:bodyPr/>
          <a:lstStyle/>
          <a:p>
            <a:fld id="{44E22EE9-B8A0-0641-9265-052CFE9B95A7}" type="slidenum">
              <a:rPr lang="en-GB" altLang="en-US" smtClean="0"/>
              <a:pPr/>
              <a:t>35</a:t>
            </a:fld>
            <a:endParaRPr lang="en-GB" altLang="en-US" dirty="0"/>
          </a:p>
        </p:txBody>
      </p:sp>
      <p:pic>
        <p:nvPicPr>
          <p:cNvPr id="6" name="Picture 5" descr="Graphical user interface, text, application&#10;&#10;Description automatically generated">
            <a:extLst>
              <a:ext uri="{FF2B5EF4-FFF2-40B4-BE49-F238E27FC236}">
                <a16:creationId xmlns:a16="http://schemas.microsoft.com/office/drawing/2014/main" id="{4304FE2C-F4DE-1A5F-29B4-393BD4AB50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2560" y="2468049"/>
            <a:ext cx="9326880" cy="1921902"/>
          </a:xfrm>
          <a:prstGeom prst="rect">
            <a:avLst/>
          </a:prstGeom>
        </p:spPr>
      </p:pic>
      <p:sp>
        <p:nvSpPr>
          <p:cNvPr id="5" name="TextBox 4">
            <a:extLst>
              <a:ext uri="{FF2B5EF4-FFF2-40B4-BE49-F238E27FC236}">
                <a16:creationId xmlns:a16="http://schemas.microsoft.com/office/drawing/2014/main" id="{14E6149F-DE4D-30C7-924F-9F89558CD28A}"/>
              </a:ext>
            </a:extLst>
          </p:cNvPr>
          <p:cNvSpPr txBox="1"/>
          <p:nvPr/>
        </p:nvSpPr>
        <p:spPr>
          <a:xfrm>
            <a:off x="611560" y="6381751"/>
            <a:ext cx="4147661"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scikitlearn.org</a:t>
            </a:r>
            <a:r>
              <a:rPr lang="en-GB" sz="1000" dirty="0">
                <a:latin typeface="Gill Sans MT" panose="020B0502020104020203" pitchFamily="34" charset="77"/>
              </a:rPr>
              <a:t>/stable/modules/</a:t>
            </a:r>
            <a:r>
              <a:rPr lang="en-GB" sz="1000" dirty="0" err="1">
                <a:latin typeface="Gill Sans MT" panose="020B0502020104020203" pitchFamily="34" charset="77"/>
              </a:rPr>
              <a:t>naive_bayes.html</a:t>
            </a:r>
            <a:endParaRPr lang="en-GB" sz="1000" dirty="0">
              <a:latin typeface="Gill Sans MT" panose="020B0502020104020203" pitchFamily="34" charset="77"/>
            </a:endParaRPr>
          </a:p>
        </p:txBody>
      </p:sp>
    </p:spTree>
    <p:extLst>
      <p:ext uri="{BB962C8B-B14F-4D97-AF65-F5344CB8AC3E}">
        <p14:creationId xmlns:p14="http://schemas.microsoft.com/office/powerpoint/2010/main" val="21070408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8245F-D560-BC0F-08A9-B01704FA492D}"/>
              </a:ext>
            </a:extLst>
          </p:cNvPr>
          <p:cNvSpPr>
            <a:spLocks noGrp="1"/>
          </p:cNvSpPr>
          <p:nvPr>
            <p:ph type="ctrTitle"/>
          </p:nvPr>
        </p:nvSpPr>
        <p:spPr/>
        <p:txBody>
          <a:bodyPr/>
          <a:lstStyle/>
          <a:p>
            <a:r>
              <a:rPr lang="en-GB" dirty="0"/>
              <a:t>Evaluation metrics</a:t>
            </a:r>
          </a:p>
        </p:txBody>
      </p:sp>
    </p:spTree>
    <p:extLst>
      <p:ext uri="{BB962C8B-B14F-4D97-AF65-F5344CB8AC3E}">
        <p14:creationId xmlns:p14="http://schemas.microsoft.com/office/powerpoint/2010/main" val="30348992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74DF7-40D9-FCC4-3CD8-8F47ED51CDD4}"/>
              </a:ext>
            </a:extLst>
          </p:cNvPr>
          <p:cNvSpPr>
            <a:spLocks noGrp="1"/>
          </p:cNvSpPr>
          <p:nvPr>
            <p:ph type="title"/>
          </p:nvPr>
        </p:nvSpPr>
        <p:spPr/>
        <p:txBody>
          <a:bodyPr/>
          <a:lstStyle/>
          <a:p>
            <a:r>
              <a:rPr lang="en-GB" dirty="0"/>
              <a:t>Precision and Recall </a:t>
            </a:r>
          </a:p>
        </p:txBody>
      </p:sp>
      <p:sp>
        <p:nvSpPr>
          <p:cNvPr id="3" name="Content Placeholder 2">
            <a:extLst>
              <a:ext uri="{FF2B5EF4-FFF2-40B4-BE49-F238E27FC236}">
                <a16:creationId xmlns:a16="http://schemas.microsoft.com/office/drawing/2014/main" id="{33080530-7B9D-C896-83FB-A16064AD61B7}"/>
              </a:ext>
            </a:extLst>
          </p:cNvPr>
          <p:cNvSpPr>
            <a:spLocks noGrp="1"/>
          </p:cNvSpPr>
          <p:nvPr>
            <p:ph idx="1"/>
          </p:nvPr>
        </p:nvSpPr>
        <p:spPr/>
        <p:txBody>
          <a:bodyPr/>
          <a:lstStyle/>
          <a:p>
            <a:r>
              <a:rPr lang="en-GB" dirty="0"/>
              <a:t>Precision defines the proportion of positive identifications that have actually been correct.</a:t>
            </a:r>
          </a:p>
          <a:p>
            <a:endParaRPr lang="en-GB" dirty="0"/>
          </a:p>
          <a:p>
            <a:endParaRPr lang="en-GB" dirty="0"/>
          </a:p>
          <a:p>
            <a:endParaRPr lang="en-GB" dirty="0"/>
          </a:p>
          <a:p>
            <a:pPr marL="0" indent="0">
              <a:buNone/>
            </a:pPr>
            <a:r>
              <a:rPr lang="en-GB" dirty="0"/>
              <a:t>TP = True Positive</a:t>
            </a:r>
          </a:p>
          <a:p>
            <a:pPr marL="0" indent="0">
              <a:buNone/>
            </a:pPr>
            <a:r>
              <a:rPr lang="en-GB" dirty="0"/>
              <a:t>FP = False Positive</a:t>
            </a:r>
          </a:p>
          <a:p>
            <a:endParaRPr lang="en-GB" dirty="0"/>
          </a:p>
          <a:p>
            <a:endParaRPr lang="en-GB" dirty="0"/>
          </a:p>
        </p:txBody>
      </p:sp>
      <p:sp>
        <p:nvSpPr>
          <p:cNvPr id="4" name="Slide Number Placeholder 3">
            <a:extLst>
              <a:ext uri="{FF2B5EF4-FFF2-40B4-BE49-F238E27FC236}">
                <a16:creationId xmlns:a16="http://schemas.microsoft.com/office/drawing/2014/main" id="{5DF67209-18F8-8938-DA66-CB4FCBCACFAC}"/>
              </a:ext>
            </a:extLst>
          </p:cNvPr>
          <p:cNvSpPr>
            <a:spLocks noGrp="1"/>
          </p:cNvSpPr>
          <p:nvPr>
            <p:ph type="sldNum" sz="quarter" idx="12"/>
          </p:nvPr>
        </p:nvSpPr>
        <p:spPr/>
        <p:txBody>
          <a:bodyPr/>
          <a:lstStyle/>
          <a:p>
            <a:fld id="{44E22EE9-B8A0-0641-9265-052CFE9B95A7}" type="slidenum">
              <a:rPr lang="en-GB" altLang="en-US" smtClean="0"/>
              <a:pPr/>
              <a:t>37</a:t>
            </a:fld>
            <a:endParaRPr lang="en-GB" alt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BDF4101-8047-EF8D-CE9E-74026D98B4DF}"/>
                  </a:ext>
                </a:extLst>
              </p:cNvPr>
              <p:cNvSpPr txBox="1"/>
              <p:nvPr/>
            </p:nvSpPr>
            <p:spPr>
              <a:xfrm>
                <a:off x="2812436" y="2478494"/>
                <a:ext cx="2780313"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𝑃𝑟𝑒𝑐𝑖𝑠𝑖𝑜𝑛</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𝐹𝑃</m:t>
                          </m:r>
                        </m:den>
                      </m:f>
                    </m:oMath>
                  </m:oMathPara>
                </a14:m>
                <a:endParaRPr lang="en-GB" dirty="0"/>
              </a:p>
              <a:p>
                <a:endParaRPr lang="en-GB" dirty="0"/>
              </a:p>
            </p:txBody>
          </p:sp>
        </mc:Choice>
        <mc:Fallback xmlns="">
          <p:sp>
            <p:nvSpPr>
              <p:cNvPr id="5" name="TextBox 4">
                <a:extLst>
                  <a:ext uri="{FF2B5EF4-FFF2-40B4-BE49-F238E27FC236}">
                    <a16:creationId xmlns:a16="http://schemas.microsoft.com/office/drawing/2014/main" id="{FBDF4101-8047-EF8D-CE9E-74026D98B4DF}"/>
                  </a:ext>
                </a:extLst>
              </p:cNvPr>
              <p:cNvSpPr txBox="1">
                <a:spLocks noRot="1" noChangeAspect="1" noMove="1" noResize="1" noEditPoints="1" noAdjustHandles="1" noChangeArrowheads="1" noChangeShapeType="1" noTextEdit="1"/>
              </p:cNvSpPr>
              <p:nvPr/>
            </p:nvSpPr>
            <p:spPr>
              <a:xfrm>
                <a:off x="2812436" y="2478494"/>
                <a:ext cx="2780313" cy="892488"/>
              </a:xfrm>
              <a:prstGeom prst="rect">
                <a:avLst/>
              </a:prstGeom>
              <a:blipFill>
                <a:blip r:embed="rId2"/>
                <a:stretch>
                  <a:fillRect/>
                </a:stretch>
              </a:blipFill>
            </p:spPr>
            <p:txBody>
              <a:bodyPr/>
              <a:lstStyle/>
              <a:p>
                <a:r>
                  <a:rPr lang="en-GB">
                    <a:noFill/>
                  </a:rPr>
                  <a:t> </a:t>
                </a:r>
              </a:p>
            </p:txBody>
          </p:sp>
        </mc:Fallback>
      </mc:AlternateContent>
      <p:graphicFrame>
        <p:nvGraphicFramePr>
          <p:cNvPr id="6" name="Table 6">
            <a:extLst>
              <a:ext uri="{FF2B5EF4-FFF2-40B4-BE49-F238E27FC236}">
                <a16:creationId xmlns:a16="http://schemas.microsoft.com/office/drawing/2014/main" id="{3590CC6F-5DDB-C72A-03EA-8D9382D3ED2D}"/>
              </a:ext>
            </a:extLst>
          </p:cNvPr>
          <p:cNvGraphicFramePr>
            <a:graphicFrameLocks noGrp="1"/>
          </p:cNvGraphicFramePr>
          <p:nvPr>
            <p:extLst>
              <p:ext uri="{D42A27DB-BD31-4B8C-83A1-F6EECF244321}">
                <p14:modId xmlns:p14="http://schemas.microsoft.com/office/powerpoint/2010/main" val="3271228430"/>
              </p:ext>
            </p:extLst>
          </p:nvPr>
        </p:nvGraphicFramePr>
        <p:xfrm>
          <a:off x="5840111" y="4759561"/>
          <a:ext cx="5443804" cy="890016"/>
        </p:xfrm>
        <a:graphic>
          <a:graphicData uri="http://schemas.openxmlformats.org/drawingml/2006/table">
            <a:tbl>
              <a:tblPr bandRow="1">
                <a:tableStyleId>{5C22544A-7EE6-4342-B048-85BDC9FD1C3A}</a:tableStyleId>
              </a:tblPr>
              <a:tblGrid>
                <a:gridCol w="2505878">
                  <a:extLst>
                    <a:ext uri="{9D8B030D-6E8A-4147-A177-3AD203B41FA5}">
                      <a16:colId xmlns:a16="http://schemas.microsoft.com/office/drawing/2014/main" val="2294070008"/>
                    </a:ext>
                  </a:extLst>
                </a:gridCol>
                <a:gridCol w="2937926">
                  <a:extLst>
                    <a:ext uri="{9D8B030D-6E8A-4147-A177-3AD203B41FA5}">
                      <a16:colId xmlns:a16="http://schemas.microsoft.com/office/drawing/2014/main" val="1268478978"/>
                    </a:ext>
                  </a:extLst>
                </a:gridCol>
              </a:tblGrid>
              <a:tr h="445008">
                <a:tc>
                  <a:txBody>
                    <a:bodyPr/>
                    <a:lstStyle/>
                    <a:p>
                      <a:r>
                        <a:rPr lang="en-GB" sz="1900" b="0" dirty="0">
                          <a:solidFill>
                            <a:schemeClr val="tx1"/>
                          </a:solidFill>
                          <a:latin typeface="Gill Sans MT" panose="020B0502020104020203" pitchFamily="34" charset="77"/>
                        </a:rPr>
                        <a:t>True Positives: 25</a:t>
                      </a:r>
                    </a:p>
                  </a:txBody>
                  <a:tcPr marL="109728" marR="109728" marT="54864" marB="54864">
                    <a:solidFill>
                      <a:srgbClr val="92D050"/>
                    </a:solidFill>
                  </a:tcPr>
                </a:tc>
                <a:tc>
                  <a:txBody>
                    <a:bodyPr/>
                    <a:lstStyle/>
                    <a:p>
                      <a:r>
                        <a:rPr lang="en-GB" sz="1900" b="0" dirty="0">
                          <a:solidFill>
                            <a:schemeClr val="tx1"/>
                          </a:solidFill>
                          <a:latin typeface="Gill Sans MT" panose="020B0502020104020203" pitchFamily="34" charset="77"/>
                        </a:rPr>
                        <a:t>False Positives: 10</a:t>
                      </a:r>
                    </a:p>
                  </a:txBody>
                  <a:tcPr marL="109728" marR="109728" marT="54864" marB="54864">
                    <a:solidFill>
                      <a:srgbClr val="FF0000">
                        <a:alpha val="70000"/>
                      </a:srgbClr>
                    </a:solidFill>
                  </a:tcPr>
                </a:tc>
                <a:extLst>
                  <a:ext uri="{0D108BD9-81ED-4DB2-BD59-A6C34878D82A}">
                    <a16:rowId xmlns:a16="http://schemas.microsoft.com/office/drawing/2014/main" val="2313162053"/>
                  </a:ext>
                </a:extLst>
              </a:tr>
              <a:tr h="445008">
                <a:tc>
                  <a:txBody>
                    <a:bodyPr/>
                    <a:lstStyle/>
                    <a:p>
                      <a:r>
                        <a:rPr lang="en-GB" sz="1900" b="0" dirty="0">
                          <a:solidFill>
                            <a:schemeClr val="tx1"/>
                          </a:solidFill>
                          <a:latin typeface="Gill Sans MT" panose="020B0502020104020203" pitchFamily="34" charset="77"/>
                        </a:rPr>
                        <a:t>False Negatives: 15</a:t>
                      </a:r>
                    </a:p>
                  </a:txBody>
                  <a:tcPr marL="109728" marR="109728" marT="54864" marB="54864">
                    <a:solidFill>
                      <a:srgbClr val="FF0000">
                        <a:alpha val="70000"/>
                      </a:srgbClr>
                    </a:solidFill>
                  </a:tcPr>
                </a:tc>
                <a:tc>
                  <a:txBody>
                    <a:bodyPr/>
                    <a:lstStyle/>
                    <a:p>
                      <a:r>
                        <a:rPr lang="en-GB" sz="1900" b="0" dirty="0">
                          <a:solidFill>
                            <a:schemeClr val="tx1"/>
                          </a:solidFill>
                          <a:latin typeface="Gill Sans MT" panose="020B0502020104020203" pitchFamily="34" charset="77"/>
                        </a:rPr>
                        <a:t>True Negatives: 80</a:t>
                      </a:r>
                    </a:p>
                  </a:txBody>
                  <a:tcPr marL="109728" marR="109728" marT="54864" marB="54864">
                    <a:solidFill>
                      <a:srgbClr val="92D050"/>
                    </a:solidFill>
                  </a:tcPr>
                </a:tc>
                <a:extLst>
                  <a:ext uri="{0D108BD9-81ED-4DB2-BD59-A6C34878D82A}">
                    <a16:rowId xmlns:a16="http://schemas.microsoft.com/office/drawing/2014/main" val="3599403228"/>
                  </a:ext>
                </a:extLst>
              </a:tr>
            </a:tbl>
          </a:graphicData>
        </a:graphic>
      </p:graphicFrame>
      <p:sp>
        <p:nvSpPr>
          <p:cNvPr id="7" name="TextBox 6">
            <a:extLst>
              <a:ext uri="{FF2B5EF4-FFF2-40B4-BE49-F238E27FC236}">
                <a16:creationId xmlns:a16="http://schemas.microsoft.com/office/drawing/2014/main" id="{580B6B2A-9C5F-179E-2641-A1FD004B0C60}"/>
              </a:ext>
            </a:extLst>
          </p:cNvPr>
          <p:cNvSpPr txBox="1"/>
          <p:nvPr/>
        </p:nvSpPr>
        <p:spPr>
          <a:xfrm>
            <a:off x="5840111" y="4228586"/>
            <a:ext cx="3417218" cy="387798"/>
          </a:xfrm>
          <a:prstGeom prst="rect">
            <a:avLst/>
          </a:prstGeom>
          <a:noFill/>
        </p:spPr>
        <p:txBody>
          <a:bodyPr wrap="none" rtlCol="0">
            <a:spAutoFit/>
          </a:bodyPr>
          <a:lstStyle/>
          <a:p>
            <a:r>
              <a:rPr lang="en-GB" sz="1920" dirty="0">
                <a:latin typeface="Gill Sans MT" panose="020B0502020104020203" pitchFamily="34" charset="77"/>
              </a:rPr>
              <a:t>Example: Calculate the Precision</a:t>
            </a:r>
          </a:p>
        </p:txBody>
      </p:sp>
    </p:spTree>
    <p:extLst>
      <p:ext uri="{BB962C8B-B14F-4D97-AF65-F5344CB8AC3E}">
        <p14:creationId xmlns:p14="http://schemas.microsoft.com/office/powerpoint/2010/main" val="3685288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81D9C-0E72-3FA9-3570-E68245F3A431}"/>
              </a:ext>
            </a:extLst>
          </p:cNvPr>
          <p:cNvSpPr>
            <a:spLocks noGrp="1"/>
          </p:cNvSpPr>
          <p:nvPr>
            <p:ph type="title"/>
          </p:nvPr>
        </p:nvSpPr>
        <p:spPr/>
        <p:txBody>
          <a:bodyPr/>
          <a:lstStyle/>
          <a:p>
            <a:r>
              <a:rPr lang="en-GB" dirty="0"/>
              <a:t>Recall</a:t>
            </a:r>
          </a:p>
        </p:txBody>
      </p:sp>
      <p:sp>
        <p:nvSpPr>
          <p:cNvPr id="3" name="Content Placeholder 2">
            <a:extLst>
              <a:ext uri="{FF2B5EF4-FFF2-40B4-BE49-F238E27FC236}">
                <a16:creationId xmlns:a16="http://schemas.microsoft.com/office/drawing/2014/main" id="{43CFA3EE-CA18-0EBA-4F30-C49F0F5706CE}"/>
              </a:ext>
            </a:extLst>
          </p:cNvPr>
          <p:cNvSpPr>
            <a:spLocks noGrp="1"/>
          </p:cNvSpPr>
          <p:nvPr>
            <p:ph idx="1"/>
          </p:nvPr>
        </p:nvSpPr>
        <p:spPr/>
        <p:txBody>
          <a:bodyPr/>
          <a:lstStyle/>
          <a:p>
            <a:pPr algn="l"/>
            <a:r>
              <a:rPr lang="en-GB" i="0" u="none" strike="noStrike" dirty="0">
                <a:solidFill>
                  <a:srgbClr val="202124"/>
                </a:solidFill>
                <a:effectLst/>
              </a:rPr>
              <a:t>Recall defines the </a:t>
            </a:r>
            <a:r>
              <a:rPr lang="en-GB" dirty="0">
                <a:effectLst/>
              </a:rPr>
              <a:t>proportion of actual positives that were identified correctly.</a:t>
            </a:r>
          </a:p>
          <a:p>
            <a:pPr algn="l"/>
            <a:endParaRPr lang="en-GB" dirty="0"/>
          </a:p>
          <a:p>
            <a:pPr algn="l"/>
            <a:endParaRPr lang="en-GB" dirty="0">
              <a:effectLst/>
            </a:endParaRPr>
          </a:p>
          <a:p>
            <a:pPr algn="l"/>
            <a:endParaRPr lang="en-GB" dirty="0"/>
          </a:p>
          <a:p>
            <a:pPr marL="0" indent="0">
              <a:buNone/>
            </a:pPr>
            <a:r>
              <a:rPr lang="en-GB" dirty="0"/>
              <a:t>TP = True Positive</a:t>
            </a:r>
          </a:p>
          <a:p>
            <a:pPr marL="0" indent="0">
              <a:buNone/>
            </a:pPr>
            <a:r>
              <a:rPr lang="en-GB" dirty="0"/>
              <a:t>FN = False Negative</a:t>
            </a:r>
          </a:p>
          <a:p>
            <a:pPr algn="l"/>
            <a:endParaRPr lang="en-GB" dirty="0">
              <a:effectLst/>
            </a:endParaRPr>
          </a:p>
          <a:p>
            <a:endParaRPr lang="en-GB" dirty="0"/>
          </a:p>
        </p:txBody>
      </p:sp>
      <p:sp>
        <p:nvSpPr>
          <p:cNvPr id="4" name="Slide Number Placeholder 3">
            <a:extLst>
              <a:ext uri="{FF2B5EF4-FFF2-40B4-BE49-F238E27FC236}">
                <a16:creationId xmlns:a16="http://schemas.microsoft.com/office/drawing/2014/main" id="{DA878B5C-BDB7-932E-385E-BE3E497DF2B3}"/>
              </a:ext>
            </a:extLst>
          </p:cNvPr>
          <p:cNvSpPr>
            <a:spLocks noGrp="1"/>
          </p:cNvSpPr>
          <p:nvPr>
            <p:ph type="sldNum" sz="quarter" idx="12"/>
          </p:nvPr>
        </p:nvSpPr>
        <p:spPr/>
        <p:txBody>
          <a:bodyPr/>
          <a:lstStyle/>
          <a:p>
            <a:fld id="{44E22EE9-B8A0-0641-9265-052CFE9B95A7}" type="slidenum">
              <a:rPr lang="en-GB" altLang="en-US" smtClean="0"/>
              <a:pPr/>
              <a:t>38</a:t>
            </a:fld>
            <a:endParaRPr lang="en-GB" altLang="en-US" dirty="0"/>
          </a:p>
        </p:txBody>
      </p:sp>
      <p:graphicFrame>
        <p:nvGraphicFramePr>
          <p:cNvPr id="5" name="Table 6">
            <a:extLst>
              <a:ext uri="{FF2B5EF4-FFF2-40B4-BE49-F238E27FC236}">
                <a16:creationId xmlns:a16="http://schemas.microsoft.com/office/drawing/2014/main" id="{1A4FEF63-9B4A-510F-CF0F-773189343CCC}"/>
              </a:ext>
            </a:extLst>
          </p:cNvPr>
          <p:cNvGraphicFramePr>
            <a:graphicFrameLocks noGrp="1"/>
          </p:cNvGraphicFramePr>
          <p:nvPr>
            <p:extLst>
              <p:ext uri="{D42A27DB-BD31-4B8C-83A1-F6EECF244321}">
                <p14:modId xmlns:p14="http://schemas.microsoft.com/office/powerpoint/2010/main" val="1748116411"/>
              </p:ext>
            </p:extLst>
          </p:nvPr>
        </p:nvGraphicFramePr>
        <p:xfrm>
          <a:off x="5840111" y="4759561"/>
          <a:ext cx="5443804" cy="890016"/>
        </p:xfrm>
        <a:graphic>
          <a:graphicData uri="http://schemas.openxmlformats.org/drawingml/2006/table">
            <a:tbl>
              <a:tblPr bandRow="1">
                <a:tableStyleId>{5C22544A-7EE6-4342-B048-85BDC9FD1C3A}</a:tableStyleId>
              </a:tblPr>
              <a:tblGrid>
                <a:gridCol w="2505878">
                  <a:extLst>
                    <a:ext uri="{9D8B030D-6E8A-4147-A177-3AD203B41FA5}">
                      <a16:colId xmlns:a16="http://schemas.microsoft.com/office/drawing/2014/main" val="2294070008"/>
                    </a:ext>
                  </a:extLst>
                </a:gridCol>
                <a:gridCol w="2937926">
                  <a:extLst>
                    <a:ext uri="{9D8B030D-6E8A-4147-A177-3AD203B41FA5}">
                      <a16:colId xmlns:a16="http://schemas.microsoft.com/office/drawing/2014/main" val="1268478978"/>
                    </a:ext>
                  </a:extLst>
                </a:gridCol>
              </a:tblGrid>
              <a:tr h="445008">
                <a:tc>
                  <a:txBody>
                    <a:bodyPr/>
                    <a:lstStyle/>
                    <a:p>
                      <a:r>
                        <a:rPr lang="en-GB" sz="1900" b="0" dirty="0">
                          <a:solidFill>
                            <a:schemeClr val="tx1"/>
                          </a:solidFill>
                          <a:latin typeface="Gill Sans MT" panose="020B0502020104020203" pitchFamily="34" charset="77"/>
                        </a:rPr>
                        <a:t>True Positives: 25</a:t>
                      </a:r>
                    </a:p>
                  </a:txBody>
                  <a:tcPr marL="109728" marR="109728" marT="54864" marB="54864">
                    <a:solidFill>
                      <a:srgbClr val="92D050"/>
                    </a:solidFill>
                  </a:tcPr>
                </a:tc>
                <a:tc>
                  <a:txBody>
                    <a:bodyPr/>
                    <a:lstStyle/>
                    <a:p>
                      <a:r>
                        <a:rPr lang="en-GB" sz="1900" b="0" dirty="0">
                          <a:solidFill>
                            <a:schemeClr val="tx1"/>
                          </a:solidFill>
                          <a:latin typeface="Gill Sans MT" panose="020B0502020104020203" pitchFamily="34" charset="77"/>
                        </a:rPr>
                        <a:t>False Positives: 10</a:t>
                      </a:r>
                    </a:p>
                  </a:txBody>
                  <a:tcPr marL="109728" marR="109728" marT="54864" marB="54864">
                    <a:solidFill>
                      <a:srgbClr val="FF0000">
                        <a:alpha val="70000"/>
                      </a:srgbClr>
                    </a:solidFill>
                  </a:tcPr>
                </a:tc>
                <a:extLst>
                  <a:ext uri="{0D108BD9-81ED-4DB2-BD59-A6C34878D82A}">
                    <a16:rowId xmlns:a16="http://schemas.microsoft.com/office/drawing/2014/main" val="2313162053"/>
                  </a:ext>
                </a:extLst>
              </a:tr>
              <a:tr h="445008">
                <a:tc>
                  <a:txBody>
                    <a:bodyPr/>
                    <a:lstStyle/>
                    <a:p>
                      <a:r>
                        <a:rPr lang="en-GB" sz="1900" b="0" dirty="0">
                          <a:solidFill>
                            <a:schemeClr val="tx1"/>
                          </a:solidFill>
                          <a:latin typeface="Gill Sans MT" panose="020B0502020104020203" pitchFamily="34" charset="77"/>
                        </a:rPr>
                        <a:t>False Negatives: 15</a:t>
                      </a:r>
                    </a:p>
                  </a:txBody>
                  <a:tcPr marL="109728" marR="109728" marT="54864" marB="54864">
                    <a:solidFill>
                      <a:srgbClr val="FF0000">
                        <a:alpha val="70000"/>
                      </a:srgbClr>
                    </a:solidFill>
                  </a:tcPr>
                </a:tc>
                <a:tc>
                  <a:txBody>
                    <a:bodyPr/>
                    <a:lstStyle/>
                    <a:p>
                      <a:r>
                        <a:rPr lang="en-GB" sz="1900" b="0" dirty="0">
                          <a:solidFill>
                            <a:schemeClr val="tx1"/>
                          </a:solidFill>
                          <a:latin typeface="Gill Sans MT" panose="020B0502020104020203" pitchFamily="34" charset="77"/>
                        </a:rPr>
                        <a:t>True Negatives: 80</a:t>
                      </a:r>
                    </a:p>
                  </a:txBody>
                  <a:tcPr marL="109728" marR="109728" marT="54864" marB="54864">
                    <a:solidFill>
                      <a:srgbClr val="92D050"/>
                    </a:solidFill>
                  </a:tcPr>
                </a:tc>
                <a:extLst>
                  <a:ext uri="{0D108BD9-81ED-4DB2-BD59-A6C34878D82A}">
                    <a16:rowId xmlns:a16="http://schemas.microsoft.com/office/drawing/2014/main" val="3599403228"/>
                  </a:ext>
                </a:extLst>
              </a:tr>
            </a:tbl>
          </a:graphicData>
        </a:graphic>
      </p:graphicFrame>
      <p:sp>
        <p:nvSpPr>
          <p:cNvPr id="6" name="TextBox 5">
            <a:extLst>
              <a:ext uri="{FF2B5EF4-FFF2-40B4-BE49-F238E27FC236}">
                <a16:creationId xmlns:a16="http://schemas.microsoft.com/office/drawing/2014/main" id="{97FCC2BA-8389-A6AE-9294-F0EB068F5D73}"/>
              </a:ext>
            </a:extLst>
          </p:cNvPr>
          <p:cNvSpPr txBox="1"/>
          <p:nvPr/>
        </p:nvSpPr>
        <p:spPr>
          <a:xfrm>
            <a:off x="5840112" y="4228586"/>
            <a:ext cx="3099951" cy="387798"/>
          </a:xfrm>
          <a:prstGeom prst="rect">
            <a:avLst/>
          </a:prstGeom>
          <a:noFill/>
        </p:spPr>
        <p:txBody>
          <a:bodyPr wrap="none" rtlCol="0">
            <a:spAutoFit/>
          </a:bodyPr>
          <a:lstStyle/>
          <a:p>
            <a:r>
              <a:rPr lang="en-GB" sz="1920" dirty="0">
                <a:latin typeface="Gill Sans MT" panose="020B0502020104020203" pitchFamily="34" charset="77"/>
              </a:rPr>
              <a:t>Example: Calculate the Recall</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E1B54EE8-E0A7-A20E-1097-5739F37A3B49}"/>
                  </a:ext>
                </a:extLst>
              </p:cNvPr>
              <p:cNvSpPr txBox="1"/>
              <p:nvPr/>
            </p:nvSpPr>
            <p:spPr>
              <a:xfrm>
                <a:off x="2812436" y="2478494"/>
                <a:ext cx="2406877"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𝑅𝑒𝑐𝑎𝑙𝑙</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𝐹𝑁</m:t>
                          </m:r>
                        </m:den>
                      </m:f>
                    </m:oMath>
                  </m:oMathPara>
                </a14:m>
                <a:endParaRPr lang="en-GB" dirty="0"/>
              </a:p>
              <a:p>
                <a:endParaRPr lang="en-GB" dirty="0"/>
              </a:p>
            </p:txBody>
          </p:sp>
        </mc:Choice>
        <mc:Fallback xmlns="">
          <p:sp>
            <p:nvSpPr>
              <p:cNvPr id="7" name="TextBox 6">
                <a:extLst>
                  <a:ext uri="{FF2B5EF4-FFF2-40B4-BE49-F238E27FC236}">
                    <a16:creationId xmlns:a16="http://schemas.microsoft.com/office/drawing/2014/main" id="{E1B54EE8-E0A7-A20E-1097-5739F37A3B49}"/>
                  </a:ext>
                </a:extLst>
              </p:cNvPr>
              <p:cNvSpPr txBox="1">
                <a:spLocks noRot="1" noChangeAspect="1" noMove="1" noResize="1" noEditPoints="1" noAdjustHandles="1" noChangeArrowheads="1" noChangeShapeType="1" noTextEdit="1"/>
              </p:cNvSpPr>
              <p:nvPr/>
            </p:nvSpPr>
            <p:spPr>
              <a:xfrm>
                <a:off x="2812436" y="2478494"/>
                <a:ext cx="2406877" cy="892488"/>
              </a:xfrm>
              <a:prstGeom prst="rect">
                <a:avLst/>
              </a:prstGeom>
              <a:blipFill>
                <a:blip r:embed="rId2"/>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14166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0DDAE-DC90-06D8-7ECC-AAE7F6743C32}"/>
              </a:ext>
            </a:extLst>
          </p:cNvPr>
          <p:cNvSpPr>
            <a:spLocks noGrp="1"/>
          </p:cNvSpPr>
          <p:nvPr>
            <p:ph type="title"/>
          </p:nvPr>
        </p:nvSpPr>
        <p:spPr/>
        <p:txBody>
          <a:bodyPr/>
          <a:lstStyle/>
          <a:p>
            <a:r>
              <a:rPr lang="en-GB" dirty="0"/>
              <a:t>Precision and Recall</a:t>
            </a:r>
          </a:p>
        </p:txBody>
      </p:sp>
      <p:sp>
        <p:nvSpPr>
          <p:cNvPr id="4" name="Slide Number Placeholder 3">
            <a:extLst>
              <a:ext uri="{FF2B5EF4-FFF2-40B4-BE49-F238E27FC236}">
                <a16:creationId xmlns:a16="http://schemas.microsoft.com/office/drawing/2014/main" id="{1EA42013-1296-5D3A-1C8B-E4470BB5A6D8}"/>
              </a:ext>
            </a:extLst>
          </p:cNvPr>
          <p:cNvSpPr>
            <a:spLocks noGrp="1"/>
          </p:cNvSpPr>
          <p:nvPr>
            <p:ph type="sldNum" sz="quarter" idx="12"/>
          </p:nvPr>
        </p:nvSpPr>
        <p:spPr/>
        <p:txBody>
          <a:bodyPr/>
          <a:lstStyle/>
          <a:p>
            <a:fld id="{44E22EE9-B8A0-0641-9265-052CFE9B95A7}" type="slidenum">
              <a:rPr lang="en-GB" altLang="en-US" smtClean="0"/>
              <a:pPr/>
              <a:t>39</a:t>
            </a:fld>
            <a:endParaRPr lang="en-GB" altLang="en-US" dirty="0"/>
          </a:p>
        </p:txBody>
      </p:sp>
      <p:sp>
        <p:nvSpPr>
          <p:cNvPr id="10" name="TextBox 9">
            <a:extLst>
              <a:ext uri="{FF2B5EF4-FFF2-40B4-BE49-F238E27FC236}">
                <a16:creationId xmlns:a16="http://schemas.microsoft.com/office/drawing/2014/main" id="{D62CDA0E-491F-AE00-1993-543CD59AB3A2}"/>
              </a:ext>
            </a:extLst>
          </p:cNvPr>
          <p:cNvSpPr txBox="1"/>
          <p:nvPr/>
        </p:nvSpPr>
        <p:spPr>
          <a:xfrm>
            <a:off x="1158240" y="6525262"/>
            <a:ext cx="7236499" cy="246221"/>
          </a:xfrm>
          <a:prstGeom prst="rect">
            <a:avLst/>
          </a:prstGeom>
          <a:noFill/>
        </p:spPr>
        <p:txBody>
          <a:bodyPr wrap="square">
            <a:spAutoFit/>
          </a:bodyPr>
          <a:lstStyle/>
          <a:p>
            <a:r>
              <a:rPr lang="en-GB" sz="1000" dirty="0">
                <a:latin typeface="Gill Sans MT" panose="020B0502020104020203" pitchFamily="34" charset="77"/>
              </a:rPr>
              <a:t>Image source: https://</a:t>
            </a:r>
            <a:r>
              <a:rPr lang="en-GB" sz="1000" dirty="0" err="1">
                <a:latin typeface="Gill Sans MT" panose="020B0502020104020203" pitchFamily="34" charset="77"/>
              </a:rPr>
              <a:t>developers.google.com</a:t>
            </a:r>
            <a:r>
              <a:rPr lang="en-GB" sz="1000" dirty="0">
                <a:latin typeface="Gill Sans MT" panose="020B0502020104020203" pitchFamily="34" charset="77"/>
              </a:rPr>
              <a:t>/machine-learning/crash-course/classification/precision-and-recall</a:t>
            </a:r>
          </a:p>
        </p:txBody>
      </p:sp>
      <p:pic>
        <p:nvPicPr>
          <p:cNvPr id="13" name="Picture 12" descr="A picture containing diagram&#10;&#10;Description automatically generated">
            <a:extLst>
              <a:ext uri="{FF2B5EF4-FFF2-40B4-BE49-F238E27FC236}">
                <a16:creationId xmlns:a16="http://schemas.microsoft.com/office/drawing/2014/main" id="{0B0CBF01-E1BB-EE24-EEA5-75C4377A8FE8}"/>
              </a:ext>
            </a:extLst>
          </p:cNvPr>
          <p:cNvPicPr>
            <a:picLocks noChangeAspect="1"/>
          </p:cNvPicPr>
          <p:nvPr/>
        </p:nvPicPr>
        <p:blipFill rotWithShape="1">
          <a:blip r:embed="rId2">
            <a:extLst>
              <a:ext uri="{28A0092B-C50C-407E-A947-70E740481C1C}">
                <a14:useLocalDpi xmlns:a14="http://schemas.microsoft.com/office/drawing/2010/main" val="0"/>
              </a:ext>
            </a:extLst>
          </a:blip>
          <a:srcRect t="6958"/>
          <a:stretch/>
        </p:blipFill>
        <p:spPr>
          <a:xfrm>
            <a:off x="5097499" y="1075633"/>
            <a:ext cx="5926201" cy="1750170"/>
          </a:xfrm>
          <a:prstGeom prst="rect">
            <a:avLst/>
          </a:prstGeom>
        </p:spPr>
      </p:pic>
      <p:pic>
        <p:nvPicPr>
          <p:cNvPr id="15" name="Picture 14" descr="A picture containing graphical user interface&#10;&#10;Description automatically generated">
            <a:extLst>
              <a:ext uri="{FF2B5EF4-FFF2-40B4-BE49-F238E27FC236}">
                <a16:creationId xmlns:a16="http://schemas.microsoft.com/office/drawing/2014/main" id="{CE5610B4-F02D-FD3F-5696-79BA20BB8209}"/>
              </a:ext>
            </a:extLst>
          </p:cNvPr>
          <p:cNvPicPr>
            <a:picLocks noChangeAspect="1"/>
          </p:cNvPicPr>
          <p:nvPr/>
        </p:nvPicPr>
        <p:blipFill rotWithShape="1">
          <a:blip r:embed="rId3">
            <a:extLst>
              <a:ext uri="{28A0092B-C50C-407E-A947-70E740481C1C}">
                <a14:useLocalDpi xmlns:a14="http://schemas.microsoft.com/office/drawing/2010/main" val="0"/>
              </a:ext>
            </a:extLst>
          </a:blip>
          <a:srcRect t="11813"/>
          <a:stretch/>
        </p:blipFill>
        <p:spPr>
          <a:xfrm>
            <a:off x="5141403" y="2724248"/>
            <a:ext cx="5926201" cy="1750170"/>
          </a:xfrm>
          <a:prstGeom prst="rect">
            <a:avLst/>
          </a:prstGeom>
        </p:spPr>
      </p:pic>
      <p:pic>
        <p:nvPicPr>
          <p:cNvPr id="17" name="Picture 16" descr="A picture containing diagram&#10;&#10;Description automatically generated">
            <a:extLst>
              <a:ext uri="{FF2B5EF4-FFF2-40B4-BE49-F238E27FC236}">
                <a16:creationId xmlns:a16="http://schemas.microsoft.com/office/drawing/2014/main" id="{0F1D519E-BC3B-4A24-7335-452AFC71D2FF}"/>
              </a:ext>
            </a:extLst>
          </p:cNvPr>
          <p:cNvPicPr>
            <a:picLocks noChangeAspect="1"/>
          </p:cNvPicPr>
          <p:nvPr/>
        </p:nvPicPr>
        <p:blipFill rotWithShape="1">
          <a:blip r:embed="rId4">
            <a:extLst>
              <a:ext uri="{28A0092B-C50C-407E-A947-70E740481C1C}">
                <a14:useLocalDpi xmlns:a14="http://schemas.microsoft.com/office/drawing/2010/main" val="0"/>
              </a:ext>
            </a:extLst>
          </a:blip>
          <a:srcRect t="8188"/>
          <a:stretch/>
        </p:blipFill>
        <p:spPr>
          <a:xfrm>
            <a:off x="5141403" y="4538480"/>
            <a:ext cx="5954538" cy="1830845"/>
          </a:xfrm>
          <a:prstGeom prst="rect">
            <a:avLst/>
          </a:prstGeom>
        </p:spPr>
      </p:pic>
      <p:sp>
        <p:nvSpPr>
          <p:cNvPr id="19" name="TextBox 18">
            <a:extLst>
              <a:ext uri="{FF2B5EF4-FFF2-40B4-BE49-F238E27FC236}">
                <a16:creationId xmlns:a16="http://schemas.microsoft.com/office/drawing/2014/main" id="{D3082B93-0A9B-41D6-D300-11391AC34A5C}"/>
              </a:ext>
            </a:extLst>
          </p:cNvPr>
          <p:cNvSpPr txBox="1"/>
          <p:nvPr/>
        </p:nvSpPr>
        <p:spPr>
          <a:xfrm>
            <a:off x="1124397" y="1431575"/>
            <a:ext cx="3502640" cy="1477328"/>
          </a:xfrm>
          <a:prstGeom prst="rect">
            <a:avLst/>
          </a:prstGeom>
          <a:noFill/>
        </p:spPr>
        <p:txBody>
          <a:bodyPr wrap="square">
            <a:spAutoFit/>
          </a:bodyPr>
          <a:lstStyle/>
          <a:p>
            <a:r>
              <a:rPr lang="en-GB" dirty="0">
                <a:latin typeface="Gill Sans MT" panose="020B0502020104020203" pitchFamily="34" charset="77"/>
              </a:rPr>
              <a:t>How the decision threshold could affect Precision and Recall.</a:t>
            </a:r>
          </a:p>
          <a:p>
            <a:endParaRPr lang="en-GB" dirty="0">
              <a:latin typeface="Gill Sans MT" panose="020B0502020104020203" pitchFamily="34" charset="77"/>
            </a:endParaRPr>
          </a:p>
          <a:p>
            <a:r>
              <a:rPr lang="en-GB" dirty="0">
                <a:solidFill>
                  <a:srgbClr val="FF0000"/>
                </a:solidFill>
                <a:latin typeface="Gill Sans MT" panose="020B0502020104020203" pitchFamily="34" charset="77"/>
              </a:rPr>
              <a:t>This can be very important in medical applications</a:t>
            </a:r>
            <a:r>
              <a:rPr lang="en-GB" dirty="0">
                <a:latin typeface="Gill Sans MT" panose="020B0502020104020203" pitchFamily="34" charset="77"/>
              </a:rPr>
              <a:t>.</a:t>
            </a:r>
          </a:p>
        </p:txBody>
      </p:sp>
    </p:spTree>
    <p:extLst>
      <p:ext uri="{BB962C8B-B14F-4D97-AF65-F5344CB8AC3E}">
        <p14:creationId xmlns:p14="http://schemas.microsoft.com/office/powerpoint/2010/main" val="40056748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CF0C6-B554-B688-D5DF-D75CAADF94FC}"/>
              </a:ext>
            </a:extLst>
          </p:cNvPr>
          <p:cNvSpPr>
            <a:spLocks noGrp="1"/>
          </p:cNvSpPr>
          <p:nvPr>
            <p:ph type="title"/>
          </p:nvPr>
        </p:nvSpPr>
        <p:spPr/>
        <p:txBody>
          <a:bodyPr/>
          <a:lstStyle/>
          <a:p>
            <a:r>
              <a:rPr lang="en-GB" dirty="0"/>
              <a:t>Accuracy</a:t>
            </a:r>
          </a:p>
        </p:txBody>
      </p:sp>
      <p:sp>
        <p:nvSpPr>
          <p:cNvPr id="3" name="Content Placeholder 2">
            <a:extLst>
              <a:ext uri="{FF2B5EF4-FFF2-40B4-BE49-F238E27FC236}">
                <a16:creationId xmlns:a16="http://schemas.microsoft.com/office/drawing/2014/main" id="{22621703-0D6D-7ACC-AA2F-728100117E44}"/>
              </a:ext>
            </a:extLst>
          </p:cNvPr>
          <p:cNvSpPr>
            <a:spLocks noGrp="1"/>
          </p:cNvSpPr>
          <p:nvPr>
            <p:ph idx="1"/>
          </p:nvPr>
        </p:nvSpPr>
        <p:spPr/>
        <p:txBody>
          <a:bodyPr/>
          <a:lstStyle/>
          <a:p>
            <a:r>
              <a:rPr lang="en-GB" b="0" i="0" u="none" strike="noStrike" dirty="0">
                <a:solidFill>
                  <a:srgbClr val="202124"/>
                </a:solidFill>
                <a:effectLst/>
              </a:rPr>
              <a:t>Accuracy is a metric to evaluate classification models. </a:t>
            </a:r>
          </a:p>
          <a:p>
            <a:r>
              <a:rPr lang="en-GB" dirty="0">
                <a:solidFill>
                  <a:srgbClr val="202124"/>
                </a:solidFill>
              </a:rPr>
              <a:t>It shows </a:t>
            </a:r>
            <a:r>
              <a:rPr lang="en-GB" b="0" i="0" u="none" strike="noStrike" dirty="0">
                <a:solidFill>
                  <a:srgbClr val="202124"/>
                </a:solidFill>
                <a:effectLst/>
              </a:rPr>
              <a:t>the fraction of predictions that the model has made </a:t>
            </a:r>
            <a:r>
              <a:rPr lang="en-GB" dirty="0">
                <a:solidFill>
                  <a:srgbClr val="202124"/>
                </a:solidFill>
              </a:rPr>
              <a:t>correctly. </a:t>
            </a:r>
            <a:endParaRPr lang="en-GB" dirty="0"/>
          </a:p>
        </p:txBody>
      </p:sp>
      <p:sp>
        <p:nvSpPr>
          <p:cNvPr id="4" name="Slide Number Placeholder 3">
            <a:extLst>
              <a:ext uri="{FF2B5EF4-FFF2-40B4-BE49-F238E27FC236}">
                <a16:creationId xmlns:a16="http://schemas.microsoft.com/office/drawing/2014/main" id="{0567D0A2-49EB-5C7B-4E5B-8596274C2BC3}"/>
              </a:ext>
            </a:extLst>
          </p:cNvPr>
          <p:cNvSpPr>
            <a:spLocks noGrp="1"/>
          </p:cNvSpPr>
          <p:nvPr>
            <p:ph type="sldNum" sz="quarter" idx="12"/>
          </p:nvPr>
        </p:nvSpPr>
        <p:spPr/>
        <p:txBody>
          <a:bodyPr/>
          <a:lstStyle/>
          <a:p>
            <a:fld id="{44E22EE9-B8A0-0641-9265-052CFE9B95A7}" type="slidenum">
              <a:rPr lang="en-GB" altLang="en-US" smtClean="0"/>
              <a:pPr/>
              <a:t>40</a:t>
            </a:fld>
            <a:endParaRPr lang="en-GB" alt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3E384D8-6B9C-ED19-31F6-A40774BF3E79}"/>
                  </a:ext>
                </a:extLst>
              </p:cNvPr>
              <p:cNvSpPr txBox="1"/>
              <p:nvPr/>
            </p:nvSpPr>
            <p:spPr>
              <a:xfrm>
                <a:off x="1905448" y="3217358"/>
                <a:ext cx="5329729" cy="9444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𝐴𝑐𝑐𝑢𝑟𝑎𝑐𝑦</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𝑁𝑢𝑚𝑏𝑒𝑟</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a:rPr lang="en-GB" b="0" i="1" smtClean="0">
                              <a:latin typeface="Cambria Math" panose="02040503050406030204" pitchFamily="18" charset="0"/>
                            </a:rPr>
                            <m:t>𝑐𝑜𝑟𝑟𝑒𝑐𝑡</m:t>
                          </m:r>
                          <m:r>
                            <a:rPr lang="en-GB" b="0" i="1" smtClean="0">
                              <a:latin typeface="Cambria Math" panose="02040503050406030204" pitchFamily="18" charset="0"/>
                            </a:rPr>
                            <m:t> </m:t>
                          </m:r>
                          <m:r>
                            <a:rPr lang="en-GB" b="0" i="1" smtClean="0">
                              <a:latin typeface="Cambria Math" panose="02040503050406030204" pitchFamily="18" charset="0"/>
                            </a:rPr>
                            <m:t>𝑝𝑟𝑒𝑑𝑖𝑐𝑡𝑖𝑜𝑛𝑠</m:t>
                          </m:r>
                        </m:num>
                        <m:den>
                          <m:r>
                            <a:rPr lang="en-GB" b="0" i="1" smtClean="0">
                              <a:latin typeface="Cambria Math" panose="02040503050406030204" pitchFamily="18" charset="0"/>
                            </a:rPr>
                            <m:t>𝑇𝑜𝑡𝑎𝑙</m:t>
                          </m:r>
                          <m:r>
                            <a:rPr lang="en-GB" b="0" i="1" smtClean="0">
                              <a:latin typeface="Cambria Math" panose="02040503050406030204" pitchFamily="18" charset="0"/>
                            </a:rPr>
                            <m:t> </m:t>
                          </m:r>
                          <m:r>
                            <a:rPr lang="en-GB" b="0" i="1" smtClean="0">
                              <a:latin typeface="Cambria Math" panose="02040503050406030204" pitchFamily="18" charset="0"/>
                            </a:rPr>
                            <m:t>𝑛𝑢𝑚𝑏𝑒𝑟</m:t>
                          </m:r>
                          <m:r>
                            <a:rPr lang="en-GB" b="0" i="1" smtClean="0">
                              <a:latin typeface="Cambria Math" panose="02040503050406030204" pitchFamily="18" charset="0"/>
                            </a:rPr>
                            <m:t> </m:t>
                          </m:r>
                          <m:r>
                            <a:rPr lang="en-GB" b="0" i="1" smtClean="0">
                              <a:latin typeface="Cambria Math" panose="02040503050406030204" pitchFamily="18" charset="0"/>
                            </a:rPr>
                            <m:t>𝑜𝑓</m:t>
                          </m:r>
                          <m:r>
                            <a:rPr lang="en-GB" b="0" i="1" smtClean="0">
                              <a:latin typeface="Cambria Math" panose="02040503050406030204" pitchFamily="18" charset="0"/>
                            </a:rPr>
                            <m:t> </m:t>
                          </m:r>
                          <m:r>
                            <a:rPr lang="en-GB" b="0" i="1" smtClean="0">
                              <a:latin typeface="Cambria Math" panose="02040503050406030204" pitchFamily="18" charset="0"/>
                            </a:rPr>
                            <m:t>𝑝𝑟𝑒𝑑𝑖𝑐𝑡𝑖𝑜𝑛𝑠</m:t>
                          </m:r>
                        </m:den>
                      </m:f>
                    </m:oMath>
                  </m:oMathPara>
                </a14:m>
                <a:endParaRPr lang="en-GB" dirty="0"/>
              </a:p>
              <a:p>
                <a:endParaRPr lang="en-GB" dirty="0"/>
              </a:p>
            </p:txBody>
          </p:sp>
        </mc:Choice>
        <mc:Fallback xmlns="">
          <p:sp>
            <p:nvSpPr>
              <p:cNvPr id="5" name="TextBox 4">
                <a:extLst>
                  <a:ext uri="{FF2B5EF4-FFF2-40B4-BE49-F238E27FC236}">
                    <a16:creationId xmlns:a16="http://schemas.microsoft.com/office/drawing/2014/main" id="{F3E384D8-6B9C-ED19-31F6-A40774BF3E79}"/>
                  </a:ext>
                </a:extLst>
              </p:cNvPr>
              <p:cNvSpPr txBox="1">
                <a:spLocks noRot="1" noChangeAspect="1" noMove="1" noResize="1" noEditPoints="1" noAdjustHandles="1" noChangeArrowheads="1" noChangeShapeType="1" noTextEdit="1"/>
              </p:cNvSpPr>
              <p:nvPr/>
            </p:nvSpPr>
            <p:spPr>
              <a:xfrm>
                <a:off x="1905448" y="3217358"/>
                <a:ext cx="5329729" cy="944489"/>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C06A6E5E-FDC1-E036-BD2C-275004313BAF}"/>
                  </a:ext>
                </a:extLst>
              </p:cNvPr>
              <p:cNvSpPr txBox="1"/>
              <p:nvPr/>
            </p:nvSpPr>
            <p:spPr>
              <a:xfrm>
                <a:off x="1939232" y="4503144"/>
                <a:ext cx="4010650"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𝐴𝑐𝑐𝑢𝑟𝑎𝑐𝑦</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𝑇𝑁</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𝑇𝑁</m:t>
                          </m:r>
                          <m:r>
                            <a:rPr lang="en-GB" b="0" i="1" smtClean="0">
                              <a:latin typeface="Cambria Math" panose="02040503050406030204" pitchFamily="18" charset="0"/>
                            </a:rPr>
                            <m:t>+</m:t>
                          </m:r>
                          <m:r>
                            <a:rPr lang="en-GB" b="0" i="1" smtClean="0">
                              <a:latin typeface="Cambria Math" panose="02040503050406030204" pitchFamily="18" charset="0"/>
                            </a:rPr>
                            <m:t>𝐹𝑃</m:t>
                          </m:r>
                          <m:r>
                            <a:rPr lang="en-GB" b="0" i="1" smtClean="0">
                              <a:latin typeface="Cambria Math" panose="02040503050406030204" pitchFamily="18" charset="0"/>
                            </a:rPr>
                            <m:t>+</m:t>
                          </m:r>
                          <m:r>
                            <a:rPr lang="en-GB" b="0" i="1" smtClean="0">
                              <a:latin typeface="Cambria Math" panose="02040503050406030204" pitchFamily="18" charset="0"/>
                            </a:rPr>
                            <m:t>𝐹𝑁</m:t>
                          </m:r>
                        </m:den>
                      </m:f>
                    </m:oMath>
                  </m:oMathPara>
                </a14:m>
                <a:endParaRPr lang="en-GB" dirty="0"/>
              </a:p>
              <a:p>
                <a:endParaRPr lang="en-GB" dirty="0"/>
              </a:p>
            </p:txBody>
          </p:sp>
        </mc:Choice>
        <mc:Fallback xmlns="">
          <p:sp>
            <p:nvSpPr>
              <p:cNvPr id="6" name="TextBox 5">
                <a:extLst>
                  <a:ext uri="{FF2B5EF4-FFF2-40B4-BE49-F238E27FC236}">
                    <a16:creationId xmlns:a16="http://schemas.microsoft.com/office/drawing/2014/main" id="{C06A6E5E-FDC1-E036-BD2C-275004313BAF}"/>
                  </a:ext>
                </a:extLst>
              </p:cNvPr>
              <p:cNvSpPr txBox="1">
                <a:spLocks noRot="1" noChangeAspect="1" noMove="1" noResize="1" noEditPoints="1" noAdjustHandles="1" noChangeArrowheads="1" noChangeShapeType="1" noTextEdit="1"/>
              </p:cNvSpPr>
              <p:nvPr/>
            </p:nvSpPr>
            <p:spPr>
              <a:xfrm>
                <a:off x="1939232" y="4503144"/>
                <a:ext cx="4010650" cy="892488"/>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50483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810C5-A003-D8EA-6178-1D28CD9C307D}"/>
              </a:ext>
            </a:extLst>
          </p:cNvPr>
          <p:cNvSpPr>
            <a:spLocks noGrp="1"/>
          </p:cNvSpPr>
          <p:nvPr>
            <p:ph type="title"/>
          </p:nvPr>
        </p:nvSpPr>
        <p:spPr/>
        <p:txBody>
          <a:bodyPr/>
          <a:lstStyle/>
          <a:p>
            <a:r>
              <a:rPr lang="en-GB" dirty="0"/>
              <a:t>Accuracy – how to interpret it</a:t>
            </a:r>
          </a:p>
        </p:txBody>
      </p:sp>
      <p:sp>
        <p:nvSpPr>
          <p:cNvPr id="3" name="Content Placeholder 2">
            <a:extLst>
              <a:ext uri="{FF2B5EF4-FFF2-40B4-BE49-F238E27FC236}">
                <a16:creationId xmlns:a16="http://schemas.microsoft.com/office/drawing/2014/main" id="{8897CDAC-1E81-7FB3-F12D-DA61D8098DD4}"/>
              </a:ext>
            </a:extLst>
          </p:cNvPr>
          <p:cNvSpPr>
            <a:spLocks noGrp="1"/>
          </p:cNvSpPr>
          <p:nvPr>
            <p:ph idx="1"/>
          </p:nvPr>
        </p:nvSpPr>
        <p:spPr/>
        <p:txBody>
          <a:bodyPr/>
          <a:lstStyle/>
          <a:p>
            <a:r>
              <a:rPr lang="en-GB" dirty="0"/>
              <a:t>Accuracy could be a misleading metric without sufficient (other) complementary information. </a:t>
            </a:r>
          </a:p>
          <a:p>
            <a:r>
              <a:rPr lang="en-GB" dirty="0"/>
              <a:t>Imagine we have a model that has </a:t>
            </a:r>
            <a:r>
              <a:rPr lang="en-GB" b="0" i="0" u="none" strike="noStrike" dirty="0">
                <a:solidFill>
                  <a:srgbClr val="202124"/>
                </a:solidFill>
                <a:effectLst/>
              </a:rPr>
              <a:t>classified </a:t>
            </a:r>
            <a:r>
              <a:rPr lang="en-GB" dirty="0">
                <a:solidFill>
                  <a:srgbClr val="202124"/>
                </a:solidFill>
              </a:rPr>
              <a:t>a total of </a:t>
            </a:r>
            <a:r>
              <a:rPr lang="en-GB" b="0" i="0" u="none" strike="noStrike" dirty="0">
                <a:solidFill>
                  <a:srgbClr val="202124"/>
                </a:solidFill>
                <a:effectLst/>
              </a:rPr>
              <a:t>100 tumours as malignant (the positive class) or benign (the negative class). </a:t>
            </a:r>
          </a:p>
          <a:p>
            <a:r>
              <a:rPr lang="en-GB" dirty="0">
                <a:solidFill>
                  <a:srgbClr val="202124"/>
                </a:solidFill>
              </a:rPr>
              <a:t>If someone tells you that the accuracy of the model is 91%, is that good? </a:t>
            </a:r>
            <a:endParaRPr lang="en-GB" dirty="0"/>
          </a:p>
        </p:txBody>
      </p:sp>
      <p:sp>
        <p:nvSpPr>
          <p:cNvPr id="4" name="Slide Number Placeholder 3">
            <a:extLst>
              <a:ext uri="{FF2B5EF4-FFF2-40B4-BE49-F238E27FC236}">
                <a16:creationId xmlns:a16="http://schemas.microsoft.com/office/drawing/2014/main" id="{9934652F-70ED-F7E6-9B80-9AA69D1D72A3}"/>
              </a:ext>
            </a:extLst>
          </p:cNvPr>
          <p:cNvSpPr>
            <a:spLocks noGrp="1"/>
          </p:cNvSpPr>
          <p:nvPr>
            <p:ph type="sldNum" sz="quarter" idx="12"/>
          </p:nvPr>
        </p:nvSpPr>
        <p:spPr/>
        <p:txBody>
          <a:bodyPr/>
          <a:lstStyle/>
          <a:p>
            <a:fld id="{44E22EE9-B8A0-0641-9265-052CFE9B95A7}" type="slidenum">
              <a:rPr lang="en-GB" altLang="en-US" smtClean="0"/>
              <a:pPr/>
              <a:t>41</a:t>
            </a:fld>
            <a:endParaRPr lang="en-GB" altLang="en-US" dirty="0"/>
          </a:p>
        </p:txBody>
      </p:sp>
      <p:sp>
        <p:nvSpPr>
          <p:cNvPr id="6" name="TextBox 5">
            <a:extLst>
              <a:ext uri="{FF2B5EF4-FFF2-40B4-BE49-F238E27FC236}">
                <a16:creationId xmlns:a16="http://schemas.microsoft.com/office/drawing/2014/main" id="{FBF27886-2E0C-AF7D-2946-218F6788436A}"/>
              </a:ext>
            </a:extLst>
          </p:cNvPr>
          <p:cNvSpPr txBox="1"/>
          <p:nvPr/>
        </p:nvSpPr>
        <p:spPr>
          <a:xfrm>
            <a:off x="609600" y="6305392"/>
            <a:ext cx="7431226"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developers.google.com</a:t>
            </a:r>
            <a:r>
              <a:rPr lang="en-GB" sz="1000" dirty="0">
                <a:latin typeface="Gill Sans MT" panose="020B0502020104020203" pitchFamily="34" charset="77"/>
              </a:rPr>
              <a:t>/machine-learning/crash-course/classification/precision-and-recall</a:t>
            </a:r>
          </a:p>
        </p:txBody>
      </p:sp>
    </p:spTree>
    <p:extLst>
      <p:ext uri="{BB962C8B-B14F-4D97-AF65-F5344CB8AC3E}">
        <p14:creationId xmlns:p14="http://schemas.microsoft.com/office/powerpoint/2010/main" val="34207280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D4990-BE31-4555-B500-04030860E294}"/>
              </a:ext>
            </a:extLst>
          </p:cNvPr>
          <p:cNvSpPr>
            <a:spLocks noGrp="1"/>
          </p:cNvSpPr>
          <p:nvPr>
            <p:ph type="title"/>
          </p:nvPr>
        </p:nvSpPr>
        <p:spPr/>
        <p:txBody>
          <a:bodyPr/>
          <a:lstStyle/>
          <a:p>
            <a:r>
              <a:rPr lang="en-GB" dirty="0"/>
              <a:t>Accuracy interpretation example</a:t>
            </a:r>
          </a:p>
        </p:txBody>
      </p:sp>
      <p:sp>
        <p:nvSpPr>
          <p:cNvPr id="3" name="Content Placeholder 2">
            <a:extLst>
              <a:ext uri="{FF2B5EF4-FFF2-40B4-BE49-F238E27FC236}">
                <a16:creationId xmlns:a16="http://schemas.microsoft.com/office/drawing/2014/main" id="{AE4959B8-CB41-92DA-94BB-511654DE8364}"/>
              </a:ext>
            </a:extLst>
          </p:cNvPr>
          <p:cNvSpPr>
            <a:spLocks noGrp="1"/>
          </p:cNvSpPr>
          <p:nvPr>
            <p:ph idx="1"/>
          </p:nvPr>
        </p:nvSpPr>
        <p:spPr/>
        <p:txBody>
          <a:bodyPr/>
          <a:lstStyle/>
          <a:p>
            <a:r>
              <a:rPr lang="en-GB" b="0" i="0" u="none" strike="noStrike" dirty="0">
                <a:solidFill>
                  <a:srgbClr val="202124"/>
                </a:solidFill>
                <a:effectLst/>
              </a:rPr>
              <a:t>Of the 100 tumour examples, 91 are benign (90 TNs and 1 </a:t>
            </a:r>
            <a:r>
              <a:rPr lang="en-GB" dirty="0">
                <a:solidFill>
                  <a:srgbClr val="202124"/>
                </a:solidFill>
              </a:rPr>
              <a:t>FP), </a:t>
            </a:r>
            <a:r>
              <a:rPr lang="en-GB" b="0" i="0" u="none" strike="noStrike" dirty="0">
                <a:solidFill>
                  <a:srgbClr val="202124"/>
                </a:solidFill>
                <a:effectLst/>
              </a:rPr>
              <a:t>and 9 are malignant (1 TP and 8 FNs).</a:t>
            </a:r>
          </a:p>
          <a:p>
            <a:pPr algn="l"/>
            <a:r>
              <a:rPr lang="en-GB" b="0" i="0" u="none" strike="noStrike" dirty="0">
                <a:solidFill>
                  <a:srgbClr val="202124"/>
                </a:solidFill>
                <a:effectLst/>
              </a:rPr>
              <a:t>Of the 91 benign tumours, the model correctly identifies 90 as benign. That's good. </a:t>
            </a:r>
          </a:p>
          <a:p>
            <a:pPr algn="l"/>
            <a:r>
              <a:rPr lang="en-GB" b="0" i="0" u="none" strike="noStrike" dirty="0">
                <a:solidFill>
                  <a:srgbClr val="202124"/>
                </a:solidFill>
                <a:effectLst/>
              </a:rPr>
              <a:t>However, of the 9 malignant tumours, the model only correctly identifies 1 as malignant, not a good outcome, as 8 out of 9 malignancies go undiagnosed!</a:t>
            </a:r>
          </a:p>
          <a:p>
            <a:endParaRPr lang="en-GB" dirty="0"/>
          </a:p>
        </p:txBody>
      </p:sp>
      <p:sp>
        <p:nvSpPr>
          <p:cNvPr id="4" name="Slide Number Placeholder 3">
            <a:extLst>
              <a:ext uri="{FF2B5EF4-FFF2-40B4-BE49-F238E27FC236}">
                <a16:creationId xmlns:a16="http://schemas.microsoft.com/office/drawing/2014/main" id="{B5DEB029-2E12-DAE7-7223-31AFC71BE6C3}"/>
              </a:ext>
            </a:extLst>
          </p:cNvPr>
          <p:cNvSpPr>
            <a:spLocks noGrp="1"/>
          </p:cNvSpPr>
          <p:nvPr>
            <p:ph type="sldNum" sz="quarter" idx="12"/>
          </p:nvPr>
        </p:nvSpPr>
        <p:spPr/>
        <p:txBody>
          <a:bodyPr/>
          <a:lstStyle/>
          <a:p>
            <a:fld id="{44E22EE9-B8A0-0641-9265-052CFE9B95A7}" type="slidenum">
              <a:rPr lang="en-GB" altLang="en-US" smtClean="0"/>
              <a:pPr/>
              <a:t>42</a:t>
            </a:fld>
            <a:endParaRPr lang="en-GB" altLang="en-US" dirty="0"/>
          </a:p>
        </p:txBody>
      </p:sp>
      <p:sp>
        <p:nvSpPr>
          <p:cNvPr id="6" name="TextBox 5">
            <a:extLst>
              <a:ext uri="{FF2B5EF4-FFF2-40B4-BE49-F238E27FC236}">
                <a16:creationId xmlns:a16="http://schemas.microsoft.com/office/drawing/2014/main" id="{D894B87F-3511-08E5-9C6A-866B775C5D16}"/>
              </a:ext>
            </a:extLst>
          </p:cNvPr>
          <p:cNvSpPr txBox="1"/>
          <p:nvPr/>
        </p:nvSpPr>
        <p:spPr>
          <a:xfrm>
            <a:off x="609600" y="6305392"/>
            <a:ext cx="7431226"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developers.google.com</a:t>
            </a:r>
            <a:r>
              <a:rPr lang="en-GB" sz="1000" dirty="0">
                <a:latin typeface="Gill Sans MT" panose="020B0502020104020203" pitchFamily="34" charset="77"/>
              </a:rPr>
              <a:t>/machine-learning/crash-course/classification/precision-and-recall</a:t>
            </a:r>
          </a:p>
        </p:txBody>
      </p:sp>
    </p:spTree>
    <p:extLst>
      <p:ext uri="{BB962C8B-B14F-4D97-AF65-F5344CB8AC3E}">
        <p14:creationId xmlns:p14="http://schemas.microsoft.com/office/powerpoint/2010/main" val="23060939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E32FA-A6C8-3AFF-2E70-FFD37B72E2E6}"/>
              </a:ext>
            </a:extLst>
          </p:cNvPr>
          <p:cNvSpPr>
            <a:spLocks noGrp="1"/>
          </p:cNvSpPr>
          <p:nvPr>
            <p:ph type="title"/>
          </p:nvPr>
        </p:nvSpPr>
        <p:spPr/>
        <p:txBody>
          <a:bodyPr/>
          <a:lstStyle/>
          <a:p>
            <a:r>
              <a:rPr lang="en-GB" dirty="0"/>
              <a:t>F</a:t>
            </a:r>
            <a:r>
              <a:rPr lang="en-GB" baseline="-25000" dirty="0"/>
              <a:t>1</a:t>
            </a:r>
            <a:r>
              <a:rPr lang="en-GB" dirty="0"/>
              <a:t> Score </a:t>
            </a:r>
          </a:p>
        </p:txBody>
      </p:sp>
      <p:sp>
        <p:nvSpPr>
          <p:cNvPr id="3" name="Content Placeholder 2">
            <a:extLst>
              <a:ext uri="{FF2B5EF4-FFF2-40B4-BE49-F238E27FC236}">
                <a16:creationId xmlns:a16="http://schemas.microsoft.com/office/drawing/2014/main" id="{8ED17D19-BE66-5588-852D-96AEFB86F723}"/>
              </a:ext>
            </a:extLst>
          </p:cNvPr>
          <p:cNvSpPr>
            <a:spLocks noGrp="1"/>
          </p:cNvSpPr>
          <p:nvPr>
            <p:ph idx="1"/>
          </p:nvPr>
        </p:nvSpPr>
        <p:spPr/>
        <p:txBody>
          <a:bodyPr/>
          <a:lstStyle/>
          <a:p>
            <a:r>
              <a:rPr lang="en-GB" dirty="0"/>
              <a:t>F</a:t>
            </a:r>
            <a:r>
              <a:rPr lang="en-GB" baseline="-25000" dirty="0"/>
              <a:t>1</a:t>
            </a:r>
            <a:r>
              <a:rPr lang="en-GB" dirty="0"/>
              <a:t> score is the harmonic mean of precision and recall. </a:t>
            </a:r>
          </a:p>
        </p:txBody>
      </p:sp>
      <p:sp>
        <p:nvSpPr>
          <p:cNvPr id="4" name="Slide Number Placeholder 3">
            <a:extLst>
              <a:ext uri="{FF2B5EF4-FFF2-40B4-BE49-F238E27FC236}">
                <a16:creationId xmlns:a16="http://schemas.microsoft.com/office/drawing/2014/main" id="{ADC1E392-E683-ACF0-321A-484158C4B08A}"/>
              </a:ext>
            </a:extLst>
          </p:cNvPr>
          <p:cNvSpPr>
            <a:spLocks noGrp="1"/>
          </p:cNvSpPr>
          <p:nvPr>
            <p:ph type="sldNum" sz="quarter" idx="12"/>
          </p:nvPr>
        </p:nvSpPr>
        <p:spPr/>
        <p:txBody>
          <a:bodyPr/>
          <a:lstStyle/>
          <a:p>
            <a:fld id="{44E22EE9-B8A0-0641-9265-052CFE9B95A7}" type="slidenum">
              <a:rPr lang="en-GB" altLang="en-US" smtClean="0"/>
              <a:pPr/>
              <a:t>43</a:t>
            </a:fld>
            <a:endParaRPr lang="en-GB" alt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E9AB632-200D-88AC-5B5B-5BD512705DDD}"/>
                  </a:ext>
                </a:extLst>
              </p:cNvPr>
              <p:cNvSpPr txBox="1"/>
              <p:nvPr/>
            </p:nvSpPr>
            <p:spPr>
              <a:xfrm>
                <a:off x="1429882" y="2478495"/>
                <a:ext cx="3698448" cy="89986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r>
                        <a:rPr lang="en-GB" b="0" i="1" baseline="-25000" smtClean="0">
                          <a:latin typeface="Cambria Math" panose="02040503050406030204" pitchFamily="18" charset="0"/>
                        </a:rPr>
                        <m:t>1</m:t>
                      </m:r>
                      <m:r>
                        <a:rPr lang="en-GB" b="0" i="1" smtClean="0">
                          <a:latin typeface="Cambria Math" panose="02040503050406030204" pitchFamily="18" charset="0"/>
                        </a:rPr>
                        <m:t>=2 </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𝑃𝑟𝑒𝑐𝑖𝑠𝑖𝑜𝑛</m:t>
                          </m:r>
                          <m:r>
                            <a:rPr lang="en-GB" b="0" i="1" smtClean="0">
                              <a:latin typeface="Cambria Math" panose="02040503050406030204" pitchFamily="18" charset="0"/>
                            </a:rPr>
                            <m:t> × </m:t>
                          </m:r>
                          <m:r>
                            <a:rPr lang="en-GB" b="0" i="1" smtClean="0">
                              <a:latin typeface="Cambria Math" panose="02040503050406030204" pitchFamily="18" charset="0"/>
                            </a:rPr>
                            <m:t>𝑅𝑒𝑐𝑎𝑙𝑙</m:t>
                          </m:r>
                        </m:num>
                        <m:den>
                          <m:r>
                            <a:rPr lang="en-GB" b="0" i="1" smtClean="0">
                              <a:latin typeface="Cambria Math" panose="02040503050406030204" pitchFamily="18" charset="0"/>
                            </a:rPr>
                            <m:t>𝑃𝑟𝑒𝑐𝑖𝑠𝑖𝑜𝑛</m:t>
                          </m:r>
                          <m:r>
                            <a:rPr lang="en-GB" b="0" i="1" smtClean="0">
                              <a:latin typeface="Cambria Math" panose="02040503050406030204" pitchFamily="18" charset="0"/>
                            </a:rPr>
                            <m:t> +</m:t>
                          </m:r>
                          <m:r>
                            <a:rPr lang="en-GB" b="0" i="1" smtClean="0">
                              <a:latin typeface="Cambria Math" panose="02040503050406030204" pitchFamily="18" charset="0"/>
                            </a:rPr>
                            <m:t>𝑅𝑒𝑐𝑎𝑙𝑙</m:t>
                          </m:r>
                        </m:den>
                      </m:f>
                    </m:oMath>
                  </m:oMathPara>
                </a14:m>
                <a:endParaRPr lang="en-GB" dirty="0"/>
              </a:p>
              <a:p>
                <a:endParaRPr lang="en-GB" dirty="0"/>
              </a:p>
            </p:txBody>
          </p:sp>
        </mc:Choice>
        <mc:Fallback xmlns="">
          <p:sp>
            <p:nvSpPr>
              <p:cNvPr id="5" name="TextBox 4">
                <a:extLst>
                  <a:ext uri="{FF2B5EF4-FFF2-40B4-BE49-F238E27FC236}">
                    <a16:creationId xmlns:a16="http://schemas.microsoft.com/office/drawing/2014/main" id="{AE9AB632-200D-88AC-5B5B-5BD512705DDD}"/>
                  </a:ext>
                </a:extLst>
              </p:cNvPr>
              <p:cNvSpPr txBox="1">
                <a:spLocks noRot="1" noChangeAspect="1" noMove="1" noResize="1" noEditPoints="1" noAdjustHandles="1" noChangeArrowheads="1" noChangeShapeType="1" noTextEdit="1"/>
              </p:cNvSpPr>
              <p:nvPr/>
            </p:nvSpPr>
            <p:spPr>
              <a:xfrm>
                <a:off x="1429882" y="2478495"/>
                <a:ext cx="3698448" cy="899862"/>
              </a:xfrm>
              <a:prstGeom prst="rect">
                <a:avLst/>
              </a:prstGeom>
              <a:blipFill>
                <a:blip r:embed="rId2"/>
                <a:stretch>
                  <a:fillRect/>
                </a:stretch>
              </a:blipFill>
            </p:spPr>
            <p:txBody>
              <a:bodyPr/>
              <a:lstStyle/>
              <a:p>
                <a:r>
                  <a:rPr lang="en-GB">
                    <a:noFill/>
                  </a:rPr>
                  <a:t> </a:t>
                </a:r>
              </a:p>
            </p:txBody>
          </p:sp>
        </mc:Fallback>
      </mc:AlternateContent>
      <p:graphicFrame>
        <p:nvGraphicFramePr>
          <p:cNvPr id="6" name="Table 6">
            <a:extLst>
              <a:ext uri="{FF2B5EF4-FFF2-40B4-BE49-F238E27FC236}">
                <a16:creationId xmlns:a16="http://schemas.microsoft.com/office/drawing/2014/main" id="{1837C5B5-BA91-4385-286B-C3B10312DB29}"/>
              </a:ext>
            </a:extLst>
          </p:cNvPr>
          <p:cNvGraphicFramePr>
            <a:graphicFrameLocks noGrp="1"/>
          </p:cNvGraphicFramePr>
          <p:nvPr>
            <p:extLst>
              <p:ext uri="{D42A27DB-BD31-4B8C-83A1-F6EECF244321}">
                <p14:modId xmlns:p14="http://schemas.microsoft.com/office/powerpoint/2010/main" val="911988028"/>
              </p:ext>
            </p:extLst>
          </p:nvPr>
        </p:nvGraphicFramePr>
        <p:xfrm>
          <a:off x="5840111" y="4759561"/>
          <a:ext cx="5443804" cy="890016"/>
        </p:xfrm>
        <a:graphic>
          <a:graphicData uri="http://schemas.openxmlformats.org/drawingml/2006/table">
            <a:tbl>
              <a:tblPr bandRow="1">
                <a:tableStyleId>{5C22544A-7EE6-4342-B048-85BDC9FD1C3A}</a:tableStyleId>
              </a:tblPr>
              <a:tblGrid>
                <a:gridCol w="2505878">
                  <a:extLst>
                    <a:ext uri="{9D8B030D-6E8A-4147-A177-3AD203B41FA5}">
                      <a16:colId xmlns:a16="http://schemas.microsoft.com/office/drawing/2014/main" val="2294070008"/>
                    </a:ext>
                  </a:extLst>
                </a:gridCol>
                <a:gridCol w="2937926">
                  <a:extLst>
                    <a:ext uri="{9D8B030D-6E8A-4147-A177-3AD203B41FA5}">
                      <a16:colId xmlns:a16="http://schemas.microsoft.com/office/drawing/2014/main" val="1268478978"/>
                    </a:ext>
                  </a:extLst>
                </a:gridCol>
              </a:tblGrid>
              <a:tr h="445008">
                <a:tc>
                  <a:txBody>
                    <a:bodyPr/>
                    <a:lstStyle/>
                    <a:p>
                      <a:r>
                        <a:rPr lang="en-GB" sz="1900" b="0" dirty="0">
                          <a:solidFill>
                            <a:schemeClr val="tx1"/>
                          </a:solidFill>
                          <a:latin typeface="Gill Sans MT" panose="020B0502020104020203" pitchFamily="34" charset="77"/>
                        </a:rPr>
                        <a:t>True Positives: 25</a:t>
                      </a:r>
                    </a:p>
                  </a:txBody>
                  <a:tcPr marL="109728" marR="109728" marT="54864" marB="54864">
                    <a:solidFill>
                      <a:srgbClr val="92D050"/>
                    </a:solidFill>
                  </a:tcPr>
                </a:tc>
                <a:tc>
                  <a:txBody>
                    <a:bodyPr/>
                    <a:lstStyle/>
                    <a:p>
                      <a:r>
                        <a:rPr lang="en-GB" sz="1900" b="0" dirty="0">
                          <a:solidFill>
                            <a:schemeClr val="tx1"/>
                          </a:solidFill>
                          <a:latin typeface="Gill Sans MT" panose="020B0502020104020203" pitchFamily="34" charset="77"/>
                        </a:rPr>
                        <a:t>False Positives: 10</a:t>
                      </a:r>
                    </a:p>
                  </a:txBody>
                  <a:tcPr marL="109728" marR="109728" marT="54864" marB="54864">
                    <a:solidFill>
                      <a:srgbClr val="FF0000">
                        <a:alpha val="70000"/>
                      </a:srgbClr>
                    </a:solidFill>
                  </a:tcPr>
                </a:tc>
                <a:extLst>
                  <a:ext uri="{0D108BD9-81ED-4DB2-BD59-A6C34878D82A}">
                    <a16:rowId xmlns:a16="http://schemas.microsoft.com/office/drawing/2014/main" val="2313162053"/>
                  </a:ext>
                </a:extLst>
              </a:tr>
              <a:tr h="445008">
                <a:tc>
                  <a:txBody>
                    <a:bodyPr/>
                    <a:lstStyle/>
                    <a:p>
                      <a:r>
                        <a:rPr lang="en-GB" sz="1900" b="0" dirty="0">
                          <a:solidFill>
                            <a:schemeClr val="tx1"/>
                          </a:solidFill>
                          <a:latin typeface="Gill Sans MT" panose="020B0502020104020203" pitchFamily="34" charset="77"/>
                        </a:rPr>
                        <a:t>False Negatives: 15</a:t>
                      </a:r>
                    </a:p>
                  </a:txBody>
                  <a:tcPr marL="109728" marR="109728" marT="54864" marB="54864">
                    <a:solidFill>
                      <a:srgbClr val="FF0000">
                        <a:alpha val="70000"/>
                      </a:srgbClr>
                    </a:solidFill>
                  </a:tcPr>
                </a:tc>
                <a:tc>
                  <a:txBody>
                    <a:bodyPr/>
                    <a:lstStyle/>
                    <a:p>
                      <a:r>
                        <a:rPr lang="en-GB" sz="1900" b="0" dirty="0">
                          <a:solidFill>
                            <a:schemeClr val="tx1"/>
                          </a:solidFill>
                          <a:latin typeface="Gill Sans MT" panose="020B0502020104020203" pitchFamily="34" charset="77"/>
                        </a:rPr>
                        <a:t>True Negatives: 80</a:t>
                      </a:r>
                    </a:p>
                  </a:txBody>
                  <a:tcPr marL="109728" marR="109728" marT="54864" marB="54864">
                    <a:solidFill>
                      <a:srgbClr val="92D050"/>
                    </a:solidFill>
                  </a:tcPr>
                </a:tc>
                <a:extLst>
                  <a:ext uri="{0D108BD9-81ED-4DB2-BD59-A6C34878D82A}">
                    <a16:rowId xmlns:a16="http://schemas.microsoft.com/office/drawing/2014/main" val="3599403228"/>
                  </a:ext>
                </a:extLst>
              </a:tr>
            </a:tbl>
          </a:graphicData>
        </a:graphic>
      </p:graphicFrame>
      <p:sp>
        <p:nvSpPr>
          <p:cNvPr id="7" name="TextBox 6">
            <a:extLst>
              <a:ext uri="{FF2B5EF4-FFF2-40B4-BE49-F238E27FC236}">
                <a16:creationId xmlns:a16="http://schemas.microsoft.com/office/drawing/2014/main" id="{9DFC5B8C-8397-D872-3845-210C99AEC408}"/>
              </a:ext>
            </a:extLst>
          </p:cNvPr>
          <p:cNvSpPr txBox="1"/>
          <p:nvPr/>
        </p:nvSpPr>
        <p:spPr>
          <a:xfrm>
            <a:off x="5840112" y="4228586"/>
            <a:ext cx="3325847" cy="387798"/>
          </a:xfrm>
          <a:prstGeom prst="rect">
            <a:avLst/>
          </a:prstGeom>
          <a:noFill/>
        </p:spPr>
        <p:txBody>
          <a:bodyPr wrap="none" rtlCol="0">
            <a:spAutoFit/>
          </a:bodyPr>
          <a:lstStyle/>
          <a:p>
            <a:r>
              <a:rPr lang="en-GB" sz="1920" dirty="0">
                <a:latin typeface="Gill Sans MT" panose="020B0502020104020203" pitchFamily="34" charset="77"/>
              </a:rPr>
              <a:t>Example: Calculate the F</a:t>
            </a:r>
            <a:r>
              <a:rPr lang="en-GB" sz="1920" baseline="-25000" dirty="0">
                <a:latin typeface="Gill Sans MT" panose="020B0502020104020203" pitchFamily="34" charset="77"/>
              </a:rPr>
              <a:t>1</a:t>
            </a:r>
            <a:r>
              <a:rPr lang="en-GB" sz="1920" dirty="0">
                <a:latin typeface="Gill Sans MT" panose="020B0502020104020203" pitchFamily="34" charset="77"/>
              </a:rPr>
              <a:t> score</a:t>
            </a:r>
          </a:p>
        </p:txBody>
      </p:sp>
    </p:spTree>
    <p:extLst>
      <p:ext uri="{BB962C8B-B14F-4D97-AF65-F5344CB8AC3E}">
        <p14:creationId xmlns:p14="http://schemas.microsoft.com/office/powerpoint/2010/main" val="7330980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AA844-A209-DCF7-DC41-0E0C5CDC0645}"/>
              </a:ext>
            </a:extLst>
          </p:cNvPr>
          <p:cNvSpPr>
            <a:spLocks noGrp="1"/>
          </p:cNvSpPr>
          <p:nvPr>
            <p:ph type="title"/>
          </p:nvPr>
        </p:nvSpPr>
        <p:spPr/>
        <p:txBody>
          <a:bodyPr/>
          <a:lstStyle/>
          <a:p>
            <a:r>
              <a:rPr lang="en-GB" dirty="0"/>
              <a:t>ROC curve (receiver operating characteristic curve)</a:t>
            </a:r>
          </a:p>
        </p:txBody>
      </p:sp>
      <p:sp>
        <p:nvSpPr>
          <p:cNvPr id="3" name="Content Placeholder 2">
            <a:extLst>
              <a:ext uri="{FF2B5EF4-FFF2-40B4-BE49-F238E27FC236}">
                <a16:creationId xmlns:a16="http://schemas.microsoft.com/office/drawing/2014/main" id="{8BB57C40-8B30-9E38-C778-FDC22C097412}"/>
              </a:ext>
            </a:extLst>
          </p:cNvPr>
          <p:cNvSpPr>
            <a:spLocks noGrp="1"/>
          </p:cNvSpPr>
          <p:nvPr>
            <p:ph idx="1"/>
          </p:nvPr>
        </p:nvSpPr>
        <p:spPr/>
        <p:txBody>
          <a:bodyPr/>
          <a:lstStyle/>
          <a:p>
            <a:r>
              <a:rPr lang="en-GB" i="0" u="none" strike="noStrike" dirty="0">
                <a:solidFill>
                  <a:srgbClr val="202124"/>
                </a:solidFill>
                <a:effectLst/>
              </a:rPr>
              <a:t>A ROC curve (receiver operating characteristic curve) is a graph showing the performance of a classification model at all classification thresholds. This curve plots two parameters:</a:t>
            </a:r>
          </a:p>
          <a:p>
            <a:pPr lvl="1"/>
            <a:r>
              <a:rPr lang="en-GB" sz="2400" dirty="0">
                <a:solidFill>
                  <a:srgbClr val="202124"/>
                </a:solidFill>
              </a:rPr>
              <a:t>True Positive Rate (TPR)</a:t>
            </a:r>
          </a:p>
          <a:p>
            <a:pPr lvl="1"/>
            <a:r>
              <a:rPr lang="en-GB" sz="2400" dirty="0">
                <a:solidFill>
                  <a:srgbClr val="202124"/>
                </a:solidFill>
              </a:rPr>
              <a:t>False Positive Rate (FPR)</a:t>
            </a:r>
          </a:p>
          <a:p>
            <a:endParaRPr lang="en-GB" dirty="0"/>
          </a:p>
        </p:txBody>
      </p:sp>
      <p:sp>
        <p:nvSpPr>
          <p:cNvPr id="4" name="Slide Number Placeholder 3">
            <a:extLst>
              <a:ext uri="{FF2B5EF4-FFF2-40B4-BE49-F238E27FC236}">
                <a16:creationId xmlns:a16="http://schemas.microsoft.com/office/drawing/2014/main" id="{6509E0CC-7497-A4EB-9630-9AC0D02BCB6A}"/>
              </a:ext>
            </a:extLst>
          </p:cNvPr>
          <p:cNvSpPr>
            <a:spLocks noGrp="1"/>
          </p:cNvSpPr>
          <p:nvPr>
            <p:ph type="sldNum" sz="quarter" idx="12"/>
          </p:nvPr>
        </p:nvSpPr>
        <p:spPr/>
        <p:txBody>
          <a:bodyPr/>
          <a:lstStyle/>
          <a:p>
            <a:fld id="{44E22EE9-B8A0-0641-9265-052CFE9B95A7}" type="slidenum">
              <a:rPr lang="en-GB" altLang="en-US" smtClean="0"/>
              <a:pPr/>
              <a:t>44</a:t>
            </a:fld>
            <a:endParaRPr lang="en-GB" altLang="en-US"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3E008E9-CD95-4AF7-FF54-9F3AABA83BD1}"/>
                  </a:ext>
                </a:extLst>
              </p:cNvPr>
              <p:cNvSpPr txBox="1"/>
              <p:nvPr/>
            </p:nvSpPr>
            <p:spPr>
              <a:xfrm>
                <a:off x="1689111" y="3947457"/>
                <a:ext cx="2178994"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𝑇𝑃𝑅</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𝐹𝑁</m:t>
                          </m:r>
                        </m:den>
                      </m:f>
                    </m:oMath>
                  </m:oMathPara>
                </a14:m>
                <a:endParaRPr lang="en-GB" dirty="0"/>
              </a:p>
              <a:p>
                <a:endParaRPr lang="en-GB" dirty="0"/>
              </a:p>
            </p:txBody>
          </p:sp>
        </mc:Choice>
        <mc:Fallback xmlns="">
          <p:sp>
            <p:nvSpPr>
              <p:cNvPr id="7" name="TextBox 6">
                <a:extLst>
                  <a:ext uri="{FF2B5EF4-FFF2-40B4-BE49-F238E27FC236}">
                    <a16:creationId xmlns:a16="http://schemas.microsoft.com/office/drawing/2014/main" id="{73E008E9-CD95-4AF7-FF54-9F3AABA83BD1}"/>
                  </a:ext>
                </a:extLst>
              </p:cNvPr>
              <p:cNvSpPr txBox="1">
                <a:spLocks noRot="1" noChangeAspect="1" noMove="1" noResize="1" noEditPoints="1" noAdjustHandles="1" noChangeArrowheads="1" noChangeShapeType="1" noTextEdit="1"/>
              </p:cNvSpPr>
              <p:nvPr/>
            </p:nvSpPr>
            <p:spPr>
              <a:xfrm>
                <a:off x="1689111" y="3947457"/>
                <a:ext cx="2178994" cy="892488"/>
              </a:xfrm>
              <a:prstGeom prst="rect">
                <a:avLst/>
              </a:prstGeom>
              <a:blipFill>
                <a:blip r:embed="rId2"/>
                <a:stretch>
                  <a:fillRect/>
                </a:stretch>
              </a:blipFill>
            </p:spPr>
            <p:txBody>
              <a:bodyPr/>
              <a:lstStyle/>
              <a:p>
                <a:r>
                  <a:rPr lang="en-GB">
                    <a:noFill/>
                  </a:rPr>
                  <a:t> </a:t>
                </a:r>
              </a:p>
            </p:txBody>
          </p:sp>
        </mc:Fallback>
      </mc:AlternateContent>
      <p:sp>
        <p:nvSpPr>
          <p:cNvPr id="9" name="Rectangular Callout 8">
            <a:extLst>
              <a:ext uri="{FF2B5EF4-FFF2-40B4-BE49-F238E27FC236}">
                <a16:creationId xmlns:a16="http://schemas.microsoft.com/office/drawing/2014/main" id="{F925A92A-9F38-BF11-4B04-120FDF7A2213}"/>
              </a:ext>
            </a:extLst>
          </p:cNvPr>
          <p:cNvSpPr/>
          <p:nvPr/>
        </p:nvSpPr>
        <p:spPr>
          <a:xfrm>
            <a:off x="5404723" y="3601819"/>
            <a:ext cx="1468964" cy="570180"/>
          </a:xfrm>
          <a:prstGeom prst="wedgeRectCallout">
            <a:avLst>
              <a:gd name="adj1" fmla="val -134452"/>
              <a:gd name="adj2" fmla="val 72771"/>
            </a:avLst>
          </a:prstGeom>
          <a:solidFill>
            <a:schemeClr val="bg1">
              <a:lumMod val="85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40" dirty="0">
                <a:solidFill>
                  <a:schemeClr val="tx1"/>
                </a:solidFill>
                <a:latin typeface="Gill Sans MT" panose="020B0502020104020203" pitchFamily="34" charset="77"/>
              </a:rPr>
              <a:t>Does this look familiar?</a:t>
            </a:r>
          </a:p>
        </p:txBody>
      </p:sp>
      <p:sp>
        <p:nvSpPr>
          <p:cNvPr id="5" name="TextBox 4">
            <a:extLst>
              <a:ext uri="{FF2B5EF4-FFF2-40B4-BE49-F238E27FC236}">
                <a16:creationId xmlns:a16="http://schemas.microsoft.com/office/drawing/2014/main" id="{027761C0-CDEA-692E-CFD8-9580504F6DC4}"/>
              </a:ext>
            </a:extLst>
          </p:cNvPr>
          <p:cNvSpPr txBox="1"/>
          <p:nvPr/>
        </p:nvSpPr>
        <p:spPr>
          <a:xfrm>
            <a:off x="609600" y="6305392"/>
            <a:ext cx="7431226"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developers.google.com</a:t>
            </a:r>
            <a:r>
              <a:rPr lang="en-GB" sz="1000" dirty="0">
                <a:latin typeface="Gill Sans MT" panose="020B0502020104020203" pitchFamily="34" charset="77"/>
              </a:rPr>
              <a:t>/machine-learning/crash-course/classification/precision-and-recall</a:t>
            </a:r>
          </a:p>
        </p:txBody>
      </p:sp>
    </p:spTree>
    <p:extLst>
      <p:ext uri="{BB962C8B-B14F-4D97-AF65-F5344CB8AC3E}">
        <p14:creationId xmlns:p14="http://schemas.microsoft.com/office/powerpoint/2010/main" val="170490700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7ACD9-AC37-703E-9057-38B742D4BDFE}"/>
              </a:ext>
            </a:extLst>
          </p:cNvPr>
          <p:cNvSpPr>
            <a:spLocks noGrp="1"/>
          </p:cNvSpPr>
          <p:nvPr>
            <p:ph type="title"/>
          </p:nvPr>
        </p:nvSpPr>
        <p:spPr/>
        <p:txBody>
          <a:bodyPr/>
          <a:lstStyle/>
          <a:p>
            <a:r>
              <a:rPr lang="en-GB" dirty="0"/>
              <a:t>ROC curve</a:t>
            </a:r>
          </a:p>
        </p:txBody>
      </p:sp>
      <p:sp>
        <p:nvSpPr>
          <p:cNvPr id="3" name="Content Placeholder 2">
            <a:extLst>
              <a:ext uri="{FF2B5EF4-FFF2-40B4-BE49-F238E27FC236}">
                <a16:creationId xmlns:a16="http://schemas.microsoft.com/office/drawing/2014/main" id="{FB1F83D0-426A-755F-C54F-B6D4D99F4748}"/>
              </a:ext>
            </a:extLst>
          </p:cNvPr>
          <p:cNvSpPr>
            <a:spLocks noGrp="1"/>
          </p:cNvSpPr>
          <p:nvPr>
            <p:ph idx="1"/>
          </p:nvPr>
        </p:nvSpPr>
        <p:spPr/>
        <p:txBody>
          <a:bodyPr/>
          <a:lstStyle/>
          <a:p>
            <a:r>
              <a:rPr lang="en-GB" b="0" i="0" u="none" strike="noStrike" dirty="0">
                <a:solidFill>
                  <a:srgbClr val="202124"/>
                </a:solidFill>
                <a:effectLst/>
              </a:rPr>
              <a:t>A ROC curve plots TPR vs. FPR at different classification thresholds. Lowering the classification threshold classifies more items as positive, thus increasing both False Positives and True Positives.</a:t>
            </a:r>
            <a:endParaRPr lang="en-GB" dirty="0"/>
          </a:p>
        </p:txBody>
      </p:sp>
      <p:sp>
        <p:nvSpPr>
          <p:cNvPr id="4" name="Slide Number Placeholder 3">
            <a:extLst>
              <a:ext uri="{FF2B5EF4-FFF2-40B4-BE49-F238E27FC236}">
                <a16:creationId xmlns:a16="http://schemas.microsoft.com/office/drawing/2014/main" id="{512F29BD-0A48-876D-7782-2446A92B8774}"/>
              </a:ext>
            </a:extLst>
          </p:cNvPr>
          <p:cNvSpPr>
            <a:spLocks noGrp="1"/>
          </p:cNvSpPr>
          <p:nvPr>
            <p:ph type="sldNum" sz="quarter" idx="12"/>
          </p:nvPr>
        </p:nvSpPr>
        <p:spPr/>
        <p:txBody>
          <a:bodyPr/>
          <a:lstStyle/>
          <a:p>
            <a:fld id="{44E22EE9-B8A0-0641-9265-052CFE9B95A7}" type="slidenum">
              <a:rPr lang="en-GB" altLang="en-US" smtClean="0"/>
              <a:pPr/>
              <a:t>45</a:t>
            </a:fld>
            <a:endParaRPr lang="en-GB" altLang="en-US" dirty="0"/>
          </a:p>
        </p:txBody>
      </p:sp>
      <p:pic>
        <p:nvPicPr>
          <p:cNvPr id="8" name="Picture 7" descr="Diagram&#10;&#10;Description automatically generated">
            <a:extLst>
              <a:ext uri="{FF2B5EF4-FFF2-40B4-BE49-F238E27FC236}">
                <a16:creationId xmlns:a16="http://schemas.microsoft.com/office/drawing/2014/main" id="{74DBB27D-9978-F092-6A2E-51111948B3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5255" y="2671934"/>
            <a:ext cx="5030390" cy="3565354"/>
          </a:xfrm>
          <a:prstGeom prst="rect">
            <a:avLst/>
          </a:prstGeom>
        </p:spPr>
      </p:pic>
      <p:sp>
        <p:nvSpPr>
          <p:cNvPr id="5" name="TextBox 4">
            <a:extLst>
              <a:ext uri="{FF2B5EF4-FFF2-40B4-BE49-F238E27FC236}">
                <a16:creationId xmlns:a16="http://schemas.microsoft.com/office/drawing/2014/main" id="{F5FECF2B-D43D-CAD7-86FE-005ADAE739A4}"/>
              </a:ext>
            </a:extLst>
          </p:cNvPr>
          <p:cNvSpPr txBox="1"/>
          <p:nvPr/>
        </p:nvSpPr>
        <p:spPr>
          <a:xfrm>
            <a:off x="609600" y="6305392"/>
            <a:ext cx="7431226"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developers.google.com</a:t>
            </a:r>
            <a:r>
              <a:rPr lang="en-GB" sz="1000" dirty="0">
                <a:latin typeface="Gill Sans MT" panose="020B0502020104020203" pitchFamily="34" charset="77"/>
              </a:rPr>
              <a:t>/machine-learning/crash-course/classification/precision-and-recall</a:t>
            </a:r>
          </a:p>
        </p:txBody>
      </p:sp>
    </p:spTree>
    <p:extLst>
      <p:ext uri="{BB962C8B-B14F-4D97-AF65-F5344CB8AC3E}">
        <p14:creationId xmlns:p14="http://schemas.microsoft.com/office/powerpoint/2010/main" val="14067959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4AEB39-E865-B474-88F3-20B1763FE7F9}"/>
              </a:ext>
            </a:extLst>
          </p:cNvPr>
          <p:cNvSpPr>
            <a:spLocks noGrp="1"/>
          </p:cNvSpPr>
          <p:nvPr>
            <p:ph type="title"/>
          </p:nvPr>
        </p:nvSpPr>
        <p:spPr/>
        <p:txBody>
          <a:bodyPr/>
          <a:lstStyle/>
          <a:p>
            <a:r>
              <a:rPr lang="en-GB" dirty="0"/>
              <a:t>AUC: Area Under the ROC Curve</a:t>
            </a:r>
          </a:p>
        </p:txBody>
      </p:sp>
      <p:sp>
        <p:nvSpPr>
          <p:cNvPr id="3" name="Content Placeholder 2">
            <a:extLst>
              <a:ext uri="{FF2B5EF4-FFF2-40B4-BE49-F238E27FC236}">
                <a16:creationId xmlns:a16="http://schemas.microsoft.com/office/drawing/2014/main" id="{F941AFDE-66A4-A53C-70F6-2CFA0E0DEB71}"/>
              </a:ext>
            </a:extLst>
          </p:cNvPr>
          <p:cNvSpPr>
            <a:spLocks noGrp="1"/>
          </p:cNvSpPr>
          <p:nvPr>
            <p:ph idx="1"/>
          </p:nvPr>
        </p:nvSpPr>
        <p:spPr/>
        <p:txBody>
          <a:bodyPr wrap="square" anchor="t">
            <a:normAutofit/>
          </a:bodyPr>
          <a:lstStyle/>
          <a:p>
            <a:r>
              <a:rPr lang="en-GB" sz="2400" dirty="0"/>
              <a:t>AUC stands for "Area under the Curve." </a:t>
            </a:r>
          </a:p>
          <a:p>
            <a:r>
              <a:rPr lang="en-GB" dirty="0"/>
              <a:t>In this case, </a:t>
            </a:r>
            <a:r>
              <a:rPr lang="en-GB" sz="2400" dirty="0"/>
              <a:t>AUC measures the entire two-dimensional area underneath the entire ROC curve.</a:t>
            </a:r>
          </a:p>
          <a:p>
            <a:r>
              <a:rPr lang="en-GB" sz="2400" dirty="0"/>
              <a:t>AUC provides an aggregate measure of performance across all possible classification thresholds. </a:t>
            </a:r>
          </a:p>
          <a:p>
            <a:endParaRPr lang="en-GB" dirty="0"/>
          </a:p>
          <a:p>
            <a:endParaRPr lang="en-GB" dirty="0"/>
          </a:p>
          <a:p>
            <a:endParaRPr lang="en-GB" dirty="0"/>
          </a:p>
          <a:p>
            <a:endParaRPr lang="en-GB" dirty="0"/>
          </a:p>
          <a:p>
            <a:r>
              <a:rPr lang="en-GB" dirty="0"/>
              <a:t>Please note that there is also an </a:t>
            </a:r>
            <a:r>
              <a:rPr lang="en-GB" b="0" i="0" u="none" strike="noStrike" dirty="0">
                <a:solidFill>
                  <a:srgbClr val="000000"/>
                </a:solidFill>
                <a:effectLst/>
                <a:latin typeface="-webkit-standard"/>
              </a:rPr>
              <a:t>AUC for Precision-Recall Curve</a:t>
            </a:r>
            <a:endParaRPr lang="en-GB" sz="2400" dirty="0"/>
          </a:p>
        </p:txBody>
      </p:sp>
      <p:sp>
        <p:nvSpPr>
          <p:cNvPr id="4" name="Slide Number Placeholder 3">
            <a:extLst>
              <a:ext uri="{FF2B5EF4-FFF2-40B4-BE49-F238E27FC236}">
                <a16:creationId xmlns:a16="http://schemas.microsoft.com/office/drawing/2014/main" id="{0882299B-84B5-3D50-C739-31CEF1C9FA0C}"/>
              </a:ext>
            </a:extLst>
          </p:cNvPr>
          <p:cNvSpPr>
            <a:spLocks noGrp="1"/>
          </p:cNvSpPr>
          <p:nvPr>
            <p:ph type="sldNum" sz="quarter" idx="12"/>
          </p:nvPr>
        </p:nvSpPr>
        <p:spPr/>
        <p:txBody>
          <a:bodyPr wrap="square" anchor="t">
            <a:normAutofit/>
          </a:bodyPr>
          <a:lstStyle/>
          <a:p>
            <a:pPr>
              <a:spcAft>
                <a:spcPts val="720"/>
              </a:spcAft>
            </a:pPr>
            <a:fld id="{44E22EE9-B8A0-0641-9265-052CFE9B95A7}" type="slidenum">
              <a:rPr lang="en-GB" altLang="en-US" smtClean="0"/>
              <a:pPr>
                <a:spcAft>
                  <a:spcPts val="720"/>
                </a:spcAft>
              </a:pPr>
              <a:t>46</a:t>
            </a:fld>
            <a:endParaRPr lang="en-GB" altLang="en-US"/>
          </a:p>
        </p:txBody>
      </p:sp>
      <p:pic>
        <p:nvPicPr>
          <p:cNvPr id="6" name="Picture 5" descr="Chart, shape&#10;&#10;Description automatically generated with medium confidence">
            <a:extLst>
              <a:ext uri="{FF2B5EF4-FFF2-40B4-BE49-F238E27FC236}">
                <a16:creationId xmlns:a16="http://schemas.microsoft.com/office/drawing/2014/main" id="{62DBF8A2-D908-AA2B-7CDC-0F1386B0EE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7968" y="3284984"/>
            <a:ext cx="2749069" cy="2213000"/>
          </a:xfrm>
          <a:prstGeom prst="rect">
            <a:avLst/>
          </a:prstGeom>
          <a:noFill/>
        </p:spPr>
      </p:pic>
      <p:sp>
        <p:nvSpPr>
          <p:cNvPr id="10" name="TextBox 9">
            <a:extLst>
              <a:ext uri="{FF2B5EF4-FFF2-40B4-BE49-F238E27FC236}">
                <a16:creationId xmlns:a16="http://schemas.microsoft.com/office/drawing/2014/main" id="{EB0E35AB-740A-4799-8275-4A5F24C4CB82}"/>
              </a:ext>
            </a:extLst>
          </p:cNvPr>
          <p:cNvSpPr txBox="1"/>
          <p:nvPr/>
        </p:nvSpPr>
        <p:spPr>
          <a:xfrm>
            <a:off x="609600" y="6305392"/>
            <a:ext cx="7431226"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developers.google.com</a:t>
            </a:r>
            <a:r>
              <a:rPr lang="en-GB" sz="1000" dirty="0">
                <a:latin typeface="Gill Sans MT" panose="020B0502020104020203" pitchFamily="34" charset="77"/>
              </a:rPr>
              <a:t>/machine-learning/crash-course/classification/precision-and-recall</a:t>
            </a:r>
          </a:p>
        </p:txBody>
      </p:sp>
    </p:spTree>
    <p:extLst>
      <p:ext uri="{BB962C8B-B14F-4D97-AF65-F5344CB8AC3E}">
        <p14:creationId xmlns:p14="http://schemas.microsoft.com/office/powerpoint/2010/main" val="14680758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B3B95-99C4-2C96-551C-2A29892A320C}"/>
              </a:ext>
            </a:extLst>
          </p:cNvPr>
          <p:cNvSpPr>
            <a:spLocks noGrp="1"/>
          </p:cNvSpPr>
          <p:nvPr>
            <p:ph type="title"/>
          </p:nvPr>
        </p:nvSpPr>
        <p:spPr/>
        <p:txBody>
          <a:bodyPr/>
          <a:lstStyle/>
          <a:p>
            <a:r>
              <a:rPr lang="en-GB" dirty="0"/>
              <a:t>PR AUC vs ROC AUC</a:t>
            </a:r>
          </a:p>
        </p:txBody>
      </p:sp>
      <p:sp>
        <p:nvSpPr>
          <p:cNvPr id="6" name="Content Placeholder 5">
            <a:extLst>
              <a:ext uri="{FF2B5EF4-FFF2-40B4-BE49-F238E27FC236}">
                <a16:creationId xmlns:a16="http://schemas.microsoft.com/office/drawing/2014/main" id="{A6F7D2C9-B5FA-3937-4886-FE86B9E23983}"/>
              </a:ext>
            </a:extLst>
          </p:cNvPr>
          <p:cNvSpPr>
            <a:spLocks noGrp="1"/>
          </p:cNvSpPr>
          <p:nvPr>
            <p:ph idx="1"/>
          </p:nvPr>
        </p:nvSpPr>
        <p:spPr/>
        <p:txBody>
          <a:bodyPr/>
          <a:lstStyle/>
          <a:p>
            <a:pPr marL="0" indent="0">
              <a:buNone/>
            </a:pPr>
            <a:r>
              <a:rPr lang="en-GB" sz="1800" b="1" dirty="0">
                <a:solidFill>
                  <a:srgbClr val="000000"/>
                </a:solidFill>
                <a:cs typeface="Times New Roman" panose="02020603050405020304" pitchFamily="18" charset="0"/>
              </a:rPr>
              <a:t>- </a:t>
            </a:r>
            <a:r>
              <a:rPr lang="en-GB" sz="2000" b="1" dirty="0">
                <a:solidFill>
                  <a:srgbClr val="000000"/>
                </a:solidFill>
                <a:cs typeface="Times New Roman" panose="02020603050405020304" pitchFamily="18" charset="0"/>
              </a:rPr>
              <a:t>PR AUC: </a:t>
            </a:r>
          </a:p>
          <a:p>
            <a:pPr lvl="1"/>
            <a:r>
              <a:rPr lang="en-GB" kern="0" dirty="0">
                <a:solidFill>
                  <a:srgbClr val="000000"/>
                </a:solidFill>
                <a:effectLst/>
                <a:ea typeface="Times New Roman" panose="02020603050405020304" pitchFamily="18" charset="0"/>
                <a:cs typeface="Times New Roman" panose="02020603050405020304" pitchFamily="18" charset="0"/>
              </a:rPr>
              <a:t>Evaluating performance based on positive class </a:t>
            </a:r>
          </a:p>
          <a:p>
            <a:pPr lvl="1"/>
            <a:r>
              <a:rPr lang="en-GB" kern="0" dirty="0">
                <a:solidFill>
                  <a:srgbClr val="000000"/>
                </a:solidFill>
                <a:effectLst/>
                <a:ea typeface="Times New Roman" panose="02020603050405020304" pitchFamily="18" charset="0"/>
                <a:cs typeface="Times New Roman" panose="02020603050405020304" pitchFamily="18" charset="0"/>
              </a:rPr>
              <a:t>Better suited for imbalanced data, </a:t>
            </a:r>
          </a:p>
          <a:p>
            <a:pPr lvl="1"/>
            <a:r>
              <a:rPr lang="en-GB" kern="100" dirty="0">
                <a:solidFill>
                  <a:srgbClr val="000000"/>
                </a:solidFill>
                <a:effectLst/>
                <a:ea typeface="Aptos" panose="020B0004020202020204" pitchFamily="34" charset="0"/>
                <a:cs typeface="Times New Roman" panose="02020603050405020304" pitchFamily="18" charset="0"/>
              </a:rPr>
              <a:t>Precision vs. Recall</a:t>
            </a:r>
            <a:r>
              <a:rPr lang="en-GB" kern="0" dirty="0">
                <a:solidFill>
                  <a:srgbClr val="000000"/>
                </a:solidFill>
                <a:effectLst/>
                <a:ea typeface="Times New Roman" panose="02020603050405020304" pitchFamily="18" charset="0"/>
                <a:cs typeface="Times New Roman" panose="02020603050405020304" pitchFamily="18" charset="0"/>
              </a:rPr>
              <a:t> </a:t>
            </a:r>
          </a:p>
          <a:p>
            <a:pPr marL="457182" lvl="1" indent="0">
              <a:buNone/>
            </a:pPr>
            <a:endParaRPr lang="en-GB" kern="100" dirty="0">
              <a:effectLst/>
              <a:ea typeface="Aptos" panose="020B0004020202020204" pitchFamily="34" charset="0"/>
              <a:cs typeface="Times New Roman" panose="02020603050405020304" pitchFamily="18" charset="0"/>
            </a:endParaRPr>
          </a:p>
          <a:p>
            <a:pPr marL="0" indent="0">
              <a:buNone/>
            </a:pPr>
            <a:r>
              <a:rPr lang="en-GB" sz="2000" b="1" kern="0" dirty="0">
                <a:solidFill>
                  <a:srgbClr val="000000"/>
                </a:solidFill>
                <a:effectLst/>
                <a:ea typeface="Times New Roman" panose="02020603050405020304" pitchFamily="18" charset="0"/>
                <a:cs typeface="Times New Roman" panose="02020603050405020304" pitchFamily="18" charset="0"/>
              </a:rPr>
              <a:t>- ROC AUC</a:t>
            </a:r>
            <a:r>
              <a:rPr lang="en-GB" sz="2000" kern="0" dirty="0">
                <a:solidFill>
                  <a:srgbClr val="000000"/>
                </a:solidFill>
                <a:effectLst/>
                <a:ea typeface="Times New Roman" panose="02020603050405020304" pitchFamily="18" charset="0"/>
                <a:cs typeface="Times New Roman" panose="02020603050405020304" pitchFamily="18" charset="0"/>
              </a:rPr>
              <a:t>: </a:t>
            </a:r>
          </a:p>
          <a:p>
            <a:pPr lvl="1"/>
            <a:r>
              <a:rPr lang="en-GB" kern="0" dirty="0">
                <a:solidFill>
                  <a:srgbClr val="000000"/>
                </a:solidFill>
                <a:effectLst/>
                <a:ea typeface="Times New Roman" panose="02020603050405020304" pitchFamily="18" charset="0"/>
                <a:cs typeface="Times New Roman" panose="02020603050405020304" pitchFamily="18" charset="0"/>
              </a:rPr>
              <a:t>Evaluating overall classification performance, </a:t>
            </a:r>
          </a:p>
          <a:p>
            <a:pPr lvl="1"/>
            <a:r>
              <a:rPr lang="en-GB" kern="100" dirty="0">
                <a:solidFill>
                  <a:srgbClr val="000000"/>
                </a:solidFill>
                <a:effectLst/>
                <a:ea typeface="Aptos" panose="020B0004020202020204" pitchFamily="34" charset="0"/>
                <a:cs typeface="Times New Roman" panose="02020603050405020304" pitchFamily="18" charset="0"/>
              </a:rPr>
              <a:t>It can be misleading for imbalanced data</a:t>
            </a:r>
            <a:r>
              <a:rPr lang="en-GB" kern="100" dirty="0">
                <a:effectLst/>
                <a:ea typeface="Aptos" panose="020B0004020202020204" pitchFamily="34" charset="0"/>
                <a:cs typeface="Times New Roman" panose="02020603050405020304" pitchFamily="18" charset="0"/>
              </a:rPr>
              <a:t>, </a:t>
            </a:r>
          </a:p>
          <a:p>
            <a:pPr lvl="1"/>
            <a:r>
              <a:rPr lang="en-GB" kern="100" dirty="0">
                <a:effectLst/>
                <a:ea typeface="Aptos" panose="020B0004020202020204" pitchFamily="34" charset="0"/>
                <a:cs typeface="Times New Roman" panose="02020603050405020304" pitchFamily="18" charset="0"/>
              </a:rPr>
              <a:t>TPR vs. FPR</a:t>
            </a:r>
          </a:p>
          <a:p>
            <a:endParaRPr lang="en-GB" sz="1800" dirty="0"/>
          </a:p>
        </p:txBody>
      </p:sp>
      <p:sp>
        <p:nvSpPr>
          <p:cNvPr id="3" name="Slide Number Placeholder 2">
            <a:extLst>
              <a:ext uri="{FF2B5EF4-FFF2-40B4-BE49-F238E27FC236}">
                <a16:creationId xmlns:a16="http://schemas.microsoft.com/office/drawing/2014/main" id="{F00645FF-CE9C-6915-4DB1-DA6DCDBF3A3F}"/>
              </a:ext>
            </a:extLst>
          </p:cNvPr>
          <p:cNvSpPr>
            <a:spLocks noGrp="1"/>
          </p:cNvSpPr>
          <p:nvPr>
            <p:ph type="sldNum" sz="quarter" idx="12"/>
          </p:nvPr>
        </p:nvSpPr>
        <p:spPr/>
        <p:txBody>
          <a:bodyPr/>
          <a:lstStyle/>
          <a:p>
            <a:fld id="{BB98F552-A29D-2D4E-8192-F20670493719}" type="slidenum">
              <a:rPr lang="en-GB" altLang="en-US" smtClean="0"/>
              <a:pPr/>
              <a:t>47</a:t>
            </a:fld>
            <a:endParaRPr lang="en-GB" altLang="en-US" dirty="0"/>
          </a:p>
        </p:txBody>
      </p:sp>
    </p:spTree>
    <p:extLst>
      <p:ext uri="{BB962C8B-B14F-4D97-AF65-F5344CB8AC3E}">
        <p14:creationId xmlns:p14="http://schemas.microsoft.com/office/powerpoint/2010/main" val="12439118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7F752-CC37-0AB5-5A38-F03FBA4B8103}"/>
              </a:ext>
            </a:extLst>
          </p:cNvPr>
          <p:cNvSpPr>
            <a:spLocks noGrp="1"/>
          </p:cNvSpPr>
          <p:nvPr>
            <p:ph type="title"/>
          </p:nvPr>
        </p:nvSpPr>
        <p:spPr/>
        <p:txBody>
          <a:bodyPr/>
          <a:lstStyle/>
          <a:p>
            <a:r>
              <a:rPr lang="en-GB" dirty="0"/>
              <a:t>Cases that AUC could be useful</a:t>
            </a:r>
          </a:p>
        </p:txBody>
      </p:sp>
      <p:sp>
        <p:nvSpPr>
          <p:cNvPr id="3" name="Content Placeholder 2">
            <a:extLst>
              <a:ext uri="{FF2B5EF4-FFF2-40B4-BE49-F238E27FC236}">
                <a16:creationId xmlns:a16="http://schemas.microsoft.com/office/drawing/2014/main" id="{23F37AC2-2350-438B-755A-2A06055D8070}"/>
              </a:ext>
            </a:extLst>
          </p:cNvPr>
          <p:cNvSpPr>
            <a:spLocks noGrp="1"/>
          </p:cNvSpPr>
          <p:nvPr>
            <p:ph idx="1"/>
          </p:nvPr>
        </p:nvSpPr>
        <p:spPr/>
        <p:txBody>
          <a:bodyPr/>
          <a:lstStyle/>
          <a:p>
            <a:pPr algn="l"/>
            <a:r>
              <a:rPr lang="en-GB" b="0" i="0" u="none" strike="noStrike" dirty="0">
                <a:solidFill>
                  <a:srgbClr val="202124"/>
                </a:solidFill>
                <a:effectLst/>
              </a:rPr>
              <a:t>AUC is desirable for the following two reasons:</a:t>
            </a:r>
          </a:p>
          <a:p>
            <a:pPr lvl="1"/>
            <a:r>
              <a:rPr lang="en-GB" sz="2400" dirty="0">
                <a:solidFill>
                  <a:srgbClr val="202124"/>
                </a:solidFill>
                <a:ea typeface="ＭＳ Ｐゴシック" charset="0"/>
              </a:rPr>
              <a:t>AUC is scale-invariant. It measures how well predictions are ranked rather than their absolute values.</a:t>
            </a:r>
          </a:p>
          <a:p>
            <a:pPr lvl="1"/>
            <a:r>
              <a:rPr lang="en-GB" sz="2400" dirty="0">
                <a:solidFill>
                  <a:srgbClr val="202124"/>
                </a:solidFill>
                <a:ea typeface="ＭＳ Ｐゴシック" charset="0"/>
              </a:rPr>
              <a:t>AUC is classification-threshold invariant. It measures the quality of the model's predictions regardless of the classification threshold chosen.</a:t>
            </a:r>
          </a:p>
          <a:p>
            <a:endParaRPr lang="en-GB" dirty="0"/>
          </a:p>
        </p:txBody>
      </p:sp>
      <p:sp>
        <p:nvSpPr>
          <p:cNvPr id="4" name="Slide Number Placeholder 3">
            <a:extLst>
              <a:ext uri="{FF2B5EF4-FFF2-40B4-BE49-F238E27FC236}">
                <a16:creationId xmlns:a16="http://schemas.microsoft.com/office/drawing/2014/main" id="{2D63B776-EF6D-61FE-1E6F-0F52594E5C54}"/>
              </a:ext>
            </a:extLst>
          </p:cNvPr>
          <p:cNvSpPr>
            <a:spLocks noGrp="1"/>
          </p:cNvSpPr>
          <p:nvPr>
            <p:ph type="sldNum" sz="quarter" idx="12"/>
          </p:nvPr>
        </p:nvSpPr>
        <p:spPr/>
        <p:txBody>
          <a:bodyPr/>
          <a:lstStyle/>
          <a:p>
            <a:fld id="{44E22EE9-B8A0-0641-9265-052CFE9B95A7}" type="slidenum">
              <a:rPr lang="en-GB" altLang="en-US" smtClean="0"/>
              <a:pPr/>
              <a:t>48</a:t>
            </a:fld>
            <a:endParaRPr lang="en-GB" altLang="en-US" dirty="0"/>
          </a:p>
        </p:txBody>
      </p:sp>
      <p:sp>
        <p:nvSpPr>
          <p:cNvPr id="7" name="TextBox 6">
            <a:extLst>
              <a:ext uri="{FF2B5EF4-FFF2-40B4-BE49-F238E27FC236}">
                <a16:creationId xmlns:a16="http://schemas.microsoft.com/office/drawing/2014/main" id="{E0B1A37C-E198-55CB-9DB9-FB83C030F342}"/>
              </a:ext>
            </a:extLst>
          </p:cNvPr>
          <p:cNvSpPr txBox="1"/>
          <p:nvPr/>
        </p:nvSpPr>
        <p:spPr>
          <a:xfrm>
            <a:off x="609600" y="6305392"/>
            <a:ext cx="7431226"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developers.google.com</a:t>
            </a:r>
            <a:r>
              <a:rPr lang="en-GB" sz="1000" dirty="0">
                <a:latin typeface="Gill Sans MT" panose="020B0502020104020203" pitchFamily="34" charset="77"/>
              </a:rPr>
              <a:t>/machine-learning/crash-course/classification/precision-and-recall</a:t>
            </a:r>
          </a:p>
        </p:txBody>
      </p:sp>
    </p:spTree>
    <p:extLst>
      <p:ext uri="{BB962C8B-B14F-4D97-AF65-F5344CB8AC3E}">
        <p14:creationId xmlns:p14="http://schemas.microsoft.com/office/powerpoint/2010/main" val="6411701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B2051-2128-AEEE-CA8D-3B198BF5AFD8}"/>
              </a:ext>
            </a:extLst>
          </p:cNvPr>
          <p:cNvSpPr>
            <a:spLocks noGrp="1"/>
          </p:cNvSpPr>
          <p:nvPr>
            <p:ph type="title"/>
          </p:nvPr>
        </p:nvSpPr>
        <p:spPr/>
        <p:txBody>
          <a:bodyPr/>
          <a:lstStyle/>
          <a:p>
            <a:r>
              <a:rPr lang="en-GB" dirty="0"/>
              <a:t>Cases that AUC will NOT be useful</a:t>
            </a:r>
          </a:p>
        </p:txBody>
      </p:sp>
      <p:sp>
        <p:nvSpPr>
          <p:cNvPr id="3" name="Content Placeholder 2">
            <a:extLst>
              <a:ext uri="{FF2B5EF4-FFF2-40B4-BE49-F238E27FC236}">
                <a16:creationId xmlns:a16="http://schemas.microsoft.com/office/drawing/2014/main" id="{1529DA66-CFE0-D72A-2543-4F8F64D451B6}"/>
              </a:ext>
            </a:extLst>
          </p:cNvPr>
          <p:cNvSpPr>
            <a:spLocks noGrp="1"/>
          </p:cNvSpPr>
          <p:nvPr>
            <p:ph idx="1"/>
          </p:nvPr>
        </p:nvSpPr>
        <p:spPr/>
        <p:txBody>
          <a:bodyPr/>
          <a:lstStyle/>
          <a:p>
            <a:pPr algn="l">
              <a:buFontTx/>
              <a:buChar char="-"/>
            </a:pPr>
            <a:r>
              <a:rPr lang="en-GB" i="0" u="none" strike="noStrike" dirty="0">
                <a:solidFill>
                  <a:srgbClr val="202124"/>
                </a:solidFill>
                <a:effectLst/>
              </a:rPr>
              <a:t>Scale invariance is not always desirable. For example, sometimes, we really do need well-calibrated probability outputs, and AUC won’t tell us about that.</a:t>
            </a:r>
          </a:p>
          <a:p>
            <a:pPr>
              <a:buFontTx/>
              <a:buChar char="-"/>
            </a:pPr>
            <a:r>
              <a:rPr lang="en-GB" i="0" u="none" strike="noStrike" dirty="0">
                <a:solidFill>
                  <a:srgbClr val="202124"/>
                </a:solidFill>
                <a:effectLst/>
              </a:rPr>
              <a:t>Classification-threshold invariance is not always desirable. In cases where there are wide disparities in the cost of false negatives vs. false positives, it may be critical to minimise one type of classification error. For example, in a medical </a:t>
            </a:r>
            <a:r>
              <a:rPr lang="en-GB" dirty="0">
                <a:solidFill>
                  <a:srgbClr val="202124"/>
                </a:solidFill>
              </a:rPr>
              <a:t>test, </a:t>
            </a:r>
            <a:r>
              <a:rPr lang="en-GB" i="0" u="none" strike="noStrike" dirty="0">
                <a:solidFill>
                  <a:srgbClr val="202124"/>
                </a:solidFill>
                <a:effectLst/>
              </a:rPr>
              <a:t>FPs and FNs do not carry equal weights. AUC may not be a useful metric for this type of optimisation.</a:t>
            </a:r>
          </a:p>
          <a:p>
            <a:endParaRPr lang="en-GB" dirty="0"/>
          </a:p>
        </p:txBody>
      </p:sp>
      <p:sp>
        <p:nvSpPr>
          <p:cNvPr id="4" name="Slide Number Placeholder 3">
            <a:extLst>
              <a:ext uri="{FF2B5EF4-FFF2-40B4-BE49-F238E27FC236}">
                <a16:creationId xmlns:a16="http://schemas.microsoft.com/office/drawing/2014/main" id="{21596D96-BAC7-7AFB-A4EF-F9C09AAFAB97}"/>
              </a:ext>
            </a:extLst>
          </p:cNvPr>
          <p:cNvSpPr>
            <a:spLocks noGrp="1"/>
          </p:cNvSpPr>
          <p:nvPr>
            <p:ph type="sldNum" sz="quarter" idx="12"/>
          </p:nvPr>
        </p:nvSpPr>
        <p:spPr/>
        <p:txBody>
          <a:bodyPr/>
          <a:lstStyle/>
          <a:p>
            <a:fld id="{44E22EE9-B8A0-0641-9265-052CFE9B95A7}" type="slidenum">
              <a:rPr lang="en-GB" altLang="en-US" smtClean="0"/>
              <a:pPr/>
              <a:t>49</a:t>
            </a:fld>
            <a:endParaRPr lang="en-GB" altLang="en-US" dirty="0"/>
          </a:p>
        </p:txBody>
      </p:sp>
      <p:sp>
        <p:nvSpPr>
          <p:cNvPr id="6" name="TextBox 5">
            <a:extLst>
              <a:ext uri="{FF2B5EF4-FFF2-40B4-BE49-F238E27FC236}">
                <a16:creationId xmlns:a16="http://schemas.microsoft.com/office/drawing/2014/main" id="{75E493BA-B55B-62C0-3E2F-6A0775984945}"/>
              </a:ext>
            </a:extLst>
          </p:cNvPr>
          <p:cNvSpPr txBox="1"/>
          <p:nvPr/>
        </p:nvSpPr>
        <p:spPr>
          <a:xfrm>
            <a:off x="609600" y="6305392"/>
            <a:ext cx="7431226"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developers.google.com</a:t>
            </a:r>
            <a:r>
              <a:rPr lang="en-GB" sz="1000" dirty="0">
                <a:latin typeface="Gill Sans MT" panose="020B0502020104020203" pitchFamily="34" charset="77"/>
              </a:rPr>
              <a:t>/machine-learning/crash-course/classification/precision-and-recall</a:t>
            </a:r>
          </a:p>
        </p:txBody>
      </p:sp>
    </p:spTree>
    <p:extLst>
      <p:ext uri="{BB962C8B-B14F-4D97-AF65-F5344CB8AC3E}">
        <p14:creationId xmlns:p14="http://schemas.microsoft.com/office/powerpoint/2010/main" val="12585455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3DDDEE-FB54-50ED-C020-A8E6EC1E5366}"/>
              </a:ext>
            </a:extLst>
          </p:cNvPr>
          <p:cNvSpPr>
            <a:spLocks noGrp="1"/>
          </p:cNvSpPr>
          <p:nvPr>
            <p:ph type="title"/>
          </p:nvPr>
        </p:nvSpPr>
        <p:spPr/>
        <p:txBody>
          <a:bodyPr/>
          <a:lstStyle/>
          <a:p>
            <a:r>
              <a:rPr lang="en-GB" dirty="0"/>
              <a:t>Prediction bias</a:t>
            </a:r>
          </a:p>
        </p:txBody>
      </p:sp>
      <p:sp>
        <p:nvSpPr>
          <p:cNvPr id="3" name="Content Placeholder 2">
            <a:extLst>
              <a:ext uri="{FF2B5EF4-FFF2-40B4-BE49-F238E27FC236}">
                <a16:creationId xmlns:a16="http://schemas.microsoft.com/office/drawing/2014/main" id="{5499B2E9-88D2-ABE4-9297-A36AC1EC83B9}"/>
              </a:ext>
            </a:extLst>
          </p:cNvPr>
          <p:cNvSpPr>
            <a:spLocks noGrp="1"/>
          </p:cNvSpPr>
          <p:nvPr>
            <p:ph idx="1"/>
          </p:nvPr>
        </p:nvSpPr>
        <p:spPr/>
        <p:txBody>
          <a:bodyPr/>
          <a:lstStyle/>
          <a:p>
            <a:r>
              <a:rPr lang="en-GB" dirty="0"/>
              <a:t>Some of the reasons: </a:t>
            </a:r>
          </a:p>
          <a:p>
            <a:pPr lvl="1"/>
            <a:r>
              <a:rPr lang="en-GB" sz="2400" dirty="0"/>
              <a:t>The training set doesn't adequately represent certain subsets of the data space. </a:t>
            </a:r>
          </a:p>
          <a:p>
            <a:pPr lvl="1"/>
            <a:r>
              <a:rPr lang="en-GB" sz="2400" dirty="0"/>
              <a:t>Some subsets of the data set are noisier than others. </a:t>
            </a:r>
          </a:p>
          <a:p>
            <a:pPr lvl="1"/>
            <a:r>
              <a:rPr lang="en-GB" sz="2400" dirty="0"/>
              <a:t>The model is overly regularised. </a:t>
            </a:r>
          </a:p>
        </p:txBody>
      </p:sp>
      <p:sp>
        <p:nvSpPr>
          <p:cNvPr id="4" name="Slide Number Placeholder 3">
            <a:extLst>
              <a:ext uri="{FF2B5EF4-FFF2-40B4-BE49-F238E27FC236}">
                <a16:creationId xmlns:a16="http://schemas.microsoft.com/office/drawing/2014/main" id="{7AF55A54-2678-1984-514F-6C2705DAB09E}"/>
              </a:ext>
            </a:extLst>
          </p:cNvPr>
          <p:cNvSpPr>
            <a:spLocks noGrp="1"/>
          </p:cNvSpPr>
          <p:nvPr>
            <p:ph type="sldNum" sz="quarter" idx="12"/>
          </p:nvPr>
        </p:nvSpPr>
        <p:spPr/>
        <p:txBody>
          <a:bodyPr/>
          <a:lstStyle/>
          <a:p>
            <a:fld id="{44E22EE9-B8A0-0641-9265-052CFE9B95A7}" type="slidenum">
              <a:rPr lang="en-GB" altLang="en-US" smtClean="0"/>
              <a:pPr/>
              <a:t>50</a:t>
            </a:fld>
            <a:endParaRPr lang="en-GB" altLang="en-US" dirty="0"/>
          </a:p>
        </p:txBody>
      </p:sp>
    </p:spTree>
    <p:extLst>
      <p:ext uri="{BB962C8B-B14F-4D97-AF65-F5344CB8AC3E}">
        <p14:creationId xmlns:p14="http://schemas.microsoft.com/office/powerpoint/2010/main" val="9311158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1A01E-1501-4255-7802-A0D0E6F8D939}"/>
              </a:ext>
            </a:extLst>
          </p:cNvPr>
          <p:cNvSpPr>
            <a:spLocks noGrp="1"/>
          </p:cNvSpPr>
          <p:nvPr>
            <p:ph type="title"/>
          </p:nvPr>
        </p:nvSpPr>
        <p:spPr/>
        <p:txBody>
          <a:bodyPr/>
          <a:lstStyle/>
          <a:p>
            <a:r>
              <a:rPr lang="en-GB" dirty="0"/>
              <a:t>Sensitivity and specificity</a:t>
            </a:r>
          </a:p>
        </p:txBody>
      </p:sp>
      <p:sp>
        <p:nvSpPr>
          <p:cNvPr id="3" name="Content Placeholder 2">
            <a:extLst>
              <a:ext uri="{FF2B5EF4-FFF2-40B4-BE49-F238E27FC236}">
                <a16:creationId xmlns:a16="http://schemas.microsoft.com/office/drawing/2014/main" id="{59630B1E-98D3-558A-6945-EA241D24063C}"/>
              </a:ext>
            </a:extLst>
          </p:cNvPr>
          <p:cNvSpPr>
            <a:spLocks noGrp="1"/>
          </p:cNvSpPr>
          <p:nvPr>
            <p:ph idx="1"/>
          </p:nvPr>
        </p:nvSpPr>
        <p:spPr/>
        <p:txBody>
          <a:bodyPr/>
          <a:lstStyle/>
          <a:p>
            <a:r>
              <a:rPr lang="en-GB" dirty="0">
                <a:solidFill>
                  <a:srgbClr val="002060"/>
                </a:solidFill>
              </a:rPr>
              <a:t>Sensitivity</a:t>
            </a:r>
            <a:r>
              <a:rPr lang="en-GB" dirty="0">
                <a:solidFill>
                  <a:srgbClr val="333333"/>
                </a:solidFill>
              </a:rPr>
              <a:t>: the ability of a test to correctly identify patients with a disease.</a:t>
            </a:r>
          </a:p>
          <a:p>
            <a:r>
              <a:rPr lang="en-GB" dirty="0">
                <a:solidFill>
                  <a:srgbClr val="002060"/>
                </a:solidFill>
              </a:rPr>
              <a:t>Specificity</a:t>
            </a:r>
            <a:r>
              <a:rPr lang="en-GB" dirty="0">
                <a:solidFill>
                  <a:srgbClr val="333333"/>
                </a:solidFill>
              </a:rPr>
              <a:t>: the ability of a test to correctly identify people without the disease.</a:t>
            </a:r>
          </a:p>
          <a:p>
            <a:r>
              <a:rPr lang="en-GB" dirty="0">
                <a:solidFill>
                  <a:srgbClr val="002060"/>
                </a:solidFill>
              </a:rPr>
              <a:t>Prevalence</a:t>
            </a:r>
            <a:r>
              <a:rPr lang="en-GB" dirty="0">
                <a:solidFill>
                  <a:srgbClr val="333333"/>
                </a:solidFill>
              </a:rPr>
              <a:t>: the percentage of people in a population who have the condition of interest.</a:t>
            </a:r>
          </a:p>
        </p:txBody>
      </p:sp>
      <p:sp>
        <p:nvSpPr>
          <p:cNvPr id="4" name="Slide Number Placeholder 3">
            <a:extLst>
              <a:ext uri="{FF2B5EF4-FFF2-40B4-BE49-F238E27FC236}">
                <a16:creationId xmlns:a16="http://schemas.microsoft.com/office/drawing/2014/main" id="{B0BDDBE0-DF81-20F9-6AE5-C8347848D7DA}"/>
              </a:ext>
            </a:extLst>
          </p:cNvPr>
          <p:cNvSpPr>
            <a:spLocks noGrp="1"/>
          </p:cNvSpPr>
          <p:nvPr>
            <p:ph type="sldNum" sz="quarter" idx="12"/>
          </p:nvPr>
        </p:nvSpPr>
        <p:spPr/>
        <p:txBody>
          <a:bodyPr/>
          <a:lstStyle/>
          <a:p>
            <a:fld id="{44E22EE9-B8A0-0641-9265-052CFE9B95A7}" type="slidenum">
              <a:rPr lang="en-GB" altLang="en-US" smtClean="0"/>
              <a:pPr/>
              <a:t>51</a:t>
            </a:fld>
            <a:endParaRPr lang="en-GB" altLang="en-US" dirty="0"/>
          </a:p>
        </p:txBody>
      </p:sp>
      <p:sp>
        <p:nvSpPr>
          <p:cNvPr id="6" name="TextBox 5">
            <a:extLst>
              <a:ext uri="{FF2B5EF4-FFF2-40B4-BE49-F238E27FC236}">
                <a16:creationId xmlns:a16="http://schemas.microsoft.com/office/drawing/2014/main" id="{3C2B78AD-76D5-AE52-B829-D4073D9BCB30}"/>
              </a:ext>
            </a:extLst>
          </p:cNvPr>
          <p:cNvSpPr txBox="1"/>
          <p:nvPr/>
        </p:nvSpPr>
        <p:spPr>
          <a:xfrm>
            <a:off x="609600" y="6428502"/>
            <a:ext cx="7236499" cy="246221"/>
          </a:xfrm>
          <a:prstGeom prst="rect">
            <a:avLst/>
          </a:prstGeom>
          <a:noFill/>
        </p:spPr>
        <p:txBody>
          <a:bodyPr wrap="square">
            <a:spAutoFit/>
          </a:bodyPr>
          <a:lstStyle/>
          <a:p>
            <a:r>
              <a:rPr lang="en-GB" sz="1000" dirty="0">
                <a:latin typeface="Gill Sans MT" panose="020B0502020104020203" pitchFamily="34" charset="77"/>
              </a:rPr>
              <a:t>Source: Swift A, </a:t>
            </a:r>
            <a:r>
              <a:rPr lang="en-GB" sz="1000" dirty="0" err="1">
                <a:latin typeface="Gill Sans MT" panose="020B0502020104020203" pitchFamily="34" charset="77"/>
              </a:rPr>
              <a:t>Heale</a:t>
            </a:r>
            <a:r>
              <a:rPr lang="en-GB" sz="1000" dirty="0">
                <a:latin typeface="Gill Sans MT" panose="020B0502020104020203" pitchFamily="34" charset="77"/>
              </a:rPr>
              <a:t> R, Twycross A, What are sensitivity and specificity?, </a:t>
            </a:r>
            <a:r>
              <a:rPr lang="en-GB" sz="1000" i="1" dirty="0">
                <a:latin typeface="Gill Sans MT" panose="020B0502020104020203" pitchFamily="34" charset="77"/>
              </a:rPr>
              <a:t>Evidence-Based Nursing </a:t>
            </a:r>
            <a:r>
              <a:rPr lang="en-GB" sz="1000" dirty="0">
                <a:latin typeface="Gill Sans MT" panose="020B0502020104020203" pitchFamily="34" charset="77"/>
              </a:rPr>
              <a:t>2020;23:2-4.</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3A39FD1-611C-0DBA-3D39-3ED3BE436351}"/>
                  </a:ext>
                </a:extLst>
              </p:cNvPr>
              <p:cNvSpPr txBox="1"/>
              <p:nvPr/>
            </p:nvSpPr>
            <p:spPr>
              <a:xfrm>
                <a:off x="1343472" y="3947457"/>
                <a:ext cx="3012748"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𝑆𝑒𝑛𝑠𝑒𝑡𝑖𝑣𝑖𝑡𝑦</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𝐹𝑁</m:t>
                          </m:r>
                        </m:den>
                      </m:f>
                    </m:oMath>
                  </m:oMathPara>
                </a14:m>
                <a:endParaRPr lang="en-GB" dirty="0"/>
              </a:p>
              <a:p>
                <a:endParaRPr lang="en-GB" dirty="0"/>
              </a:p>
            </p:txBody>
          </p:sp>
        </mc:Choice>
        <mc:Fallback xmlns="">
          <p:sp>
            <p:nvSpPr>
              <p:cNvPr id="7" name="TextBox 6">
                <a:extLst>
                  <a:ext uri="{FF2B5EF4-FFF2-40B4-BE49-F238E27FC236}">
                    <a16:creationId xmlns:a16="http://schemas.microsoft.com/office/drawing/2014/main" id="{03A39FD1-611C-0DBA-3D39-3ED3BE436351}"/>
                  </a:ext>
                </a:extLst>
              </p:cNvPr>
              <p:cNvSpPr txBox="1">
                <a:spLocks noRot="1" noChangeAspect="1" noMove="1" noResize="1" noEditPoints="1" noAdjustHandles="1" noChangeArrowheads="1" noChangeShapeType="1" noTextEdit="1"/>
              </p:cNvSpPr>
              <p:nvPr/>
            </p:nvSpPr>
            <p:spPr>
              <a:xfrm>
                <a:off x="1343472" y="3947457"/>
                <a:ext cx="3012748" cy="892488"/>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78D03E2-B825-B226-1F27-E8553190C012}"/>
                  </a:ext>
                </a:extLst>
              </p:cNvPr>
              <p:cNvSpPr txBox="1"/>
              <p:nvPr/>
            </p:nvSpPr>
            <p:spPr>
              <a:xfrm>
                <a:off x="1343471" y="5109279"/>
                <a:ext cx="2984728"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𝑆𝑝𝑒𝑐𝑖𝑓𝑖𝑐𝑖𝑡𝑦</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𝑇𝑁</m:t>
                          </m:r>
                        </m:num>
                        <m:den>
                          <m:r>
                            <a:rPr lang="en-GB" b="0" i="1" smtClean="0">
                              <a:latin typeface="Cambria Math" panose="02040503050406030204" pitchFamily="18" charset="0"/>
                            </a:rPr>
                            <m:t>𝑇𝑁</m:t>
                          </m:r>
                          <m:r>
                            <a:rPr lang="en-GB" b="0" i="1" smtClean="0">
                              <a:latin typeface="Cambria Math" panose="02040503050406030204" pitchFamily="18" charset="0"/>
                            </a:rPr>
                            <m:t>+</m:t>
                          </m:r>
                          <m:r>
                            <a:rPr lang="en-GB" b="0" i="1" smtClean="0">
                              <a:latin typeface="Cambria Math" panose="02040503050406030204" pitchFamily="18" charset="0"/>
                            </a:rPr>
                            <m:t>𝐹𝑃</m:t>
                          </m:r>
                        </m:den>
                      </m:f>
                    </m:oMath>
                  </m:oMathPara>
                </a14:m>
                <a:endParaRPr lang="en-GB" dirty="0"/>
              </a:p>
              <a:p>
                <a:endParaRPr lang="en-GB" dirty="0"/>
              </a:p>
            </p:txBody>
          </p:sp>
        </mc:Choice>
        <mc:Fallback xmlns="">
          <p:sp>
            <p:nvSpPr>
              <p:cNvPr id="8" name="TextBox 7">
                <a:extLst>
                  <a:ext uri="{FF2B5EF4-FFF2-40B4-BE49-F238E27FC236}">
                    <a16:creationId xmlns:a16="http://schemas.microsoft.com/office/drawing/2014/main" id="{878D03E2-B825-B226-1F27-E8553190C012}"/>
                  </a:ext>
                </a:extLst>
              </p:cNvPr>
              <p:cNvSpPr txBox="1">
                <a:spLocks noRot="1" noChangeAspect="1" noMove="1" noResize="1" noEditPoints="1" noAdjustHandles="1" noChangeArrowheads="1" noChangeShapeType="1" noTextEdit="1"/>
              </p:cNvSpPr>
              <p:nvPr/>
            </p:nvSpPr>
            <p:spPr>
              <a:xfrm>
                <a:off x="1343471" y="5109279"/>
                <a:ext cx="2984728" cy="892488"/>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27082459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1C1EF-38B1-7C92-4886-A806449B2AB3}"/>
              </a:ext>
            </a:extLst>
          </p:cNvPr>
          <p:cNvSpPr>
            <a:spLocks noGrp="1"/>
          </p:cNvSpPr>
          <p:nvPr>
            <p:ph type="title"/>
          </p:nvPr>
        </p:nvSpPr>
        <p:spPr/>
        <p:txBody>
          <a:bodyPr/>
          <a:lstStyle/>
          <a:p>
            <a:r>
              <a:rPr lang="en-GB" dirty="0"/>
              <a:t>Sensitivity/Specificity: Example</a:t>
            </a:r>
          </a:p>
        </p:txBody>
      </p:sp>
      <p:sp>
        <p:nvSpPr>
          <p:cNvPr id="4" name="Slide Number Placeholder 3">
            <a:extLst>
              <a:ext uri="{FF2B5EF4-FFF2-40B4-BE49-F238E27FC236}">
                <a16:creationId xmlns:a16="http://schemas.microsoft.com/office/drawing/2014/main" id="{F3C78819-38CE-3A71-47D1-3EDEE97639E1}"/>
              </a:ext>
            </a:extLst>
          </p:cNvPr>
          <p:cNvSpPr>
            <a:spLocks noGrp="1"/>
          </p:cNvSpPr>
          <p:nvPr>
            <p:ph type="sldNum" sz="quarter" idx="12"/>
          </p:nvPr>
        </p:nvSpPr>
        <p:spPr/>
        <p:txBody>
          <a:bodyPr/>
          <a:lstStyle/>
          <a:p>
            <a:fld id="{44E22EE9-B8A0-0641-9265-052CFE9B95A7}" type="slidenum">
              <a:rPr lang="en-GB" altLang="en-US" smtClean="0"/>
              <a:pPr/>
              <a:t>52</a:t>
            </a:fld>
            <a:endParaRPr lang="en-GB" altLang="en-US" dirty="0"/>
          </a:p>
        </p:txBody>
      </p:sp>
      <p:graphicFrame>
        <p:nvGraphicFramePr>
          <p:cNvPr id="5" name="Table 6">
            <a:extLst>
              <a:ext uri="{FF2B5EF4-FFF2-40B4-BE49-F238E27FC236}">
                <a16:creationId xmlns:a16="http://schemas.microsoft.com/office/drawing/2014/main" id="{D9AD61A1-4693-E7C5-60D0-27F022AE4A1B}"/>
              </a:ext>
            </a:extLst>
          </p:cNvPr>
          <p:cNvGraphicFramePr>
            <a:graphicFrameLocks noGrp="1"/>
          </p:cNvGraphicFramePr>
          <p:nvPr>
            <p:extLst>
              <p:ext uri="{D42A27DB-BD31-4B8C-83A1-F6EECF244321}">
                <p14:modId xmlns:p14="http://schemas.microsoft.com/office/powerpoint/2010/main" val="1263592890"/>
              </p:ext>
            </p:extLst>
          </p:nvPr>
        </p:nvGraphicFramePr>
        <p:xfrm>
          <a:off x="5840111" y="4759561"/>
          <a:ext cx="5443804" cy="890016"/>
        </p:xfrm>
        <a:graphic>
          <a:graphicData uri="http://schemas.openxmlformats.org/drawingml/2006/table">
            <a:tbl>
              <a:tblPr bandRow="1">
                <a:tableStyleId>{5C22544A-7EE6-4342-B048-85BDC9FD1C3A}</a:tableStyleId>
              </a:tblPr>
              <a:tblGrid>
                <a:gridCol w="2505878">
                  <a:extLst>
                    <a:ext uri="{9D8B030D-6E8A-4147-A177-3AD203B41FA5}">
                      <a16:colId xmlns:a16="http://schemas.microsoft.com/office/drawing/2014/main" val="2294070008"/>
                    </a:ext>
                  </a:extLst>
                </a:gridCol>
                <a:gridCol w="2937926">
                  <a:extLst>
                    <a:ext uri="{9D8B030D-6E8A-4147-A177-3AD203B41FA5}">
                      <a16:colId xmlns:a16="http://schemas.microsoft.com/office/drawing/2014/main" val="1268478978"/>
                    </a:ext>
                  </a:extLst>
                </a:gridCol>
              </a:tblGrid>
              <a:tr h="445008">
                <a:tc>
                  <a:txBody>
                    <a:bodyPr/>
                    <a:lstStyle/>
                    <a:p>
                      <a:r>
                        <a:rPr lang="en-GB" sz="1900" b="0" dirty="0">
                          <a:solidFill>
                            <a:schemeClr val="tx1"/>
                          </a:solidFill>
                          <a:latin typeface="Gill Sans MT" panose="020B0502020104020203" pitchFamily="34" charset="77"/>
                        </a:rPr>
                        <a:t>True Positives: 25</a:t>
                      </a:r>
                    </a:p>
                  </a:txBody>
                  <a:tcPr marL="109728" marR="109728" marT="54864" marB="54864">
                    <a:solidFill>
                      <a:srgbClr val="92D050"/>
                    </a:solidFill>
                  </a:tcPr>
                </a:tc>
                <a:tc>
                  <a:txBody>
                    <a:bodyPr/>
                    <a:lstStyle/>
                    <a:p>
                      <a:r>
                        <a:rPr lang="en-GB" sz="1900" b="0" dirty="0">
                          <a:solidFill>
                            <a:schemeClr val="tx1"/>
                          </a:solidFill>
                          <a:latin typeface="Gill Sans MT" panose="020B0502020104020203" pitchFamily="34" charset="77"/>
                        </a:rPr>
                        <a:t>False Positives: 10</a:t>
                      </a:r>
                    </a:p>
                  </a:txBody>
                  <a:tcPr marL="109728" marR="109728" marT="54864" marB="54864">
                    <a:solidFill>
                      <a:srgbClr val="FF0000">
                        <a:alpha val="70000"/>
                      </a:srgbClr>
                    </a:solidFill>
                  </a:tcPr>
                </a:tc>
                <a:extLst>
                  <a:ext uri="{0D108BD9-81ED-4DB2-BD59-A6C34878D82A}">
                    <a16:rowId xmlns:a16="http://schemas.microsoft.com/office/drawing/2014/main" val="2313162053"/>
                  </a:ext>
                </a:extLst>
              </a:tr>
              <a:tr h="445008">
                <a:tc>
                  <a:txBody>
                    <a:bodyPr/>
                    <a:lstStyle/>
                    <a:p>
                      <a:r>
                        <a:rPr lang="en-GB" sz="1900" b="0" dirty="0">
                          <a:solidFill>
                            <a:schemeClr val="tx1"/>
                          </a:solidFill>
                          <a:latin typeface="Gill Sans MT" panose="020B0502020104020203" pitchFamily="34" charset="77"/>
                        </a:rPr>
                        <a:t>False Negatives: 15</a:t>
                      </a:r>
                    </a:p>
                  </a:txBody>
                  <a:tcPr marL="109728" marR="109728" marT="54864" marB="54864">
                    <a:solidFill>
                      <a:srgbClr val="FF0000">
                        <a:alpha val="70000"/>
                      </a:srgbClr>
                    </a:solidFill>
                  </a:tcPr>
                </a:tc>
                <a:tc>
                  <a:txBody>
                    <a:bodyPr/>
                    <a:lstStyle/>
                    <a:p>
                      <a:r>
                        <a:rPr lang="en-GB" sz="1900" b="0" dirty="0">
                          <a:solidFill>
                            <a:schemeClr val="tx1"/>
                          </a:solidFill>
                          <a:latin typeface="Gill Sans MT" panose="020B0502020104020203" pitchFamily="34" charset="77"/>
                        </a:rPr>
                        <a:t>True Negatives: 80</a:t>
                      </a:r>
                    </a:p>
                  </a:txBody>
                  <a:tcPr marL="109728" marR="109728" marT="54864" marB="54864">
                    <a:solidFill>
                      <a:srgbClr val="92D050"/>
                    </a:solidFill>
                  </a:tcPr>
                </a:tc>
                <a:extLst>
                  <a:ext uri="{0D108BD9-81ED-4DB2-BD59-A6C34878D82A}">
                    <a16:rowId xmlns:a16="http://schemas.microsoft.com/office/drawing/2014/main" val="3599403228"/>
                  </a:ext>
                </a:extLst>
              </a:tr>
            </a:tbl>
          </a:graphicData>
        </a:graphic>
      </p:graphicFrame>
      <p:sp>
        <p:nvSpPr>
          <p:cNvPr id="6" name="TextBox 5">
            <a:extLst>
              <a:ext uri="{FF2B5EF4-FFF2-40B4-BE49-F238E27FC236}">
                <a16:creationId xmlns:a16="http://schemas.microsoft.com/office/drawing/2014/main" id="{633FA31C-1AF5-56BE-E75D-EF8C71091A74}"/>
              </a:ext>
            </a:extLst>
          </p:cNvPr>
          <p:cNvSpPr txBox="1"/>
          <p:nvPr/>
        </p:nvSpPr>
        <p:spPr>
          <a:xfrm>
            <a:off x="5840111" y="4228586"/>
            <a:ext cx="4940199" cy="387798"/>
          </a:xfrm>
          <a:prstGeom prst="rect">
            <a:avLst/>
          </a:prstGeom>
          <a:noFill/>
        </p:spPr>
        <p:txBody>
          <a:bodyPr wrap="none" rtlCol="0">
            <a:spAutoFit/>
          </a:bodyPr>
          <a:lstStyle/>
          <a:p>
            <a:r>
              <a:rPr lang="en-GB" sz="1920" dirty="0">
                <a:latin typeface="Gill Sans MT" panose="020B0502020104020203" pitchFamily="34" charset="77"/>
              </a:rPr>
              <a:t>Example: Calculate the sensitivity and specificity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60922B1-466E-183C-47F1-2FF5AF57C336}"/>
                  </a:ext>
                </a:extLst>
              </p:cNvPr>
              <p:cNvSpPr txBox="1"/>
              <p:nvPr/>
            </p:nvSpPr>
            <p:spPr>
              <a:xfrm>
                <a:off x="1190298" y="1748720"/>
                <a:ext cx="3012748"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𝑆𝑒𝑛𝑠𝑒𝑡𝑖𝑣𝑖𝑡𝑦</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𝐹𝑁</m:t>
                          </m:r>
                        </m:den>
                      </m:f>
                    </m:oMath>
                  </m:oMathPara>
                </a14:m>
                <a:endParaRPr lang="en-GB" dirty="0"/>
              </a:p>
              <a:p>
                <a:endParaRPr lang="en-GB" dirty="0"/>
              </a:p>
            </p:txBody>
          </p:sp>
        </mc:Choice>
        <mc:Fallback xmlns="">
          <p:sp>
            <p:nvSpPr>
              <p:cNvPr id="7" name="TextBox 6">
                <a:extLst>
                  <a:ext uri="{FF2B5EF4-FFF2-40B4-BE49-F238E27FC236}">
                    <a16:creationId xmlns:a16="http://schemas.microsoft.com/office/drawing/2014/main" id="{760922B1-466E-183C-47F1-2FF5AF57C336}"/>
                  </a:ext>
                </a:extLst>
              </p:cNvPr>
              <p:cNvSpPr txBox="1">
                <a:spLocks noRot="1" noChangeAspect="1" noMove="1" noResize="1" noEditPoints="1" noAdjustHandles="1" noChangeArrowheads="1" noChangeShapeType="1" noTextEdit="1"/>
              </p:cNvSpPr>
              <p:nvPr/>
            </p:nvSpPr>
            <p:spPr>
              <a:xfrm>
                <a:off x="1190298" y="1748720"/>
                <a:ext cx="3012748" cy="892488"/>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FFEB1EB-C849-CCD3-EF49-37D2815DAA4F}"/>
                  </a:ext>
                </a:extLst>
              </p:cNvPr>
              <p:cNvSpPr txBox="1"/>
              <p:nvPr/>
            </p:nvSpPr>
            <p:spPr>
              <a:xfrm>
                <a:off x="1158241" y="2893507"/>
                <a:ext cx="2984728"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𝑆𝑝𝑒𝑐𝑖𝑓𝑖𝑐𝑖𝑡𝑦</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𝑇𝑁</m:t>
                          </m:r>
                        </m:num>
                        <m:den>
                          <m:r>
                            <a:rPr lang="en-GB" b="0" i="1" smtClean="0">
                              <a:latin typeface="Cambria Math" panose="02040503050406030204" pitchFamily="18" charset="0"/>
                            </a:rPr>
                            <m:t>𝑇𝑁</m:t>
                          </m:r>
                          <m:r>
                            <a:rPr lang="en-GB" b="0" i="1" smtClean="0">
                              <a:latin typeface="Cambria Math" panose="02040503050406030204" pitchFamily="18" charset="0"/>
                            </a:rPr>
                            <m:t>+</m:t>
                          </m:r>
                          <m:r>
                            <a:rPr lang="en-GB" b="0" i="1" smtClean="0">
                              <a:latin typeface="Cambria Math" panose="02040503050406030204" pitchFamily="18" charset="0"/>
                            </a:rPr>
                            <m:t>𝐹𝑃</m:t>
                          </m:r>
                        </m:den>
                      </m:f>
                    </m:oMath>
                  </m:oMathPara>
                </a14:m>
                <a:endParaRPr lang="en-GB" dirty="0"/>
              </a:p>
              <a:p>
                <a:endParaRPr lang="en-GB" dirty="0"/>
              </a:p>
            </p:txBody>
          </p:sp>
        </mc:Choice>
        <mc:Fallback xmlns="">
          <p:sp>
            <p:nvSpPr>
              <p:cNvPr id="8" name="TextBox 7">
                <a:extLst>
                  <a:ext uri="{FF2B5EF4-FFF2-40B4-BE49-F238E27FC236}">
                    <a16:creationId xmlns:a16="http://schemas.microsoft.com/office/drawing/2014/main" id="{7FFEB1EB-C849-CCD3-EF49-37D2815DAA4F}"/>
                  </a:ext>
                </a:extLst>
              </p:cNvPr>
              <p:cNvSpPr txBox="1">
                <a:spLocks noRot="1" noChangeAspect="1" noMove="1" noResize="1" noEditPoints="1" noAdjustHandles="1" noChangeArrowheads="1" noChangeShapeType="1" noTextEdit="1"/>
              </p:cNvSpPr>
              <p:nvPr/>
            </p:nvSpPr>
            <p:spPr>
              <a:xfrm>
                <a:off x="1158241" y="2893507"/>
                <a:ext cx="2984728" cy="892488"/>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81765566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E0CB0-9BD9-DFCC-F142-35AE33B171B4}"/>
              </a:ext>
            </a:extLst>
          </p:cNvPr>
          <p:cNvSpPr>
            <a:spLocks noGrp="1"/>
          </p:cNvSpPr>
          <p:nvPr>
            <p:ph type="title"/>
          </p:nvPr>
        </p:nvSpPr>
        <p:spPr/>
        <p:txBody>
          <a:bodyPr/>
          <a:lstStyle/>
          <a:p>
            <a:r>
              <a:rPr lang="en-GB" dirty="0"/>
              <a:t>Specificity and Sensitivity </a:t>
            </a:r>
          </a:p>
        </p:txBody>
      </p:sp>
      <p:sp>
        <p:nvSpPr>
          <p:cNvPr id="3" name="Slide Number Placeholder 2">
            <a:extLst>
              <a:ext uri="{FF2B5EF4-FFF2-40B4-BE49-F238E27FC236}">
                <a16:creationId xmlns:a16="http://schemas.microsoft.com/office/drawing/2014/main" id="{C2CF96AF-B9C1-058C-2FE8-E9B214380944}"/>
              </a:ext>
            </a:extLst>
          </p:cNvPr>
          <p:cNvSpPr>
            <a:spLocks noGrp="1"/>
          </p:cNvSpPr>
          <p:nvPr>
            <p:ph type="sldNum" sz="quarter" idx="12"/>
          </p:nvPr>
        </p:nvSpPr>
        <p:spPr/>
        <p:txBody>
          <a:bodyPr/>
          <a:lstStyle/>
          <a:p>
            <a:fld id="{BB98F552-A29D-2D4E-8192-F20670493719}" type="slidenum">
              <a:rPr lang="en-GB" altLang="en-US" smtClean="0"/>
              <a:pPr/>
              <a:t>53</a:t>
            </a:fld>
            <a:endParaRPr lang="en-GB" altLang="en-US" dirty="0"/>
          </a:p>
        </p:txBody>
      </p:sp>
      <p:pic>
        <p:nvPicPr>
          <p:cNvPr id="1026" name="Picture 2" descr="High sensitivity and low specificity">
            <a:extLst>
              <a:ext uri="{FF2B5EF4-FFF2-40B4-BE49-F238E27FC236}">
                <a16:creationId xmlns:a16="http://schemas.microsoft.com/office/drawing/2014/main" id="{AA2E221B-8E2F-5C26-3FC3-F82D83AC7D5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157"/>
          <a:stretch/>
        </p:blipFill>
        <p:spPr bwMode="auto">
          <a:xfrm>
            <a:off x="1234307" y="1700810"/>
            <a:ext cx="4589231" cy="35178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ow sensitivity and high specificity">
            <a:extLst>
              <a:ext uri="{FF2B5EF4-FFF2-40B4-BE49-F238E27FC236}">
                <a16:creationId xmlns:a16="http://schemas.microsoft.com/office/drawing/2014/main" id="{6A2AD227-E6CC-612D-A53E-59B45D32F4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172" y="1714978"/>
            <a:ext cx="4671521" cy="35036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AFAC9C2-8358-1D84-6D1A-A0650D934DCC}"/>
              </a:ext>
            </a:extLst>
          </p:cNvPr>
          <p:cNvSpPr txBox="1"/>
          <p:nvPr/>
        </p:nvSpPr>
        <p:spPr>
          <a:xfrm>
            <a:off x="609600" y="6471612"/>
            <a:ext cx="4212163" cy="246221"/>
          </a:xfrm>
          <a:prstGeom prst="rect">
            <a:avLst/>
          </a:prstGeom>
          <a:noFill/>
        </p:spPr>
        <p:txBody>
          <a:bodyPr wrap="square">
            <a:spAutoFit/>
          </a:bodyPr>
          <a:lstStyle/>
          <a:p>
            <a:r>
              <a:rPr lang="en-GB" sz="1000" dirty="0">
                <a:latin typeface="Gill Sans MT" panose="020B0502020104020203" pitchFamily="34" charset="77"/>
              </a:rPr>
              <a:t>Source: https://</a:t>
            </a:r>
            <a:r>
              <a:rPr lang="en-GB" sz="1000" dirty="0" err="1">
                <a:latin typeface="Gill Sans MT" panose="020B0502020104020203" pitchFamily="34" charset="77"/>
              </a:rPr>
              <a:t>en.wikipedia.org</a:t>
            </a:r>
            <a:r>
              <a:rPr lang="en-GB" sz="1000" dirty="0">
                <a:latin typeface="Gill Sans MT" panose="020B0502020104020203" pitchFamily="34" charset="77"/>
              </a:rPr>
              <a:t>/wiki/</a:t>
            </a:r>
            <a:r>
              <a:rPr lang="en-GB" sz="1000" dirty="0" err="1">
                <a:latin typeface="Gill Sans MT" panose="020B0502020104020203" pitchFamily="34" charset="77"/>
              </a:rPr>
              <a:t>Sensitivity_and_specificity</a:t>
            </a:r>
            <a:endParaRPr lang="en-GB" sz="1000" dirty="0">
              <a:latin typeface="Gill Sans MT" panose="020B0502020104020203" pitchFamily="34" charset="77"/>
            </a:endParaRPr>
          </a:p>
        </p:txBody>
      </p:sp>
    </p:spTree>
    <p:extLst>
      <p:ext uri="{BB962C8B-B14F-4D97-AF65-F5344CB8AC3E}">
        <p14:creationId xmlns:p14="http://schemas.microsoft.com/office/powerpoint/2010/main" val="32704960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C151F-1369-0196-8F31-BA0E09664A1B}"/>
              </a:ext>
            </a:extLst>
          </p:cNvPr>
          <p:cNvSpPr>
            <a:spLocks noGrp="1"/>
          </p:cNvSpPr>
          <p:nvPr>
            <p:ph type="title"/>
          </p:nvPr>
        </p:nvSpPr>
        <p:spPr/>
        <p:txBody>
          <a:bodyPr/>
          <a:lstStyle/>
          <a:p>
            <a:r>
              <a:rPr lang="en-GB" dirty="0"/>
              <a:t>Confusion matrix</a:t>
            </a:r>
          </a:p>
        </p:txBody>
      </p:sp>
      <p:sp>
        <p:nvSpPr>
          <p:cNvPr id="3" name="Slide Number Placeholder 2">
            <a:extLst>
              <a:ext uri="{FF2B5EF4-FFF2-40B4-BE49-F238E27FC236}">
                <a16:creationId xmlns:a16="http://schemas.microsoft.com/office/drawing/2014/main" id="{772F8F9F-44F8-E6C7-FBED-BF5E3BC5C465}"/>
              </a:ext>
            </a:extLst>
          </p:cNvPr>
          <p:cNvSpPr>
            <a:spLocks noGrp="1"/>
          </p:cNvSpPr>
          <p:nvPr>
            <p:ph type="sldNum" sz="quarter" idx="12"/>
          </p:nvPr>
        </p:nvSpPr>
        <p:spPr/>
        <p:txBody>
          <a:bodyPr/>
          <a:lstStyle/>
          <a:p>
            <a:fld id="{BB98F552-A29D-2D4E-8192-F20670493719}" type="slidenum">
              <a:rPr lang="en-GB" altLang="en-US" smtClean="0"/>
              <a:pPr/>
              <a:t>54</a:t>
            </a:fld>
            <a:endParaRPr lang="en-GB" altLang="en-US" dirty="0"/>
          </a:p>
        </p:txBody>
      </p:sp>
      <p:pic>
        <p:nvPicPr>
          <p:cNvPr id="7" name="Picture 6" descr="Chart&#10;&#10;Description automatically generated">
            <a:extLst>
              <a:ext uri="{FF2B5EF4-FFF2-40B4-BE49-F238E27FC236}">
                <a16:creationId xmlns:a16="http://schemas.microsoft.com/office/drawing/2014/main" id="{E77C2372-60C8-51E5-A4FD-80BD70B969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3337" y="1402080"/>
            <a:ext cx="4418164" cy="4273570"/>
          </a:xfrm>
          <a:prstGeom prst="rect">
            <a:avLst/>
          </a:prstGeom>
        </p:spPr>
      </p:pic>
    </p:spTree>
    <p:extLst>
      <p:ext uri="{BB962C8B-B14F-4D97-AF65-F5344CB8AC3E}">
        <p14:creationId xmlns:p14="http://schemas.microsoft.com/office/powerpoint/2010/main" val="20529239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1B67E-A9BB-FEE1-4CD8-8B0EF224F8DB}"/>
              </a:ext>
            </a:extLst>
          </p:cNvPr>
          <p:cNvSpPr>
            <a:spLocks noGrp="1"/>
          </p:cNvSpPr>
          <p:nvPr>
            <p:ph type="title"/>
          </p:nvPr>
        </p:nvSpPr>
        <p:spPr>
          <a:xfrm>
            <a:off x="1158240" y="-26987"/>
            <a:ext cx="9875520" cy="1143001"/>
          </a:xfrm>
        </p:spPr>
        <p:txBody>
          <a:bodyPr wrap="square" anchor="ctr">
            <a:normAutofit/>
          </a:bodyPr>
          <a:lstStyle/>
          <a:p>
            <a:r>
              <a:rPr lang="en-GB" dirty="0"/>
              <a:t>Youden’s index</a:t>
            </a:r>
          </a:p>
        </p:txBody>
      </p:sp>
      <p:sp>
        <p:nvSpPr>
          <p:cNvPr id="2055" name="Content Placeholder 2">
            <a:extLst>
              <a:ext uri="{FF2B5EF4-FFF2-40B4-BE49-F238E27FC236}">
                <a16:creationId xmlns:a16="http://schemas.microsoft.com/office/drawing/2014/main" id="{B856A6A8-DF3F-BB3E-C950-6A4F0345AC6B}"/>
              </a:ext>
            </a:extLst>
          </p:cNvPr>
          <p:cNvSpPr>
            <a:spLocks noGrp="1"/>
          </p:cNvSpPr>
          <p:nvPr>
            <p:ph sz="half" idx="1"/>
          </p:nvPr>
        </p:nvSpPr>
        <p:spPr>
          <a:xfrm>
            <a:off x="1158240" y="1268414"/>
            <a:ext cx="4846320" cy="2506225"/>
          </a:xfrm>
        </p:spPr>
        <p:txBody>
          <a:bodyPr/>
          <a:lstStyle/>
          <a:p>
            <a:r>
              <a:rPr lang="en-US" sz="2400" dirty="0"/>
              <a:t>Captures the “informed-ness” measure.</a:t>
            </a:r>
          </a:p>
          <a:p>
            <a:endParaRPr lang="en-US" sz="2400" dirty="0"/>
          </a:p>
          <a:p>
            <a:endParaRPr lang="en-GB" sz="2160" dirty="0">
              <a:solidFill>
                <a:srgbClr val="0E101A"/>
              </a:solidFill>
              <a:ea typeface="Times New Roman" panose="02020603050405020304" pitchFamily="18" charset="0"/>
            </a:endParaRPr>
          </a:p>
          <a:p>
            <a:endParaRPr lang="en-GB" sz="2160" dirty="0">
              <a:solidFill>
                <a:srgbClr val="0E101A"/>
              </a:solidFill>
              <a:ea typeface="Times New Roman" panose="02020603050405020304" pitchFamily="18" charset="0"/>
            </a:endParaRPr>
          </a:p>
          <a:p>
            <a:endParaRPr lang="en-GB" sz="2160" dirty="0">
              <a:solidFill>
                <a:srgbClr val="0E101A"/>
              </a:solidFill>
              <a:ea typeface="Times New Roman" panose="02020603050405020304" pitchFamily="18" charset="0"/>
            </a:endParaRPr>
          </a:p>
          <a:p>
            <a:endParaRPr lang="en-GB" sz="2160" dirty="0">
              <a:solidFill>
                <a:srgbClr val="0E101A"/>
              </a:solidFill>
              <a:ea typeface="Times New Roman" panose="02020603050405020304" pitchFamily="18" charset="0"/>
            </a:endParaRPr>
          </a:p>
          <a:p>
            <a:endParaRPr lang="en-GB" sz="2160" dirty="0">
              <a:solidFill>
                <a:srgbClr val="0E101A"/>
              </a:solidFill>
              <a:ea typeface="Times New Roman" panose="02020603050405020304" pitchFamily="18" charset="0"/>
            </a:endParaRPr>
          </a:p>
          <a:p>
            <a:r>
              <a:rPr lang="en-GB" sz="2160" dirty="0">
                <a:solidFill>
                  <a:srgbClr val="0E101A"/>
                </a:solidFill>
                <a:ea typeface="Times New Roman" panose="02020603050405020304" pitchFamily="18" charset="0"/>
              </a:rPr>
              <a:t>The classification thresholds can be selected to maximise informedness.</a:t>
            </a:r>
            <a:r>
              <a:rPr lang="en-GB" sz="1920" dirty="0"/>
              <a:t> </a:t>
            </a:r>
            <a:r>
              <a:rPr lang="en-US" sz="2400" dirty="0"/>
              <a:t> </a:t>
            </a:r>
          </a:p>
        </p:txBody>
      </p:sp>
      <p:pic>
        <p:nvPicPr>
          <p:cNvPr id="2050" name="Picture 2" descr="Chart&#10;&#10;Description automatically generated">
            <a:extLst>
              <a:ext uri="{FF2B5EF4-FFF2-40B4-BE49-F238E27FC236}">
                <a16:creationId xmlns:a16="http://schemas.microsoft.com/office/drawing/2014/main" id="{6745281E-AE6D-9318-9E68-BDBB93FEC94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87440" y="923122"/>
            <a:ext cx="4846320" cy="4664584"/>
          </a:xfrm>
          <a:prstGeom prst="rect">
            <a:avLst/>
          </a:prstGeom>
          <a:solidFill>
            <a:srgbClr val="FFFFFF"/>
          </a:solidFill>
        </p:spPr>
      </p:pic>
      <p:sp>
        <p:nvSpPr>
          <p:cNvPr id="4" name="Slide Number Placeholder 3">
            <a:extLst>
              <a:ext uri="{FF2B5EF4-FFF2-40B4-BE49-F238E27FC236}">
                <a16:creationId xmlns:a16="http://schemas.microsoft.com/office/drawing/2014/main" id="{21F0D161-FFD2-3A8F-B586-3C6BB5C8B6E7}"/>
              </a:ext>
            </a:extLst>
          </p:cNvPr>
          <p:cNvSpPr>
            <a:spLocks noGrp="1"/>
          </p:cNvSpPr>
          <p:nvPr>
            <p:ph type="sldNum" sz="quarter" idx="12"/>
          </p:nvPr>
        </p:nvSpPr>
        <p:spPr>
          <a:xfrm>
            <a:off x="8473440" y="6381751"/>
            <a:ext cx="2560320" cy="339725"/>
          </a:xfrm>
        </p:spPr>
        <p:txBody>
          <a:bodyPr wrap="square" anchor="t">
            <a:normAutofit/>
          </a:bodyPr>
          <a:lstStyle/>
          <a:p>
            <a:pPr>
              <a:spcAft>
                <a:spcPts val="720"/>
              </a:spcAft>
            </a:pPr>
            <a:fld id="{44E22EE9-B8A0-0641-9265-052CFE9B95A7}" type="slidenum">
              <a:rPr lang="en-GB" altLang="en-US" smtClean="0"/>
              <a:pPr>
                <a:spcAft>
                  <a:spcPts val="720"/>
                </a:spcAft>
              </a:pPr>
              <a:t>55</a:t>
            </a:fld>
            <a:endParaRPr lang="en-GB" altLang="en-US"/>
          </a:p>
        </p:txBody>
      </p:sp>
      <p:sp>
        <p:nvSpPr>
          <p:cNvPr id="6" name="TextBox 5">
            <a:extLst>
              <a:ext uri="{FF2B5EF4-FFF2-40B4-BE49-F238E27FC236}">
                <a16:creationId xmlns:a16="http://schemas.microsoft.com/office/drawing/2014/main" id="{B131CCCD-CFEB-8161-E268-11F98717C0F7}"/>
              </a:ext>
            </a:extLst>
          </p:cNvPr>
          <p:cNvSpPr txBox="1"/>
          <p:nvPr/>
        </p:nvSpPr>
        <p:spPr>
          <a:xfrm>
            <a:off x="7132915" y="5555540"/>
            <a:ext cx="3607296" cy="646331"/>
          </a:xfrm>
          <a:prstGeom prst="rect">
            <a:avLst/>
          </a:prstGeom>
          <a:noFill/>
        </p:spPr>
        <p:txBody>
          <a:bodyPr wrap="square">
            <a:spAutoFit/>
          </a:bodyPr>
          <a:lstStyle/>
          <a:p>
            <a:r>
              <a:rPr lang="en-GB" sz="1200" dirty="0">
                <a:solidFill>
                  <a:srgbClr val="202122"/>
                </a:solidFill>
              </a:rPr>
              <a:t>Solid red: ROC curve; Dashed line: Chance level; Vertical line (J) maximum value of Youden's index for the ROC </a:t>
            </a:r>
            <a:endParaRPr lang="en-GB" sz="12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E1F1989-278F-3C05-754C-010A5963FC84}"/>
                  </a:ext>
                </a:extLst>
              </p:cNvPr>
              <p:cNvSpPr txBox="1"/>
              <p:nvPr/>
            </p:nvSpPr>
            <p:spPr>
              <a:xfrm>
                <a:off x="1250856" y="2503830"/>
                <a:ext cx="4661088" cy="64633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𝐽</m:t>
                      </m:r>
                      <m:r>
                        <a:rPr lang="en-GB" b="0" i="1" smtClean="0">
                          <a:latin typeface="Cambria Math" panose="02040503050406030204" pitchFamily="18" charset="0"/>
                        </a:rPr>
                        <m:t>= </m:t>
                      </m:r>
                      <m:r>
                        <a:rPr lang="en-GB" b="0" i="1" smtClean="0">
                          <a:latin typeface="Cambria Math" panose="02040503050406030204" pitchFamily="18" charset="0"/>
                        </a:rPr>
                        <m:t>𝑆𝑒𝑛𝑠𝑒𝑡𝑖𝑣𝑖𝑡𝑦</m:t>
                      </m:r>
                      <m:r>
                        <a:rPr lang="en-GB" b="0" i="1" smtClean="0">
                          <a:latin typeface="Cambria Math" panose="02040503050406030204" pitchFamily="18" charset="0"/>
                        </a:rPr>
                        <m:t>+</m:t>
                      </m:r>
                      <m:r>
                        <a:rPr lang="en-GB" b="0" i="1" smtClean="0">
                          <a:latin typeface="Cambria Math" panose="02040503050406030204" pitchFamily="18" charset="0"/>
                        </a:rPr>
                        <m:t>𝑆𝑝𝑒𝑐𝑖𝑓𝑖𝑐𝑖𝑡𝑦</m:t>
                      </m:r>
                      <m:r>
                        <a:rPr lang="en-GB" b="0" i="1" smtClean="0">
                          <a:latin typeface="Cambria Math" panose="02040503050406030204" pitchFamily="18" charset="0"/>
                        </a:rPr>
                        <m:t> −1</m:t>
                      </m:r>
                    </m:oMath>
                  </m:oMathPara>
                </a14:m>
                <a:endParaRPr lang="en-GB" dirty="0"/>
              </a:p>
              <a:p>
                <a:endParaRPr lang="en-GB" dirty="0"/>
              </a:p>
            </p:txBody>
          </p:sp>
        </mc:Choice>
        <mc:Fallback xmlns="">
          <p:sp>
            <p:nvSpPr>
              <p:cNvPr id="7" name="TextBox 6">
                <a:extLst>
                  <a:ext uri="{FF2B5EF4-FFF2-40B4-BE49-F238E27FC236}">
                    <a16:creationId xmlns:a16="http://schemas.microsoft.com/office/drawing/2014/main" id="{DE1F1989-278F-3C05-754C-010A5963FC84}"/>
                  </a:ext>
                </a:extLst>
              </p:cNvPr>
              <p:cNvSpPr txBox="1">
                <a:spLocks noRot="1" noChangeAspect="1" noMove="1" noResize="1" noEditPoints="1" noAdjustHandles="1" noChangeArrowheads="1" noChangeShapeType="1" noTextEdit="1"/>
              </p:cNvSpPr>
              <p:nvPr/>
            </p:nvSpPr>
            <p:spPr>
              <a:xfrm>
                <a:off x="1250856" y="2503830"/>
                <a:ext cx="4661088" cy="646331"/>
              </a:xfrm>
              <a:prstGeom prst="rect">
                <a:avLst/>
              </a:prstGeom>
              <a:blipFill>
                <a:blip r:embed="rId3"/>
                <a:stretch>
                  <a:fillRect/>
                </a:stretch>
              </a:blipFill>
            </p:spPr>
            <p:txBody>
              <a:bodyPr/>
              <a:lstStyle/>
              <a:p>
                <a:r>
                  <a:rPr lang="en-GB">
                    <a:noFill/>
                  </a:rPr>
                  <a:t> </a:t>
                </a:r>
              </a:p>
            </p:txBody>
          </p:sp>
        </mc:Fallback>
      </mc:AlternateContent>
      <p:sp>
        <p:nvSpPr>
          <p:cNvPr id="9" name="TextBox 8">
            <a:extLst>
              <a:ext uri="{FF2B5EF4-FFF2-40B4-BE49-F238E27FC236}">
                <a16:creationId xmlns:a16="http://schemas.microsoft.com/office/drawing/2014/main" id="{4A16D56A-3331-F045-8CBA-07E163C1C309}"/>
              </a:ext>
            </a:extLst>
          </p:cNvPr>
          <p:cNvSpPr txBox="1"/>
          <p:nvPr/>
        </p:nvSpPr>
        <p:spPr>
          <a:xfrm>
            <a:off x="1276484" y="6414569"/>
            <a:ext cx="5486400" cy="258532"/>
          </a:xfrm>
          <a:prstGeom prst="rect">
            <a:avLst/>
          </a:prstGeom>
          <a:noFill/>
        </p:spPr>
        <p:txBody>
          <a:bodyPr wrap="square">
            <a:spAutoFit/>
          </a:bodyPr>
          <a:lstStyle/>
          <a:p>
            <a:r>
              <a:rPr lang="en-GB" sz="1080" dirty="0"/>
              <a:t>Source: https://</a:t>
            </a:r>
            <a:r>
              <a:rPr lang="en-GB" sz="1080" dirty="0" err="1"/>
              <a:t>en.wikipedia.org</a:t>
            </a:r>
            <a:r>
              <a:rPr lang="en-GB" sz="1080" dirty="0"/>
              <a:t>/wiki/Youden%27s_J_statistic</a:t>
            </a:r>
          </a:p>
        </p:txBody>
      </p:sp>
    </p:spTree>
    <p:extLst>
      <p:ext uri="{BB962C8B-B14F-4D97-AF65-F5344CB8AC3E}">
        <p14:creationId xmlns:p14="http://schemas.microsoft.com/office/powerpoint/2010/main" val="117728267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DE95A-5BE8-E91B-21E9-88D53314916D}"/>
              </a:ext>
            </a:extLst>
          </p:cNvPr>
          <p:cNvSpPr>
            <a:spLocks noGrp="1"/>
          </p:cNvSpPr>
          <p:nvPr>
            <p:ph type="title"/>
          </p:nvPr>
        </p:nvSpPr>
        <p:spPr/>
        <p:txBody>
          <a:bodyPr/>
          <a:lstStyle/>
          <a:p>
            <a:r>
              <a:rPr lang="en-GB" dirty="0"/>
              <a:t>Probability calibration</a:t>
            </a:r>
          </a:p>
        </p:txBody>
      </p:sp>
      <p:sp>
        <p:nvSpPr>
          <p:cNvPr id="3" name="Content Placeholder 2">
            <a:extLst>
              <a:ext uri="{FF2B5EF4-FFF2-40B4-BE49-F238E27FC236}">
                <a16:creationId xmlns:a16="http://schemas.microsoft.com/office/drawing/2014/main" id="{802E3705-453B-408D-6DAB-C12C20CB140A}"/>
              </a:ext>
            </a:extLst>
          </p:cNvPr>
          <p:cNvSpPr>
            <a:spLocks noGrp="1"/>
          </p:cNvSpPr>
          <p:nvPr>
            <p:ph idx="1"/>
          </p:nvPr>
        </p:nvSpPr>
        <p:spPr/>
        <p:txBody>
          <a:bodyPr/>
          <a:lstStyle/>
          <a:p>
            <a:r>
              <a:rPr lang="en-GB" b="0" i="0" u="none" strike="noStrike" dirty="0">
                <a:solidFill>
                  <a:srgbClr val="212529"/>
                </a:solidFill>
                <a:effectLst/>
              </a:rPr>
              <a:t>Sometimes, in classification, you may want to predict the class label as well as the probability of the label for that class. </a:t>
            </a:r>
          </a:p>
          <a:p>
            <a:r>
              <a:rPr lang="en-GB" b="0" i="0" u="none" strike="noStrike" dirty="0">
                <a:solidFill>
                  <a:srgbClr val="212529"/>
                </a:solidFill>
                <a:effectLst/>
              </a:rPr>
              <a:t>This probability will provide an estimate/measure of the prediction. </a:t>
            </a:r>
          </a:p>
          <a:p>
            <a:r>
              <a:rPr lang="en-GB" b="0" i="0" u="none" strike="noStrike" dirty="0">
                <a:solidFill>
                  <a:srgbClr val="212529"/>
                </a:solidFill>
                <a:effectLst/>
              </a:rPr>
              <a:t>You need to be aware that some models can </a:t>
            </a:r>
            <a:r>
              <a:rPr lang="en-GB" dirty="0">
                <a:solidFill>
                  <a:srgbClr val="212529"/>
                </a:solidFill>
              </a:rPr>
              <a:t>produce poor estimates of class probabilities (e.g., </a:t>
            </a:r>
            <a:r>
              <a:rPr lang="en-GB" b="0" i="0" u="none" strike="noStrike" dirty="0">
                <a:solidFill>
                  <a:srgbClr val="212529"/>
                </a:solidFill>
                <a:effectLst/>
              </a:rPr>
              <a:t>Naïve Bayes). </a:t>
            </a:r>
          </a:p>
          <a:p>
            <a:r>
              <a:rPr lang="en-GB" dirty="0">
                <a:solidFill>
                  <a:srgbClr val="212529"/>
                </a:solidFill>
              </a:rPr>
              <a:t>Calibrating a classifier consists of fitting a regressor (called a calibrator) that maps the output of the classifier to a calibrated probability in [0, 1].</a:t>
            </a:r>
          </a:p>
          <a:p>
            <a:pPr algn="l"/>
            <a:r>
              <a:rPr lang="en-GB" dirty="0">
                <a:solidFill>
                  <a:srgbClr val="212529"/>
                </a:solidFill>
              </a:rPr>
              <a:t>Denoting the output of the classifier for a given sample by f</a:t>
            </a:r>
            <a:r>
              <a:rPr lang="en-GB" baseline="-25000" dirty="0">
                <a:solidFill>
                  <a:srgbClr val="212529"/>
                </a:solidFill>
              </a:rPr>
              <a:t>i</a:t>
            </a:r>
            <a:r>
              <a:rPr lang="en-GB" dirty="0">
                <a:solidFill>
                  <a:srgbClr val="212529"/>
                </a:solidFill>
              </a:rPr>
              <a:t>, the calibrator tries to predict p(</a:t>
            </a:r>
            <a:r>
              <a:rPr lang="en-GB" dirty="0" err="1">
                <a:solidFill>
                  <a:srgbClr val="212529"/>
                </a:solidFill>
              </a:rPr>
              <a:t>y</a:t>
            </a:r>
            <a:r>
              <a:rPr lang="en-GB" baseline="-25000" dirty="0" err="1">
                <a:solidFill>
                  <a:srgbClr val="212529"/>
                </a:solidFill>
              </a:rPr>
              <a:t>i</a:t>
            </a:r>
            <a:r>
              <a:rPr lang="en-GB" dirty="0">
                <a:solidFill>
                  <a:srgbClr val="212529"/>
                </a:solidFill>
              </a:rPr>
              <a:t>=1|f</a:t>
            </a:r>
            <a:r>
              <a:rPr lang="en-GB" baseline="-25000" dirty="0">
                <a:solidFill>
                  <a:srgbClr val="212529"/>
                </a:solidFill>
              </a:rPr>
              <a:t>i</a:t>
            </a:r>
            <a:r>
              <a:rPr lang="en-GB" dirty="0">
                <a:solidFill>
                  <a:srgbClr val="212529"/>
                </a:solidFill>
              </a:rPr>
              <a:t>).</a:t>
            </a:r>
          </a:p>
          <a:p>
            <a:r>
              <a:rPr lang="en-GB" dirty="0"/>
              <a:t>See: https://scikit-</a:t>
            </a:r>
            <a:r>
              <a:rPr lang="en-GB" dirty="0" err="1"/>
              <a:t>learn.org</a:t>
            </a:r>
            <a:r>
              <a:rPr lang="en-GB" dirty="0"/>
              <a:t>/stable/modules/</a:t>
            </a:r>
            <a:r>
              <a:rPr lang="en-GB" dirty="0" err="1"/>
              <a:t>calibration.html</a:t>
            </a:r>
            <a:br>
              <a:rPr lang="en-GB" dirty="0"/>
            </a:br>
            <a:r>
              <a:rPr lang="en-GB" dirty="0">
                <a:solidFill>
                  <a:srgbClr val="212529"/>
                </a:solidFill>
              </a:rPr>
              <a:t> </a:t>
            </a:r>
          </a:p>
        </p:txBody>
      </p:sp>
      <p:sp>
        <p:nvSpPr>
          <p:cNvPr id="4" name="Slide Number Placeholder 3">
            <a:extLst>
              <a:ext uri="{FF2B5EF4-FFF2-40B4-BE49-F238E27FC236}">
                <a16:creationId xmlns:a16="http://schemas.microsoft.com/office/drawing/2014/main" id="{31F34981-0836-0961-7F3D-5685FBE981C4}"/>
              </a:ext>
            </a:extLst>
          </p:cNvPr>
          <p:cNvSpPr>
            <a:spLocks noGrp="1"/>
          </p:cNvSpPr>
          <p:nvPr>
            <p:ph type="sldNum" sz="quarter" idx="12"/>
          </p:nvPr>
        </p:nvSpPr>
        <p:spPr/>
        <p:txBody>
          <a:bodyPr/>
          <a:lstStyle/>
          <a:p>
            <a:fld id="{44E22EE9-B8A0-0641-9265-052CFE9B95A7}" type="slidenum">
              <a:rPr lang="en-GB" altLang="en-US" smtClean="0"/>
              <a:pPr/>
              <a:t>56</a:t>
            </a:fld>
            <a:endParaRPr lang="en-GB" altLang="en-US" dirty="0"/>
          </a:p>
        </p:txBody>
      </p:sp>
    </p:spTree>
    <p:extLst>
      <p:ext uri="{BB962C8B-B14F-4D97-AF65-F5344CB8AC3E}">
        <p14:creationId xmlns:p14="http://schemas.microsoft.com/office/powerpoint/2010/main" val="27414676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DA8AE-B546-379E-4A9E-EB44434FD7B6}"/>
              </a:ext>
            </a:extLst>
          </p:cNvPr>
          <p:cNvSpPr>
            <a:spLocks noGrp="1"/>
          </p:cNvSpPr>
          <p:nvPr>
            <p:ph type="title"/>
          </p:nvPr>
        </p:nvSpPr>
        <p:spPr/>
        <p:txBody>
          <a:bodyPr/>
          <a:lstStyle/>
          <a:p>
            <a:r>
              <a:rPr lang="en-GB" dirty="0"/>
              <a:t>All in one place</a:t>
            </a:r>
          </a:p>
        </p:txBody>
      </p:sp>
      <p:sp>
        <p:nvSpPr>
          <p:cNvPr id="4" name="Slide Number Placeholder 3">
            <a:extLst>
              <a:ext uri="{FF2B5EF4-FFF2-40B4-BE49-F238E27FC236}">
                <a16:creationId xmlns:a16="http://schemas.microsoft.com/office/drawing/2014/main" id="{E2AFF361-49E0-E910-78E2-9A2A168B6340}"/>
              </a:ext>
            </a:extLst>
          </p:cNvPr>
          <p:cNvSpPr>
            <a:spLocks noGrp="1"/>
          </p:cNvSpPr>
          <p:nvPr>
            <p:ph type="sldNum" sz="quarter" idx="12"/>
          </p:nvPr>
        </p:nvSpPr>
        <p:spPr/>
        <p:txBody>
          <a:bodyPr/>
          <a:lstStyle/>
          <a:p>
            <a:fld id="{44E22EE9-B8A0-0641-9265-052CFE9B95A7}" type="slidenum">
              <a:rPr lang="en-GB" altLang="en-US" smtClean="0"/>
              <a:pPr/>
              <a:t>57</a:t>
            </a:fld>
            <a:endParaRPr lang="en-GB" altLang="en-US"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BFED662-1031-F4EC-2B95-27041580C63F}"/>
                  </a:ext>
                </a:extLst>
              </p:cNvPr>
              <p:cNvSpPr txBox="1"/>
              <p:nvPr/>
            </p:nvSpPr>
            <p:spPr>
              <a:xfrm>
                <a:off x="1158240" y="1527989"/>
                <a:ext cx="2780313"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𝑃𝑟𝑒𝑐𝑖𝑠𝑖𝑜𝑛</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𝐹𝑃</m:t>
                          </m:r>
                        </m:den>
                      </m:f>
                    </m:oMath>
                  </m:oMathPara>
                </a14:m>
                <a:endParaRPr lang="en-GB" dirty="0"/>
              </a:p>
              <a:p>
                <a:endParaRPr lang="en-GB" dirty="0"/>
              </a:p>
            </p:txBody>
          </p:sp>
        </mc:Choice>
        <mc:Fallback xmlns="">
          <p:sp>
            <p:nvSpPr>
              <p:cNvPr id="5" name="TextBox 4">
                <a:extLst>
                  <a:ext uri="{FF2B5EF4-FFF2-40B4-BE49-F238E27FC236}">
                    <a16:creationId xmlns:a16="http://schemas.microsoft.com/office/drawing/2014/main" id="{4BFED662-1031-F4EC-2B95-27041580C63F}"/>
                  </a:ext>
                </a:extLst>
              </p:cNvPr>
              <p:cNvSpPr txBox="1">
                <a:spLocks noRot="1" noChangeAspect="1" noMove="1" noResize="1" noEditPoints="1" noAdjustHandles="1" noChangeArrowheads="1" noChangeShapeType="1" noTextEdit="1"/>
              </p:cNvSpPr>
              <p:nvPr/>
            </p:nvSpPr>
            <p:spPr>
              <a:xfrm>
                <a:off x="1158240" y="1527989"/>
                <a:ext cx="2780313" cy="892488"/>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05ACDEF-5FFB-54FA-6FDB-9BE58A5F9A96}"/>
                  </a:ext>
                </a:extLst>
              </p:cNvPr>
              <p:cNvSpPr txBox="1"/>
              <p:nvPr/>
            </p:nvSpPr>
            <p:spPr>
              <a:xfrm>
                <a:off x="1158240" y="4038294"/>
                <a:ext cx="3012748"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𝑆𝑒𝑛𝑠𝑒𝑡𝑖𝑣𝑖𝑡𝑦</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𝐹𝑁</m:t>
                          </m:r>
                        </m:den>
                      </m:f>
                    </m:oMath>
                  </m:oMathPara>
                </a14:m>
                <a:endParaRPr lang="en-GB" dirty="0"/>
              </a:p>
              <a:p>
                <a:endParaRPr lang="en-GB" dirty="0"/>
              </a:p>
            </p:txBody>
          </p:sp>
        </mc:Choice>
        <mc:Fallback xmlns="">
          <p:sp>
            <p:nvSpPr>
              <p:cNvPr id="6" name="TextBox 5">
                <a:extLst>
                  <a:ext uri="{FF2B5EF4-FFF2-40B4-BE49-F238E27FC236}">
                    <a16:creationId xmlns:a16="http://schemas.microsoft.com/office/drawing/2014/main" id="{305ACDEF-5FFB-54FA-6FDB-9BE58A5F9A96}"/>
                  </a:ext>
                </a:extLst>
              </p:cNvPr>
              <p:cNvSpPr txBox="1">
                <a:spLocks noRot="1" noChangeAspect="1" noMove="1" noResize="1" noEditPoints="1" noAdjustHandles="1" noChangeArrowheads="1" noChangeShapeType="1" noTextEdit="1"/>
              </p:cNvSpPr>
              <p:nvPr/>
            </p:nvSpPr>
            <p:spPr>
              <a:xfrm>
                <a:off x="1158240" y="4038294"/>
                <a:ext cx="3012748" cy="892488"/>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2FC0F96-A365-471E-8416-7CD5E7D59B56}"/>
                  </a:ext>
                </a:extLst>
              </p:cNvPr>
              <p:cNvSpPr txBox="1"/>
              <p:nvPr/>
            </p:nvSpPr>
            <p:spPr>
              <a:xfrm>
                <a:off x="1140325" y="5109279"/>
                <a:ext cx="2984728"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𝑆𝑝𝑒𝑐𝑖𝑓𝑖𝑐𝑖𝑡𝑦</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𝑇𝑁</m:t>
                          </m:r>
                        </m:num>
                        <m:den>
                          <m:r>
                            <a:rPr lang="en-GB" b="0" i="1" smtClean="0">
                              <a:latin typeface="Cambria Math" panose="02040503050406030204" pitchFamily="18" charset="0"/>
                            </a:rPr>
                            <m:t>𝑇𝑁</m:t>
                          </m:r>
                          <m:r>
                            <a:rPr lang="en-GB" b="0" i="1" smtClean="0">
                              <a:latin typeface="Cambria Math" panose="02040503050406030204" pitchFamily="18" charset="0"/>
                            </a:rPr>
                            <m:t>+</m:t>
                          </m:r>
                          <m:r>
                            <a:rPr lang="en-GB" b="0" i="1" smtClean="0">
                              <a:latin typeface="Cambria Math" panose="02040503050406030204" pitchFamily="18" charset="0"/>
                            </a:rPr>
                            <m:t>𝐹𝑃</m:t>
                          </m:r>
                        </m:den>
                      </m:f>
                    </m:oMath>
                  </m:oMathPara>
                </a14:m>
                <a:endParaRPr lang="en-GB" dirty="0"/>
              </a:p>
              <a:p>
                <a:endParaRPr lang="en-GB" dirty="0"/>
              </a:p>
            </p:txBody>
          </p:sp>
        </mc:Choice>
        <mc:Fallback xmlns="">
          <p:sp>
            <p:nvSpPr>
              <p:cNvPr id="7" name="TextBox 6">
                <a:extLst>
                  <a:ext uri="{FF2B5EF4-FFF2-40B4-BE49-F238E27FC236}">
                    <a16:creationId xmlns:a16="http://schemas.microsoft.com/office/drawing/2014/main" id="{F2FC0F96-A365-471E-8416-7CD5E7D59B56}"/>
                  </a:ext>
                </a:extLst>
              </p:cNvPr>
              <p:cNvSpPr txBox="1">
                <a:spLocks noRot="1" noChangeAspect="1" noMove="1" noResize="1" noEditPoints="1" noAdjustHandles="1" noChangeArrowheads="1" noChangeShapeType="1" noTextEdit="1"/>
              </p:cNvSpPr>
              <p:nvPr/>
            </p:nvSpPr>
            <p:spPr>
              <a:xfrm>
                <a:off x="1140325" y="5109279"/>
                <a:ext cx="2984728" cy="892488"/>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C2B2E7F-CF94-04F9-C5CC-3A2F15344C04}"/>
                  </a:ext>
                </a:extLst>
              </p:cNvPr>
              <p:cNvSpPr txBox="1"/>
              <p:nvPr/>
            </p:nvSpPr>
            <p:spPr>
              <a:xfrm>
                <a:off x="1158240" y="2519227"/>
                <a:ext cx="2406877"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𝑅𝑒𝑐𝑎𝑙𝑙</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𝐹𝑁</m:t>
                          </m:r>
                        </m:den>
                      </m:f>
                    </m:oMath>
                  </m:oMathPara>
                </a14:m>
                <a:endParaRPr lang="en-GB" dirty="0"/>
              </a:p>
              <a:p>
                <a:endParaRPr lang="en-GB" dirty="0"/>
              </a:p>
            </p:txBody>
          </p:sp>
        </mc:Choice>
        <mc:Fallback xmlns="">
          <p:sp>
            <p:nvSpPr>
              <p:cNvPr id="8" name="TextBox 7">
                <a:extLst>
                  <a:ext uri="{FF2B5EF4-FFF2-40B4-BE49-F238E27FC236}">
                    <a16:creationId xmlns:a16="http://schemas.microsoft.com/office/drawing/2014/main" id="{8C2B2E7F-CF94-04F9-C5CC-3A2F15344C04}"/>
                  </a:ext>
                </a:extLst>
              </p:cNvPr>
              <p:cNvSpPr txBox="1">
                <a:spLocks noRot="1" noChangeAspect="1" noMove="1" noResize="1" noEditPoints="1" noAdjustHandles="1" noChangeArrowheads="1" noChangeShapeType="1" noTextEdit="1"/>
              </p:cNvSpPr>
              <p:nvPr/>
            </p:nvSpPr>
            <p:spPr>
              <a:xfrm>
                <a:off x="1158240" y="2519227"/>
                <a:ext cx="2406877" cy="892488"/>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9464935-E6B5-A9F7-5EFC-02B18AD81FBE}"/>
                  </a:ext>
                </a:extLst>
              </p:cNvPr>
              <p:cNvSpPr txBox="1"/>
              <p:nvPr/>
            </p:nvSpPr>
            <p:spPr>
              <a:xfrm>
                <a:off x="5231905" y="1497319"/>
                <a:ext cx="3698448" cy="89986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𝐹</m:t>
                      </m:r>
                      <m:r>
                        <a:rPr lang="en-GB" b="0" i="1" baseline="-25000" smtClean="0">
                          <a:latin typeface="Cambria Math" panose="02040503050406030204" pitchFamily="18" charset="0"/>
                        </a:rPr>
                        <m:t>1</m:t>
                      </m:r>
                      <m:r>
                        <a:rPr lang="en-GB" b="0" i="1" smtClean="0">
                          <a:latin typeface="Cambria Math" panose="02040503050406030204" pitchFamily="18" charset="0"/>
                        </a:rPr>
                        <m:t>=2 </m:t>
                      </m:r>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𝑃𝑟𝑒𝑐𝑖𝑠𝑖𝑜𝑛</m:t>
                          </m:r>
                          <m:r>
                            <a:rPr lang="en-GB" b="0" i="1" smtClean="0">
                              <a:latin typeface="Cambria Math" panose="02040503050406030204" pitchFamily="18" charset="0"/>
                            </a:rPr>
                            <m:t> × </m:t>
                          </m:r>
                          <m:r>
                            <a:rPr lang="en-GB" b="0" i="1" smtClean="0">
                              <a:latin typeface="Cambria Math" panose="02040503050406030204" pitchFamily="18" charset="0"/>
                            </a:rPr>
                            <m:t>𝑅𝑒𝑐𝑎𝑙𝑙</m:t>
                          </m:r>
                        </m:num>
                        <m:den>
                          <m:r>
                            <a:rPr lang="en-GB" b="0" i="1" smtClean="0">
                              <a:latin typeface="Cambria Math" panose="02040503050406030204" pitchFamily="18" charset="0"/>
                            </a:rPr>
                            <m:t>𝑃𝑟𝑒𝑐𝑖𝑠𝑖𝑜𝑛</m:t>
                          </m:r>
                          <m:r>
                            <a:rPr lang="en-GB" b="0" i="1" smtClean="0">
                              <a:latin typeface="Cambria Math" panose="02040503050406030204" pitchFamily="18" charset="0"/>
                            </a:rPr>
                            <m:t> +</m:t>
                          </m:r>
                          <m:r>
                            <a:rPr lang="en-GB" b="0" i="1" smtClean="0">
                              <a:latin typeface="Cambria Math" panose="02040503050406030204" pitchFamily="18" charset="0"/>
                            </a:rPr>
                            <m:t>𝑅𝑒𝑐𝑎𝑙𝑙</m:t>
                          </m:r>
                        </m:den>
                      </m:f>
                    </m:oMath>
                  </m:oMathPara>
                </a14:m>
                <a:endParaRPr lang="en-GB" dirty="0"/>
              </a:p>
              <a:p>
                <a:endParaRPr lang="en-GB" dirty="0"/>
              </a:p>
            </p:txBody>
          </p:sp>
        </mc:Choice>
        <mc:Fallback xmlns="">
          <p:sp>
            <p:nvSpPr>
              <p:cNvPr id="9" name="TextBox 8">
                <a:extLst>
                  <a:ext uri="{FF2B5EF4-FFF2-40B4-BE49-F238E27FC236}">
                    <a16:creationId xmlns:a16="http://schemas.microsoft.com/office/drawing/2014/main" id="{E9464935-E6B5-A9F7-5EFC-02B18AD81FBE}"/>
                  </a:ext>
                </a:extLst>
              </p:cNvPr>
              <p:cNvSpPr txBox="1">
                <a:spLocks noRot="1" noChangeAspect="1" noMove="1" noResize="1" noEditPoints="1" noAdjustHandles="1" noChangeArrowheads="1" noChangeShapeType="1" noTextEdit="1"/>
              </p:cNvSpPr>
              <p:nvPr/>
            </p:nvSpPr>
            <p:spPr>
              <a:xfrm>
                <a:off x="5231905" y="1497319"/>
                <a:ext cx="3698448" cy="899862"/>
              </a:xfrm>
              <a:prstGeom prst="rect">
                <a:avLst/>
              </a:prstGeom>
              <a:blipFill>
                <a:blip r:embed="rId6"/>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82146DF-A58B-7342-420C-20D79EA45305}"/>
                  </a:ext>
                </a:extLst>
              </p:cNvPr>
              <p:cNvSpPr txBox="1"/>
              <p:nvPr/>
            </p:nvSpPr>
            <p:spPr>
              <a:xfrm>
                <a:off x="5323390" y="2598974"/>
                <a:ext cx="4010650" cy="8924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𝐴𝑐𝑐𝑢𝑟𝑎𝑐𝑦</m:t>
                      </m:r>
                      <m:r>
                        <a:rPr lang="en-GB" b="0" i="1" smtClean="0">
                          <a:latin typeface="Cambria Math" panose="02040503050406030204" pitchFamily="18" charset="0"/>
                        </a:rPr>
                        <m:t>= </m:t>
                      </m:r>
                      <m:f>
                        <m:fPr>
                          <m:ctrlPr>
                            <a:rPr lang="en-GB" b="0" i="1" smtClean="0">
                              <a:latin typeface="Cambria Math" panose="02040503050406030204" pitchFamily="18" charset="0"/>
                            </a:rPr>
                          </m:ctrlPr>
                        </m:fPr>
                        <m:num>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𝑇𝑁</m:t>
                          </m:r>
                        </m:num>
                        <m:den>
                          <m:r>
                            <a:rPr lang="en-GB" b="0" i="1" smtClean="0">
                              <a:latin typeface="Cambria Math" panose="02040503050406030204" pitchFamily="18" charset="0"/>
                            </a:rPr>
                            <m:t>𝑇𝑃</m:t>
                          </m:r>
                          <m:r>
                            <a:rPr lang="en-GB" b="0" i="1" smtClean="0">
                              <a:latin typeface="Cambria Math" panose="02040503050406030204" pitchFamily="18" charset="0"/>
                            </a:rPr>
                            <m:t>+</m:t>
                          </m:r>
                          <m:r>
                            <a:rPr lang="en-GB" b="0" i="1" smtClean="0">
                              <a:latin typeface="Cambria Math" panose="02040503050406030204" pitchFamily="18" charset="0"/>
                            </a:rPr>
                            <m:t>𝑇𝑁</m:t>
                          </m:r>
                          <m:r>
                            <a:rPr lang="en-GB" b="0" i="1" smtClean="0">
                              <a:latin typeface="Cambria Math" panose="02040503050406030204" pitchFamily="18" charset="0"/>
                            </a:rPr>
                            <m:t>+</m:t>
                          </m:r>
                          <m:r>
                            <a:rPr lang="en-GB" b="0" i="1" smtClean="0">
                              <a:latin typeface="Cambria Math" panose="02040503050406030204" pitchFamily="18" charset="0"/>
                            </a:rPr>
                            <m:t>𝐹𝑃</m:t>
                          </m:r>
                          <m:r>
                            <a:rPr lang="en-GB" b="0" i="1" smtClean="0">
                              <a:latin typeface="Cambria Math" panose="02040503050406030204" pitchFamily="18" charset="0"/>
                            </a:rPr>
                            <m:t>+</m:t>
                          </m:r>
                          <m:r>
                            <a:rPr lang="en-GB" b="0" i="1" smtClean="0">
                              <a:latin typeface="Cambria Math" panose="02040503050406030204" pitchFamily="18" charset="0"/>
                            </a:rPr>
                            <m:t>𝐹𝑁</m:t>
                          </m:r>
                        </m:den>
                      </m:f>
                    </m:oMath>
                  </m:oMathPara>
                </a14:m>
                <a:endParaRPr lang="en-GB" dirty="0"/>
              </a:p>
              <a:p>
                <a:endParaRPr lang="en-GB" dirty="0"/>
              </a:p>
            </p:txBody>
          </p:sp>
        </mc:Choice>
        <mc:Fallback xmlns="">
          <p:sp>
            <p:nvSpPr>
              <p:cNvPr id="10" name="TextBox 9">
                <a:extLst>
                  <a:ext uri="{FF2B5EF4-FFF2-40B4-BE49-F238E27FC236}">
                    <a16:creationId xmlns:a16="http://schemas.microsoft.com/office/drawing/2014/main" id="{E82146DF-A58B-7342-420C-20D79EA45305}"/>
                  </a:ext>
                </a:extLst>
              </p:cNvPr>
              <p:cNvSpPr txBox="1">
                <a:spLocks noRot="1" noChangeAspect="1" noMove="1" noResize="1" noEditPoints="1" noAdjustHandles="1" noChangeArrowheads="1" noChangeShapeType="1" noTextEdit="1"/>
              </p:cNvSpPr>
              <p:nvPr/>
            </p:nvSpPr>
            <p:spPr>
              <a:xfrm>
                <a:off x="5323390" y="2598974"/>
                <a:ext cx="4010650" cy="892488"/>
              </a:xfrm>
              <a:prstGeom prst="rect">
                <a:avLst/>
              </a:prstGeom>
              <a:blipFill>
                <a:blip r:embed="rId7"/>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9748318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FEA34-7417-1316-BD7C-F1D7B1A9B7F5}"/>
              </a:ext>
            </a:extLst>
          </p:cNvPr>
          <p:cNvSpPr>
            <a:spLocks noGrp="1"/>
          </p:cNvSpPr>
          <p:nvPr>
            <p:ph type="title"/>
          </p:nvPr>
        </p:nvSpPr>
        <p:spPr/>
        <p:txBody>
          <a:bodyPr/>
          <a:lstStyle/>
          <a:p>
            <a:r>
              <a:rPr lang="en-GB" dirty="0"/>
              <a:t>Open discussion</a:t>
            </a:r>
          </a:p>
        </p:txBody>
      </p:sp>
      <p:sp>
        <p:nvSpPr>
          <p:cNvPr id="3" name="Content Placeholder 2">
            <a:extLst>
              <a:ext uri="{FF2B5EF4-FFF2-40B4-BE49-F238E27FC236}">
                <a16:creationId xmlns:a16="http://schemas.microsoft.com/office/drawing/2014/main" id="{F918FBCA-D71B-35CC-3F8C-E4F2D765B4E5}"/>
              </a:ext>
            </a:extLst>
          </p:cNvPr>
          <p:cNvSpPr>
            <a:spLocks noGrp="1"/>
          </p:cNvSpPr>
          <p:nvPr>
            <p:ph idx="1"/>
          </p:nvPr>
        </p:nvSpPr>
        <p:spPr/>
        <p:txBody>
          <a:bodyPr/>
          <a:lstStyle/>
          <a:p>
            <a:r>
              <a:rPr lang="en-GB" sz="2000" kern="1200" dirty="0"/>
              <a:t>Imagine a hospital deploying an AI model to predict which patients are likely to be readmitted within 30 days. The goal is to allocate extra care resources to high-risk patients.</a:t>
            </a:r>
          </a:p>
          <a:p>
            <a:r>
              <a:rPr lang="en-GB" sz="2000" kern="1200" dirty="0"/>
              <a:t>Initial Metric: The team optimises for overall accuracy and achieves 92%. Everyone celebrates.</a:t>
            </a:r>
          </a:p>
          <a:p>
            <a:endParaRPr lang="en-GB" sz="2000" kern="1200" dirty="0"/>
          </a:p>
          <a:p>
            <a:r>
              <a:rPr lang="en-GB" sz="2000" kern="1200" dirty="0">
                <a:solidFill>
                  <a:srgbClr val="7030A0"/>
                </a:solidFill>
              </a:rPr>
              <a:t>Hidden Problem</a:t>
            </a:r>
            <a:r>
              <a:rPr lang="en-GB" sz="2000" kern="1200" dirty="0"/>
              <a:t>: When they break down performance by demographic groups:</a:t>
            </a:r>
          </a:p>
          <a:p>
            <a:pPr lvl="1"/>
            <a:r>
              <a:rPr lang="en-GB" kern="1200" dirty="0">
                <a:ea typeface="ＭＳ Ｐゴシック" charset="0"/>
              </a:rPr>
              <a:t>Accuracy for younger patients: 95%</a:t>
            </a:r>
          </a:p>
          <a:p>
            <a:pPr lvl="1"/>
            <a:r>
              <a:rPr lang="en-GB" kern="1200" dirty="0">
                <a:ea typeface="ＭＳ Ｐゴシック" charset="0"/>
              </a:rPr>
              <a:t>Accuracy for older patients: 88%</a:t>
            </a:r>
          </a:p>
          <a:p>
            <a:pPr lvl="1"/>
            <a:r>
              <a:rPr lang="en-GB" kern="1200" dirty="0">
                <a:ea typeface="ＭＳ Ｐゴシック" charset="0"/>
              </a:rPr>
              <a:t>Accuracy for minority ethnic groups: 82%</a:t>
            </a:r>
          </a:p>
          <a:p>
            <a:pPr lvl="1"/>
            <a:endParaRPr lang="en-GB" kern="1200" dirty="0">
              <a:ea typeface="ＭＳ Ｐゴシック" charset="0"/>
            </a:endParaRPr>
          </a:p>
          <a:p>
            <a:r>
              <a:rPr lang="en-GB" sz="2000" kern="1200" dirty="0"/>
              <a:t>Was accuracy the right metric?</a:t>
            </a:r>
          </a:p>
          <a:p>
            <a:endParaRPr lang="en-GB" kern="1200" dirty="0">
              <a:ea typeface="ＭＳ Ｐゴシック" charset="0"/>
            </a:endParaRPr>
          </a:p>
          <a:p>
            <a:endParaRPr lang="en-GB" dirty="0"/>
          </a:p>
          <a:p>
            <a:endParaRPr lang="en-GB" dirty="0"/>
          </a:p>
        </p:txBody>
      </p:sp>
      <p:sp>
        <p:nvSpPr>
          <p:cNvPr id="4" name="Slide Number Placeholder 3">
            <a:extLst>
              <a:ext uri="{FF2B5EF4-FFF2-40B4-BE49-F238E27FC236}">
                <a16:creationId xmlns:a16="http://schemas.microsoft.com/office/drawing/2014/main" id="{E3919110-D2BB-2048-D794-19BAEF9766B6}"/>
              </a:ext>
            </a:extLst>
          </p:cNvPr>
          <p:cNvSpPr>
            <a:spLocks noGrp="1"/>
          </p:cNvSpPr>
          <p:nvPr>
            <p:ph type="sldNum" sz="quarter" idx="12"/>
          </p:nvPr>
        </p:nvSpPr>
        <p:spPr/>
        <p:txBody>
          <a:bodyPr/>
          <a:lstStyle/>
          <a:p>
            <a:fld id="{44E22EE9-B8A0-0641-9265-052CFE9B95A7}" type="slidenum">
              <a:rPr lang="en-GB" altLang="en-US" smtClean="0"/>
              <a:pPr/>
              <a:t>58</a:t>
            </a:fld>
            <a:endParaRPr lang="en-GB" altLang="en-US" dirty="0"/>
          </a:p>
        </p:txBody>
      </p:sp>
    </p:spTree>
    <p:extLst>
      <p:ext uri="{BB962C8B-B14F-4D97-AF65-F5344CB8AC3E}">
        <p14:creationId xmlns:p14="http://schemas.microsoft.com/office/powerpoint/2010/main" val="21347234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91FE056-DF0A-5DCF-7050-DE6E8088859B}"/>
              </a:ext>
            </a:extLst>
          </p:cNvPr>
          <p:cNvSpPr>
            <a:spLocks noGrp="1"/>
          </p:cNvSpPr>
          <p:nvPr>
            <p:ph type="body" idx="1"/>
          </p:nvPr>
        </p:nvSpPr>
        <p:spPr>
          <a:xfrm>
            <a:off x="914400" y="1911227"/>
            <a:ext cx="10363200" cy="1500187"/>
          </a:xfrm>
        </p:spPr>
        <p:txBody>
          <a:bodyPr/>
          <a:lstStyle/>
          <a:p>
            <a:r>
              <a:rPr lang="en-GB" sz="2800" dirty="0">
                <a:solidFill>
                  <a:srgbClr val="003D7D"/>
                </a:solidFill>
                <a:cs typeface="+mj-cs"/>
              </a:rPr>
              <a:t>Review Questions</a:t>
            </a:r>
          </a:p>
        </p:txBody>
      </p:sp>
      <p:sp>
        <p:nvSpPr>
          <p:cNvPr id="4" name="Slide Number Placeholder 3">
            <a:extLst>
              <a:ext uri="{FF2B5EF4-FFF2-40B4-BE49-F238E27FC236}">
                <a16:creationId xmlns:a16="http://schemas.microsoft.com/office/drawing/2014/main" id="{20D96238-E015-B7F7-D513-34CCC1FD5705}"/>
              </a:ext>
            </a:extLst>
          </p:cNvPr>
          <p:cNvSpPr>
            <a:spLocks noGrp="1"/>
          </p:cNvSpPr>
          <p:nvPr>
            <p:ph type="sldNum" sz="quarter" idx="12"/>
          </p:nvPr>
        </p:nvSpPr>
        <p:spPr/>
        <p:txBody>
          <a:bodyPr/>
          <a:lstStyle/>
          <a:p>
            <a:fld id="{9834D1D5-66F3-7D4D-9A3F-F24FEF0D885E}" type="slidenum">
              <a:rPr lang="en-GB" altLang="en-US" smtClean="0"/>
              <a:pPr/>
              <a:t>59</a:t>
            </a:fld>
            <a:endParaRPr lang="en-GB" altLang="en-US" dirty="0"/>
          </a:p>
        </p:txBody>
      </p:sp>
    </p:spTree>
    <p:extLst>
      <p:ext uri="{BB962C8B-B14F-4D97-AF65-F5344CB8AC3E}">
        <p14:creationId xmlns:p14="http://schemas.microsoft.com/office/powerpoint/2010/main" val="384379544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E7E74-5244-B068-C837-02704729E7EB}"/>
              </a:ext>
            </a:extLst>
          </p:cNvPr>
          <p:cNvSpPr>
            <a:spLocks noGrp="1"/>
          </p:cNvSpPr>
          <p:nvPr>
            <p:ph type="title"/>
          </p:nvPr>
        </p:nvSpPr>
        <p:spPr/>
        <p:txBody>
          <a:bodyPr/>
          <a:lstStyle/>
          <a:p>
            <a:r>
              <a:rPr lang="en-GB" dirty="0"/>
              <a:t>Q1</a:t>
            </a:r>
          </a:p>
        </p:txBody>
      </p:sp>
      <p:sp>
        <p:nvSpPr>
          <p:cNvPr id="3" name="Content Placeholder 2">
            <a:extLst>
              <a:ext uri="{FF2B5EF4-FFF2-40B4-BE49-F238E27FC236}">
                <a16:creationId xmlns:a16="http://schemas.microsoft.com/office/drawing/2014/main" id="{286A1D42-D5E2-D29B-BD83-08E87B76C2AC}"/>
              </a:ext>
            </a:extLst>
          </p:cNvPr>
          <p:cNvSpPr>
            <a:spLocks noGrp="1"/>
          </p:cNvSpPr>
          <p:nvPr>
            <p:ph idx="1"/>
          </p:nvPr>
        </p:nvSpPr>
        <p:spPr/>
        <p:txBody>
          <a:bodyPr/>
          <a:lstStyle/>
          <a:p>
            <a:r>
              <a:rPr lang="en-GB" dirty="0"/>
              <a:t>Imagine you come across a model for which its accuracy is specified as 91%; is that good?</a:t>
            </a:r>
          </a:p>
          <a:p>
            <a:endParaRPr lang="en-GB" dirty="0"/>
          </a:p>
          <a:p>
            <a:endParaRPr lang="en-GB" dirty="0"/>
          </a:p>
          <a:p>
            <a:endParaRPr lang="en-GB" dirty="0"/>
          </a:p>
          <a:p>
            <a:pPr marL="0" indent="0">
              <a:buNone/>
            </a:pPr>
            <a:r>
              <a:rPr lang="en-GB" i="1" dirty="0" err="1"/>
              <a:t>menti</a:t>
            </a:r>
            <a:r>
              <a:rPr lang="en-GB" i="1" dirty="0"/>
              <a:t> code will be provided.  </a:t>
            </a:r>
          </a:p>
        </p:txBody>
      </p:sp>
      <p:sp>
        <p:nvSpPr>
          <p:cNvPr id="4" name="Slide Number Placeholder 3">
            <a:extLst>
              <a:ext uri="{FF2B5EF4-FFF2-40B4-BE49-F238E27FC236}">
                <a16:creationId xmlns:a16="http://schemas.microsoft.com/office/drawing/2014/main" id="{57FE20D2-60F5-42D5-B160-ED45F97E5BEF}"/>
              </a:ext>
            </a:extLst>
          </p:cNvPr>
          <p:cNvSpPr>
            <a:spLocks noGrp="1"/>
          </p:cNvSpPr>
          <p:nvPr>
            <p:ph type="sldNum" sz="quarter" idx="12"/>
          </p:nvPr>
        </p:nvSpPr>
        <p:spPr/>
        <p:txBody>
          <a:bodyPr/>
          <a:lstStyle/>
          <a:p>
            <a:fld id="{44E22EE9-B8A0-0641-9265-052CFE9B95A7}" type="slidenum">
              <a:rPr lang="en-GB" altLang="en-US" smtClean="0"/>
              <a:pPr/>
              <a:t>60</a:t>
            </a:fld>
            <a:endParaRPr lang="en-GB" altLang="en-US" dirty="0"/>
          </a:p>
        </p:txBody>
      </p:sp>
    </p:spTree>
    <p:extLst>
      <p:ext uri="{BB962C8B-B14F-4D97-AF65-F5344CB8AC3E}">
        <p14:creationId xmlns:p14="http://schemas.microsoft.com/office/powerpoint/2010/main" val="36173023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089C-EDCE-4482-2279-E5633638789B}"/>
              </a:ext>
            </a:extLst>
          </p:cNvPr>
          <p:cNvSpPr>
            <a:spLocks noGrp="1"/>
          </p:cNvSpPr>
          <p:nvPr>
            <p:ph type="title"/>
          </p:nvPr>
        </p:nvSpPr>
        <p:spPr/>
        <p:txBody>
          <a:bodyPr/>
          <a:lstStyle/>
          <a:p>
            <a:r>
              <a:rPr lang="en-GB" dirty="0"/>
              <a:t>Q2</a:t>
            </a:r>
          </a:p>
        </p:txBody>
      </p:sp>
      <p:sp>
        <p:nvSpPr>
          <p:cNvPr id="3" name="Content Placeholder 2">
            <a:extLst>
              <a:ext uri="{FF2B5EF4-FFF2-40B4-BE49-F238E27FC236}">
                <a16:creationId xmlns:a16="http://schemas.microsoft.com/office/drawing/2014/main" id="{87D58C6A-F1B1-6070-7BFB-7DCF3B693FDD}"/>
              </a:ext>
            </a:extLst>
          </p:cNvPr>
          <p:cNvSpPr>
            <a:spLocks noGrp="1"/>
          </p:cNvSpPr>
          <p:nvPr>
            <p:ph idx="1"/>
          </p:nvPr>
        </p:nvSpPr>
        <p:spPr/>
        <p:txBody>
          <a:bodyPr/>
          <a:lstStyle/>
          <a:p>
            <a:r>
              <a:rPr lang="en-GB" dirty="0"/>
              <a:t>Imagine you are developing a screening tool for the risk of Alzheimer's disease using electronic healthcare records (EHR) data. You will implement an ML model to process historical medical records. Which metric will give you a higher weight (if any)? </a:t>
            </a:r>
          </a:p>
          <a:p>
            <a:endParaRPr lang="en-GB" dirty="0"/>
          </a:p>
          <a:p>
            <a:pPr marL="0" indent="0">
              <a:buNone/>
            </a:pPr>
            <a:endParaRPr lang="en-GB" dirty="0"/>
          </a:p>
        </p:txBody>
      </p:sp>
      <p:sp>
        <p:nvSpPr>
          <p:cNvPr id="4" name="Slide Number Placeholder 3">
            <a:extLst>
              <a:ext uri="{FF2B5EF4-FFF2-40B4-BE49-F238E27FC236}">
                <a16:creationId xmlns:a16="http://schemas.microsoft.com/office/drawing/2014/main" id="{614783BF-7FB0-1B5E-94B7-C097BE416AE5}"/>
              </a:ext>
            </a:extLst>
          </p:cNvPr>
          <p:cNvSpPr>
            <a:spLocks noGrp="1"/>
          </p:cNvSpPr>
          <p:nvPr>
            <p:ph type="sldNum" sz="quarter" idx="12"/>
          </p:nvPr>
        </p:nvSpPr>
        <p:spPr/>
        <p:txBody>
          <a:bodyPr/>
          <a:lstStyle/>
          <a:p>
            <a:fld id="{44E22EE9-B8A0-0641-9265-052CFE9B95A7}" type="slidenum">
              <a:rPr lang="en-GB" altLang="en-US" smtClean="0"/>
              <a:pPr/>
              <a:t>61</a:t>
            </a:fld>
            <a:endParaRPr lang="en-GB" altLang="en-US" dirty="0"/>
          </a:p>
        </p:txBody>
      </p:sp>
    </p:spTree>
    <p:extLst>
      <p:ext uri="{BB962C8B-B14F-4D97-AF65-F5344CB8AC3E}">
        <p14:creationId xmlns:p14="http://schemas.microsoft.com/office/powerpoint/2010/main" val="36654070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0DCC1-7A67-AA91-6F61-8AC6A67912A4}"/>
              </a:ext>
            </a:extLst>
          </p:cNvPr>
          <p:cNvSpPr>
            <a:spLocks noGrp="1"/>
          </p:cNvSpPr>
          <p:nvPr>
            <p:ph type="title"/>
          </p:nvPr>
        </p:nvSpPr>
        <p:spPr/>
        <p:txBody>
          <a:bodyPr/>
          <a:lstStyle/>
          <a:p>
            <a:r>
              <a:rPr lang="en-GB" dirty="0"/>
              <a:t>Metric in Scikit-learn</a:t>
            </a:r>
          </a:p>
        </p:txBody>
      </p:sp>
      <p:sp>
        <p:nvSpPr>
          <p:cNvPr id="3" name="Content Placeholder 2">
            <a:extLst>
              <a:ext uri="{FF2B5EF4-FFF2-40B4-BE49-F238E27FC236}">
                <a16:creationId xmlns:a16="http://schemas.microsoft.com/office/drawing/2014/main" id="{2470700A-58E6-6488-A40E-3870D89839A7}"/>
              </a:ext>
            </a:extLst>
          </p:cNvPr>
          <p:cNvSpPr>
            <a:spLocks noGrp="1"/>
          </p:cNvSpPr>
          <p:nvPr>
            <p:ph idx="1"/>
          </p:nvPr>
        </p:nvSpPr>
        <p:spPr/>
        <p:txBody>
          <a:bodyPr/>
          <a:lstStyle/>
          <a:p>
            <a:r>
              <a:rPr lang="en-GB" dirty="0"/>
              <a:t>Metrics and scoring:</a:t>
            </a:r>
          </a:p>
          <a:p>
            <a:pPr marL="0" indent="0">
              <a:buNone/>
            </a:pPr>
            <a:r>
              <a:rPr lang="en-GB" dirty="0"/>
              <a:t>https://scikit-</a:t>
            </a:r>
            <a:r>
              <a:rPr lang="en-GB" dirty="0" err="1"/>
              <a:t>learn.org</a:t>
            </a:r>
            <a:r>
              <a:rPr lang="en-GB" dirty="0"/>
              <a:t>/stable/modules/</a:t>
            </a:r>
            <a:r>
              <a:rPr lang="en-GB" dirty="0" err="1"/>
              <a:t>model_evaluation.html#confusion-matrix</a:t>
            </a:r>
            <a:endParaRPr lang="en-GB" dirty="0"/>
          </a:p>
        </p:txBody>
      </p:sp>
      <p:sp>
        <p:nvSpPr>
          <p:cNvPr id="4" name="Slide Number Placeholder 3">
            <a:extLst>
              <a:ext uri="{FF2B5EF4-FFF2-40B4-BE49-F238E27FC236}">
                <a16:creationId xmlns:a16="http://schemas.microsoft.com/office/drawing/2014/main" id="{365BDEE5-4677-E9D4-9A0F-03CA15AEEC28}"/>
              </a:ext>
            </a:extLst>
          </p:cNvPr>
          <p:cNvSpPr>
            <a:spLocks noGrp="1"/>
          </p:cNvSpPr>
          <p:nvPr>
            <p:ph type="sldNum" sz="quarter" idx="12"/>
          </p:nvPr>
        </p:nvSpPr>
        <p:spPr/>
        <p:txBody>
          <a:bodyPr/>
          <a:lstStyle/>
          <a:p>
            <a:fld id="{44E22EE9-B8A0-0641-9265-052CFE9B95A7}" type="slidenum">
              <a:rPr lang="en-GB" altLang="en-US" smtClean="0"/>
              <a:pPr/>
              <a:t>62</a:t>
            </a:fld>
            <a:endParaRPr lang="en-GB" altLang="en-US" dirty="0"/>
          </a:p>
        </p:txBody>
      </p:sp>
    </p:spTree>
    <p:extLst>
      <p:ext uri="{BB962C8B-B14F-4D97-AF65-F5344CB8AC3E}">
        <p14:creationId xmlns:p14="http://schemas.microsoft.com/office/powerpoint/2010/main" val="4380569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47F4E-9B94-F5CB-203A-DCC969CCA43A}"/>
              </a:ext>
            </a:extLst>
          </p:cNvPr>
          <p:cNvSpPr>
            <a:spLocks noGrp="1"/>
          </p:cNvSpPr>
          <p:nvPr>
            <p:ph type="title"/>
          </p:nvPr>
        </p:nvSpPr>
        <p:spPr/>
        <p:txBody>
          <a:bodyPr/>
          <a:lstStyle/>
          <a:p>
            <a:r>
              <a:rPr lang="en-GB" dirty="0"/>
              <a:t>Acknowledgments</a:t>
            </a:r>
          </a:p>
        </p:txBody>
      </p:sp>
      <p:sp>
        <p:nvSpPr>
          <p:cNvPr id="3" name="Content Placeholder 2">
            <a:extLst>
              <a:ext uri="{FF2B5EF4-FFF2-40B4-BE49-F238E27FC236}">
                <a16:creationId xmlns:a16="http://schemas.microsoft.com/office/drawing/2014/main" id="{95878951-2515-EE74-D7C0-67A8C7FA66CC}"/>
              </a:ext>
            </a:extLst>
          </p:cNvPr>
          <p:cNvSpPr>
            <a:spLocks noGrp="1"/>
          </p:cNvSpPr>
          <p:nvPr>
            <p:ph idx="1"/>
          </p:nvPr>
        </p:nvSpPr>
        <p:spPr/>
        <p:txBody>
          <a:bodyPr/>
          <a:lstStyle/>
          <a:p>
            <a:r>
              <a:rPr lang="en-GB" sz="2160" dirty="0"/>
              <a:t>The slides on likelihood estimation are adapted from “A student’s guide to Bayesian Statistics) by Ben Lambert, SAGE, 2019.</a:t>
            </a:r>
          </a:p>
          <a:p>
            <a:r>
              <a:rPr lang="en-GB" sz="2160" dirty="0"/>
              <a:t>Some of the slides on Bayesian models and equations are adapted from Kevin Murphy’s book: </a:t>
            </a:r>
          </a:p>
          <a:p>
            <a:pPr lvl="1"/>
            <a:r>
              <a:rPr lang="en-GB" sz="2160" dirty="0"/>
              <a:t>Machine Learning: A Probabilistic Perspective Kevin P. Murphy, MIT Press.</a:t>
            </a:r>
          </a:p>
        </p:txBody>
      </p:sp>
      <p:sp>
        <p:nvSpPr>
          <p:cNvPr id="4" name="Slide Number Placeholder 3">
            <a:extLst>
              <a:ext uri="{FF2B5EF4-FFF2-40B4-BE49-F238E27FC236}">
                <a16:creationId xmlns:a16="http://schemas.microsoft.com/office/drawing/2014/main" id="{9168C321-C8FD-6B4F-73D6-4A04023A70E9}"/>
              </a:ext>
            </a:extLst>
          </p:cNvPr>
          <p:cNvSpPr>
            <a:spLocks noGrp="1"/>
          </p:cNvSpPr>
          <p:nvPr>
            <p:ph type="sldNum" sz="quarter" idx="12"/>
          </p:nvPr>
        </p:nvSpPr>
        <p:spPr/>
        <p:txBody>
          <a:bodyPr/>
          <a:lstStyle/>
          <a:p>
            <a:fld id="{44E22EE9-B8A0-0641-9265-052CFE9B95A7}" type="slidenum">
              <a:rPr lang="en-GB" altLang="en-US" smtClean="0"/>
              <a:pPr/>
              <a:t>63</a:t>
            </a:fld>
            <a:endParaRPr lang="en-GB" altLang="en-US" dirty="0"/>
          </a:p>
        </p:txBody>
      </p:sp>
    </p:spTree>
    <p:extLst>
      <p:ext uri="{BB962C8B-B14F-4D97-AF65-F5344CB8AC3E}">
        <p14:creationId xmlns:p14="http://schemas.microsoft.com/office/powerpoint/2010/main" val="265352667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D4B0E-EC4B-AF65-F5A6-6C77B84E688D}"/>
              </a:ext>
            </a:extLst>
          </p:cNvPr>
          <p:cNvSpPr>
            <a:spLocks noGrp="1"/>
          </p:cNvSpPr>
          <p:nvPr>
            <p:ph type="title"/>
          </p:nvPr>
        </p:nvSpPr>
        <p:spPr/>
        <p:txBody>
          <a:bodyPr/>
          <a:lstStyle/>
          <a:p>
            <a:r>
              <a:rPr lang="en-US" dirty="0"/>
              <a:t>If you have any questions </a:t>
            </a:r>
          </a:p>
        </p:txBody>
      </p:sp>
      <p:sp>
        <p:nvSpPr>
          <p:cNvPr id="4" name="Slide Number Placeholder 3">
            <a:extLst>
              <a:ext uri="{FF2B5EF4-FFF2-40B4-BE49-F238E27FC236}">
                <a16:creationId xmlns:a16="http://schemas.microsoft.com/office/drawing/2014/main" id="{5871F661-CD16-4A1E-EAB3-76CFDCC66AF4}"/>
              </a:ext>
            </a:extLst>
          </p:cNvPr>
          <p:cNvSpPr>
            <a:spLocks noGrp="1"/>
          </p:cNvSpPr>
          <p:nvPr>
            <p:ph type="sldNum" sz="quarter" idx="12"/>
          </p:nvPr>
        </p:nvSpPr>
        <p:spPr/>
        <p:txBody>
          <a:bodyPr/>
          <a:lstStyle/>
          <a:p>
            <a:fld id="{44E22EE9-B8A0-0641-9265-052CFE9B95A7}" type="slidenum">
              <a:rPr lang="en-GB" altLang="en-US" smtClean="0"/>
              <a:pPr/>
              <a:t>64</a:t>
            </a:fld>
            <a:endParaRPr lang="en-GB" altLang="en-US" dirty="0"/>
          </a:p>
        </p:txBody>
      </p:sp>
      <p:sp>
        <p:nvSpPr>
          <p:cNvPr id="6" name="Content Placeholder 2">
            <a:extLst>
              <a:ext uri="{FF2B5EF4-FFF2-40B4-BE49-F238E27FC236}">
                <a16:creationId xmlns:a16="http://schemas.microsoft.com/office/drawing/2014/main" id="{866BB837-A965-5356-F836-FF9AC54AD69B}"/>
              </a:ext>
            </a:extLst>
          </p:cNvPr>
          <p:cNvSpPr>
            <a:spLocks noGrp="1"/>
          </p:cNvSpPr>
          <p:nvPr>
            <p:ph idx="1"/>
          </p:nvPr>
        </p:nvSpPr>
        <p:spPr>
          <a:xfrm>
            <a:off x="609600" y="1268414"/>
            <a:ext cx="10972800" cy="4968875"/>
          </a:xfrm>
        </p:spPr>
        <p:txBody>
          <a:bodyPr/>
          <a:lstStyle/>
          <a:p>
            <a:r>
              <a:rPr lang="en-GB" noProof="0" dirty="0"/>
              <a:t>Please feel free to arrange a meeting or email (</a:t>
            </a:r>
            <a:r>
              <a:rPr lang="en-GB" noProof="0" dirty="0" err="1"/>
              <a:t>p.barnaghi@imperial.ac.uk</a:t>
            </a:r>
            <a:r>
              <a:rPr lang="en-GB" noProof="0" dirty="0"/>
              <a:t>). </a:t>
            </a:r>
          </a:p>
          <a:p>
            <a:r>
              <a:rPr lang="en-GB" dirty="0"/>
              <a:t>To arrange a meeting, please email my colleague, Ms Rhiannon Kirby.</a:t>
            </a:r>
            <a:endParaRPr lang="en-GB" noProof="0" dirty="0"/>
          </a:p>
          <a:p>
            <a:r>
              <a:rPr lang="en-GB" noProof="0" dirty="0"/>
              <a:t>My office: 928, Sir Michael Uren Research Hub, White City Campus.</a:t>
            </a:r>
          </a:p>
          <a:p>
            <a:endParaRPr lang="en-GB" noProof="0" dirty="0"/>
          </a:p>
        </p:txBody>
      </p:sp>
    </p:spTree>
    <p:extLst>
      <p:ext uri="{BB962C8B-B14F-4D97-AF65-F5344CB8AC3E}">
        <p14:creationId xmlns:p14="http://schemas.microsoft.com/office/powerpoint/2010/main" val="1262185299"/>
      </p:ext>
    </p:extLst>
  </p:cSld>
  <p:clrMapOvr>
    <a:masterClrMapping/>
  </p:clrMapOvr>
</p:sld>
</file>

<file path=ppt/theme/theme1.xml><?xml version="1.0" encoding="utf-8"?>
<a:theme xmlns:a="http://schemas.openxmlformats.org/drawingml/2006/main" name="CCSR">
  <a:themeElements>
    <a:clrScheme name="CCS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CSR">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CSR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CSR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CSR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CSR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CSR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CSR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CSR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CSR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CSR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CSR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CSR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CSR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27B08E2-1ED8-9047-9A41-7FD6E07FF0DE}">
  <we:reference id="wa200002290" version="1.0.0.3" store="en-001" storeType="OMEX"/>
  <we:alternateReferences>
    <we:reference id="WA200002290" version="1.0.0.3" store="" storeType="OMEX"/>
  </we:alternateReferences>
  <we:properties>
    <we:property name="mathList" value="[{&quot;id&quot;:&quot;1&quot;,&quot;code&quot;:&quot;$\\hat{y}\\,=\\,w_{0}\\,\\times\\,x_{0}\\,+\\,w_{1}\\times\\,x_{1}\\,+\\,w_{2\\,}\\times\\,x_{3}\\,+\\,...\\,+\\,w_{n}\\,\\times\\,x_{n}$&quot;,&quot;font&quot;:{&quot;size&quot;:18,&quot;family&quot;:&quot;Arial&quot;,&quot;color&quot;:&quot;black&quot;},&quot;type&quot;:&quot;$&quot;},{&quot;id&quot;:&quot;1&quot;,&quot;code&quot;:&quot;$\\sum_{i=1}^{m}\\left(y_{i\\,-\\,}\\hat{y}\\right)^{2}$&quot;,&quot;font&quot;:{&quot;size&quot;:&quot;18&quot;,&quot;family&quot;:&quot;Arial&quot;,&quot;color&quot;:&quot;black&quot;},&quot;type&quot;:&quot;$&quot;},{&quot;id&quot;:&quot;1&quot;,&quot;code&quot;:&quot;$\\sum_{i=1}^{m}\\left(y_{i\\,-\\,}\\hat{y}\\right)^{2}\\,=\\,\\sum_{i=1}^{m}\\left(y_{i}\\,-\\,\\sum_{j=1}^{n}\\,x_{ij}\\right)$&quot;,&quot;font&quot;:{&quot;size&quot;:&quot;18&quot;,&quot;family&quot;:&quot;Arial&quot;,&quot;color&quot;:&quot;black&quot;},&quot;type&quot;:&quot;$&quot;},{&quot;id&quot;:&quot;1&quot;,&quot;code&quot;:&quot;$\\sum_{i=1}^{m}\\left(y_{i\\,-\\,}\\hat{y}\\right)^{2}\\,=\\,\\sum_{i=1}^{m}\\left(y_{i}\\,-\\,\\sum_{j=1}^{n}\\,x_{ij}\\right)\\,+\\,\\lambda\\,\\sum_{j=0}^{n}\\,w_{j^{}}^{2}$&quot;,&quot;font&quot;:{&quot;size&quot;:12,&quot;family&quot;:&quot;Arial&quot;,&quot;color&quot;:&quot;black&quot;},&quot;type&quot;:&quot;$&quot;},{&quot;id&quot;:&quot;1&quot;,&quot;code&quot;:&quot;$\\sum_{i=1}^{m}\\left(y_{i\\,-\\,}\\hat{y}\\right)^{2}\\,=\\,\\sum_{i=1}^{m}\\left(y_{i}\\,-\\,\\sum_{j=1}^{n}\\,x_{ij}\\right)\\,+\\,\\lambda\\,\\sum_{j=0}^{n}\\,w_{j^{}}^{}$&quot;,&quot;font&quot;:{&quot;size&quot;:12,&quot;family&quot;:&quot;Arial&quot;,&quot;color&quot;:&quot;black&quot;},&quot;type&quot;:&quot;$&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47687</TotalTime>
  <Words>3645</Words>
  <Application>Microsoft Macintosh PowerPoint</Application>
  <PresentationFormat>Widescreen</PresentationFormat>
  <Paragraphs>486</Paragraphs>
  <Slides>64</Slides>
  <Notes>5</Notes>
  <HiddenSlides>0</HiddenSlides>
  <MMClips>0</MMClips>
  <ScaleCrop>false</ScaleCrop>
  <HeadingPairs>
    <vt:vector size="8" baseType="variant">
      <vt:variant>
        <vt:lpstr>Fonts Used</vt:lpstr>
      </vt:variant>
      <vt:variant>
        <vt:i4>13</vt:i4>
      </vt:variant>
      <vt:variant>
        <vt:lpstr>Theme</vt:lpstr>
      </vt:variant>
      <vt:variant>
        <vt:i4>1</vt:i4>
      </vt:variant>
      <vt:variant>
        <vt:lpstr>Slide Titles</vt:lpstr>
      </vt:variant>
      <vt:variant>
        <vt:i4>64</vt:i4>
      </vt:variant>
      <vt:variant>
        <vt:lpstr>Custom Shows</vt:lpstr>
      </vt:variant>
      <vt:variant>
        <vt:i4>1</vt:i4>
      </vt:variant>
    </vt:vector>
  </HeadingPairs>
  <TitlesOfParts>
    <vt:vector size="79" baseType="lpstr">
      <vt:lpstr>ＭＳ Ｐゴシック</vt:lpstr>
      <vt:lpstr>-apple-system</vt:lpstr>
      <vt:lpstr>-webkit-standard</vt:lpstr>
      <vt:lpstr>Aptos</vt:lpstr>
      <vt:lpstr>Arial</vt:lpstr>
      <vt:lpstr>Calibri</vt:lpstr>
      <vt:lpstr>Cambria Math</vt:lpstr>
      <vt:lpstr>Courier New</vt:lpstr>
      <vt:lpstr>Gill Sans MT</vt:lpstr>
      <vt:lpstr>Helvetica Neue</vt:lpstr>
      <vt:lpstr>Herculanum</vt:lpstr>
      <vt:lpstr>Times New Roman</vt:lpstr>
      <vt:lpstr>Verdana</vt:lpstr>
      <vt:lpstr>CCSR</vt:lpstr>
      <vt:lpstr>PowerPoint Presentation</vt:lpstr>
      <vt:lpstr>Probability of a union of two events</vt:lpstr>
      <vt:lpstr>Conditional probability</vt:lpstr>
      <vt:lpstr>The Bayes rule </vt:lpstr>
      <vt:lpstr>Bayes theorem*</vt:lpstr>
      <vt:lpstr>Bayesian Classification</vt:lpstr>
      <vt:lpstr>Naïve Bayes</vt:lpstr>
      <vt:lpstr>Assumptions in Naïve Bayes</vt:lpstr>
      <vt:lpstr>Bayes rule</vt:lpstr>
      <vt:lpstr>Determining Naïve Bayes</vt:lpstr>
      <vt:lpstr>Let’s simplify</vt:lpstr>
      <vt:lpstr>Example</vt:lpstr>
      <vt:lpstr>Naïve Bayes: example</vt:lpstr>
      <vt:lpstr>Algorithm for Naïve Bayes (with binary features)</vt:lpstr>
      <vt:lpstr>What about continuous variables?</vt:lpstr>
      <vt:lpstr>Bayesian decision methods </vt:lpstr>
      <vt:lpstr>Joint probability</vt:lpstr>
      <vt:lpstr>Medical diagnosis example</vt:lpstr>
      <vt:lpstr>Example- applying Bayesian theorem </vt:lpstr>
      <vt:lpstr>Bayesian inference </vt:lpstr>
      <vt:lpstr>Likelihood</vt:lpstr>
      <vt:lpstr>Maximum likelihood*</vt:lpstr>
      <vt:lpstr>Estimating the maximum likelihood*</vt:lpstr>
      <vt:lpstr>Estimating the maximum likelihood*</vt:lpstr>
      <vt:lpstr>Repeating our example*</vt:lpstr>
      <vt:lpstr>Log likelihood*</vt:lpstr>
      <vt:lpstr>Log likelihood*</vt:lpstr>
      <vt:lpstr>Maximising the Log likelihood*</vt:lpstr>
      <vt:lpstr>Why do we take the first derivative and set it to zero?</vt:lpstr>
      <vt:lpstr>Maximising the Log likelihood*</vt:lpstr>
      <vt:lpstr>Naïve Bayes in python</vt:lpstr>
      <vt:lpstr>Naïve Bayes in python</vt:lpstr>
      <vt:lpstr>Gaussian Naïve Bayes</vt:lpstr>
      <vt:lpstr>Multinomial Naïve Bayes</vt:lpstr>
      <vt:lpstr>Multinomial Naïve Bayes*</vt:lpstr>
      <vt:lpstr>Evaluation metrics</vt:lpstr>
      <vt:lpstr>Precision and Recall </vt:lpstr>
      <vt:lpstr>Recall</vt:lpstr>
      <vt:lpstr>Precision and Recall</vt:lpstr>
      <vt:lpstr>Accuracy</vt:lpstr>
      <vt:lpstr>Accuracy – how to interpret it</vt:lpstr>
      <vt:lpstr>Accuracy interpretation example</vt:lpstr>
      <vt:lpstr>F1 Score </vt:lpstr>
      <vt:lpstr>ROC curve (receiver operating characteristic curve)</vt:lpstr>
      <vt:lpstr>ROC curve</vt:lpstr>
      <vt:lpstr>AUC: Area Under the ROC Curve</vt:lpstr>
      <vt:lpstr>PR AUC vs ROC AUC</vt:lpstr>
      <vt:lpstr>Cases that AUC could be useful</vt:lpstr>
      <vt:lpstr>Cases that AUC will NOT be useful</vt:lpstr>
      <vt:lpstr>Prediction bias</vt:lpstr>
      <vt:lpstr>Sensitivity and specificity</vt:lpstr>
      <vt:lpstr>Sensitivity/Specificity: Example</vt:lpstr>
      <vt:lpstr>Specificity and Sensitivity </vt:lpstr>
      <vt:lpstr>Confusion matrix</vt:lpstr>
      <vt:lpstr>Youden’s index</vt:lpstr>
      <vt:lpstr>Probability calibration</vt:lpstr>
      <vt:lpstr>All in one place</vt:lpstr>
      <vt:lpstr>Open discussion</vt:lpstr>
      <vt:lpstr>PowerPoint Presentation</vt:lpstr>
      <vt:lpstr>Q1</vt:lpstr>
      <vt:lpstr>Q2</vt:lpstr>
      <vt:lpstr>Metric in Scikit-learn</vt:lpstr>
      <vt:lpstr>Acknowledgments</vt:lpstr>
      <vt:lpstr>If you have any questions </vt:lpstr>
      <vt:lpstr>Custom Show 1</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for neuroscience</dc:title>
  <dc:subject/>
  <dc:creator>P. Barnaghi</dc:creator>
  <cp:keywords/>
  <dc:description/>
  <cp:lastModifiedBy>Barnaghi, Payam</cp:lastModifiedBy>
  <cp:revision>301</cp:revision>
  <cp:lastPrinted>2025-12-29T23:07:28Z</cp:lastPrinted>
  <dcterms:created xsi:type="dcterms:W3CDTF">2015-10-05T13:27:19Z</dcterms:created>
  <dcterms:modified xsi:type="dcterms:W3CDTF">2025-12-29T23:07:32Z</dcterms:modified>
  <cp:category/>
</cp:coreProperties>
</file>